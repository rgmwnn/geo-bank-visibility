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study of how two AI engines answer everyday banking questions in Indonesia, and which sources they cite. Everything here is built from public code and data in the repo named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freelancer asks which bank fits irregular income. Both engines answer with a short list of three banks, and two of the three are the same.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Information-seeking grew from 14% to 24% of ChatGPT conversations in a year. Ahrefs found that 12% of the URLs AI assistants cite rank in Google's top 10 for the same query.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rest of the deck answers these three questions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set is written to be unbranded so share of voice is fair. Only the head-to-head comparisons name banks.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Parse the answers, split them into sentences, match bank names, extract the listed sources, deduplicate the pages, then crawl them from GitHub's servers while respecting robots.txt.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uses the position-adjusted word count from the GEO paper, applied to banks instead of sources. The chart shows the weight each sentence gets in a ten-sentence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shows how many of the cited pages the crawler could read and that name a bank.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dot per engine. The line between the dots is the gap between the engines for that bank.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 combines prominence in the answer, the authority of the pages cited alongside the bank, sentiment and whether both engines name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Apps and subsidiaries credit their parent bank, so Jenius counts for Bank BTPN and blu for BCA.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comparison prompts name banks, which puts those banks in the answer, so they are left out here. Outlined cells lead their row, ties together. Every lead is a tie or one answer, so read the rows as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rises when a bank is named early and talked about at length.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mark is one bank in one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about how something works get general answers without bank names.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Site types were labelled per domain. Percentages are rounded.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bank that wants to appear in both engines cannot rely on one set of pages.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ChatGPT's citations are on the left, Gemini's on the right, for the same twelve sites.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Gemini keeps citing the same few articles, a bank's place in them could carry into many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Higher concentration means a few sites carry more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positive gap means the engines talk about the bank more than the cited pages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redirect wrapper is where Gemini's broken links concentrate in this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suggests schema did not decide which pages got cited. One run cannot test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strategist owns measurement. With these four habits the team can report one number each month.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 owns the pages the engines quote and the explainers they do not yet have.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crawler is not an AI crawler, so these are signs to check, not proof that an engine was blocked.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runs would turn each number into a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motif-ring-orbit-wide"/>
          <p:cNvSpPr/>
          <p:nvPr/>
        </p:nvSpPr>
        <p:spPr>
          <a:xfrm>
            <a:off x="8064500" y="2400300"/>
            <a:ext cx="3683000" cy="787400"/>
          </a:xfrm>
          <a:prstGeom prst="ellipse">
            <a:avLst/>
          </a:prstGeom>
          <a:noFill/>
          <a:ln w="12700">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otif-ring-orbit-near"/>
          <p:cNvSpPr/>
          <p:nvPr/>
        </p:nvSpPr>
        <p:spPr>
          <a:xfrm>
            <a:off x="8445500" y="2514600"/>
            <a:ext cx="2920999" cy="558800"/>
          </a:xfrm>
          <a:prstGeom prst="ellipse">
            <a:avLst/>
          </a:prstGeom>
          <a:noFill/>
          <a:ln w="12700">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otif-ring-halo"/>
          <p:cNvSpPr/>
          <p:nvPr/>
        </p:nvSpPr>
        <p:spPr>
          <a:xfrm>
            <a:off x="8159750" y="1047750"/>
            <a:ext cx="3492500" cy="3492500"/>
          </a:xfrm>
          <a:prstGeom prst="ellipse">
            <a:avLst/>
          </a:prstGeom>
          <a:noFill/>
          <a:ln w="9525">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motif-ring-photon"/>
          <p:cNvSpPr/>
          <p:nvPr/>
        </p:nvSpPr>
        <p:spPr>
          <a:xfrm>
            <a:off x="8636000" y="1524000"/>
            <a:ext cx="2540000" cy="2540000"/>
          </a:xfrm>
          <a:prstGeom prst="ellipse">
            <a:avLst/>
          </a:prstGeom>
          <a:solidFill>
            <a:srgbClr val="000000"/>
          </a:solidFill>
          <a:ln w="19050">
            <a:solidFill>
              <a:srgbClr val="ECE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otif-ring-inner"/>
          <p:cNvSpPr/>
          <p:nvPr/>
        </p:nvSpPr>
        <p:spPr>
          <a:xfrm>
            <a:off x="8724900" y="1612900"/>
            <a:ext cx="2362200" cy="2362200"/>
          </a:xfrm>
          <a:prstGeom prst="ellipse">
            <a:avLst/>
          </a:prstGeom>
          <a:noFill/>
          <a:ln w="9525">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motif-line-disk-gpt"/>
          <p:cNvCxnSpPr/>
          <p:nvPr/>
        </p:nvCxnSpPr>
        <p:spPr>
          <a:xfrm>
            <a:off x="7874000" y="2755900"/>
            <a:ext cx="4064000" cy="0"/>
          </a:xfrm>
          <a:prstGeom prst="line">
            <a:avLst/>
          </a:prstGeom>
          <a:ln w="19050">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8" name="motif-line-disk-gem"/>
          <p:cNvCxnSpPr/>
          <p:nvPr/>
        </p:nvCxnSpPr>
        <p:spPr>
          <a:xfrm>
            <a:off x="7874000" y="2832100"/>
            <a:ext cx="4064000" cy="0"/>
          </a:xfrm>
          <a:prstGeom prst="line">
            <a:avLst/>
          </a:prstGeom>
          <a:ln w="19050">
            <a:solidFill>
              <a:srgbClr val="4790D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62000" y="2159000"/>
            <a:ext cx="7048500" cy="1209039"/>
          </a:xfrm>
          <a:prstGeom prst="rect">
            <a:avLst/>
          </a:prstGeom>
          <a:noFill/>
        </p:spPr>
        <p:txBody>
          <a:bodyPr wrap="square" lIns="0" rIns="0" tIns="0" bIns="0" anchor="t">
            <a:spAutoFit/>
          </a:bodyPr>
          <a:lstStyle/>
          <a:p>
            <a:pPr algn="l">
              <a:lnSpc>
                <a:spcPct val="115000"/>
              </a:lnSpc>
            </a:pPr>
            <a:r>
              <a:rPr sz="6800" b="0">
                <a:solidFill>
                  <a:srgbClr val="ECE7DD"/>
                </a:solidFill>
                <a:latin typeface="Work Sans"/>
              </a:rPr>
              <a:t>Favoured Banks</a:t>
            </a:r>
          </a:p>
        </p:txBody>
      </p:sp>
      <p:sp>
        <p:nvSpPr>
          <p:cNvPr id="10" name="TextBox 9"/>
          <p:cNvSpPr txBox="1"/>
          <p:nvPr/>
        </p:nvSpPr>
        <p:spPr>
          <a:xfrm>
            <a:off x="762000" y="3495040"/>
            <a:ext cx="6731000" cy="711200"/>
          </a:xfrm>
          <a:prstGeom prst="rect">
            <a:avLst/>
          </a:prstGeom>
          <a:noFill/>
        </p:spPr>
        <p:txBody>
          <a:bodyPr wrap="square" lIns="0" rIns="0" tIns="0" bIns="0" anchor="t">
            <a:spAutoFit/>
          </a:bodyPr>
          <a:lstStyle/>
          <a:p>
            <a:pPr algn="l">
              <a:lnSpc>
                <a:spcPct val="115000"/>
              </a:lnSpc>
            </a:pPr>
            <a:r>
              <a:rPr sz="2000" b="0">
                <a:solidFill>
                  <a:srgbClr val="9A9EA6"/>
                </a:solidFill>
                <a:latin typeface="Work Sans"/>
              </a:rPr>
              <a:t>Which Indonesian banks ChatGPT and Gemini recommend, and which web pages they cite</a:t>
            </a:r>
          </a:p>
        </p:txBody>
      </p:sp>
      <p:sp>
        <p:nvSpPr>
          <p:cNvPr id="11" name="TextBox 10"/>
          <p:cNvSpPr txBox="1"/>
          <p:nvPr/>
        </p:nvSpPr>
        <p:spPr>
          <a:xfrm>
            <a:off x="762000" y="4358640"/>
            <a:ext cx="67310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IBM Plex Mono"/>
              </a:rPr>
              <a:t>40 answers, collected on 9 October 2026</a:t>
            </a:r>
          </a:p>
        </p:txBody>
      </p:sp>
      <p:sp>
        <p:nvSpPr>
          <p:cNvPr id="12" name="TextBox 11"/>
          <p:cNvSpPr txBox="1"/>
          <p:nvPr/>
        </p:nvSpPr>
        <p:spPr>
          <a:xfrm>
            <a:off x="762000" y="5461000"/>
            <a:ext cx="5969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Same question, different banks</a:t>
            </a:r>
          </a:p>
        </p:txBody>
      </p:sp>
      <p:sp>
        <p:nvSpPr>
          <p:cNvPr id="7" name="TextBox 6"/>
          <p:cNvSpPr txBox="1"/>
          <p:nvPr/>
        </p:nvSpPr>
        <p:spPr>
          <a:xfrm>
            <a:off x="762000" y="1859280"/>
            <a:ext cx="9525000" cy="1173480"/>
          </a:xfrm>
          <a:prstGeom prst="rect">
            <a:avLst/>
          </a:prstGeom>
          <a:noFill/>
        </p:spPr>
        <p:txBody>
          <a:bodyPr wrap="square" lIns="0" rIns="0" tIns="0" bIns="0" anchor="t">
            <a:spAutoFit/>
          </a:bodyPr>
          <a:lstStyle/>
          <a:p>
            <a:pPr algn="l">
              <a:lnSpc>
                <a:spcPct val="115000"/>
              </a:lnSpc>
            </a:pPr>
            <a:r>
              <a:rPr sz="2200" b="0">
                <a:solidFill>
                  <a:srgbClr val="ECE7DD"/>
                </a:solidFill>
                <a:latin typeface="Work Sans"/>
              </a:rPr>
              <a:t>“Saya freelancer dengan penghasilan tidak tetap, butuh rekening tanpa saldo minimum dan bisa pisah kantong. Bank apa yang cocok?”</a:t>
            </a:r>
          </a:p>
        </p:txBody>
      </p:sp>
      <p:sp>
        <p:nvSpPr>
          <p:cNvPr id="8" name="TextBox 7"/>
          <p:cNvSpPr txBox="1"/>
          <p:nvPr/>
        </p:nvSpPr>
        <p:spPr>
          <a:xfrm>
            <a:off x="762000" y="3185160"/>
            <a:ext cx="9525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I'm a freelancer with irregular income. I need an account with no minimum balance that lets me split money into pockets. Which bank fits?</a:t>
            </a:r>
          </a:p>
        </p:txBody>
      </p:sp>
      <p:sp>
        <p:nvSpPr>
          <p:cNvPr id="9" name="Rectangle 8"/>
          <p:cNvSpPr/>
          <p:nvPr/>
        </p:nvSpPr>
        <p:spPr>
          <a:xfrm>
            <a:off x="762000" y="4114800"/>
            <a:ext cx="88900" cy="88900"/>
          </a:xfrm>
          <a:prstGeom prst="rect">
            <a:avLst/>
          </a:prstGeom>
          <a:solidFill>
            <a:srgbClr val="D0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2500" y="4051300"/>
            <a:ext cx="38100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ChatGPT named</a:t>
            </a:r>
          </a:p>
        </p:txBody>
      </p:sp>
      <p:sp>
        <p:nvSpPr>
          <p:cNvPr id="11" name="TextBox 10"/>
          <p:cNvSpPr txBox="1"/>
          <p:nvPr/>
        </p:nvSpPr>
        <p:spPr>
          <a:xfrm>
            <a:off x="762000" y="4381500"/>
            <a:ext cx="4318000" cy="1280159"/>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Jago</a:t>
            </a:r>
          </a:p>
          <a:p>
            <a:pPr algn="l">
              <a:lnSpc>
                <a:spcPct val="115000"/>
              </a:lnSpc>
            </a:pPr>
            <a:r>
              <a:rPr sz="2400" b="0">
                <a:solidFill>
                  <a:srgbClr val="ECE7DD"/>
                </a:solidFill>
                <a:latin typeface="Work Sans"/>
              </a:rPr>
              <a:t>SeaBank</a:t>
            </a:r>
          </a:p>
        </p:txBody>
      </p:sp>
      <p:sp>
        <p:nvSpPr>
          <p:cNvPr id="12" name="Rectangle 11"/>
          <p:cNvSpPr/>
          <p:nvPr/>
        </p:nvSpPr>
        <p:spPr>
          <a:xfrm>
            <a:off x="5588000" y="4114800"/>
            <a:ext cx="88900" cy="88900"/>
          </a:xfrm>
          <a:prstGeom prst="rect">
            <a:avLst/>
          </a:prstGeom>
          <a:solidFill>
            <a:srgbClr val="479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78500" y="4051300"/>
            <a:ext cx="38100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Gemini named</a:t>
            </a:r>
          </a:p>
        </p:txBody>
      </p:sp>
      <p:sp>
        <p:nvSpPr>
          <p:cNvPr id="14" name="TextBox 13"/>
          <p:cNvSpPr txBox="1"/>
          <p:nvPr/>
        </p:nvSpPr>
        <p:spPr>
          <a:xfrm>
            <a:off x="5588000" y="4381500"/>
            <a:ext cx="4318000" cy="1280159"/>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BTPN (Jenius)</a:t>
            </a:r>
          </a:p>
          <a:p>
            <a:pPr algn="l">
              <a:lnSpc>
                <a:spcPct val="115000"/>
              </a:lnSpc>
            </a:pPr>
            <a:r>
              <a:rPr sz="2400" b="0">
                <a:solidFill>
                  <a:srgbClr val="ECE7DD"/>
                </a:solidFill>
                <a:latin typeface="Work Sans"/>
              </a:rPr>
              <a:t>Bank Jago</a:t>
            </a:r>
          </a:p>
        </p:txBody>
      </p:sp>
      <p:sp>
        <p:nvSpPr>
          <p:cNvPr id="15" name="TextBox 14"/>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Introduction</a:t>
            </a:r>
          </a:p>
        </p:txBody>
      </p:sp>
      <p:sp>
        <p:nvSpPr>
          <p:cNvPr id="16" name="TextBox 15"/>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 / 33</a:t>
            </a:r>
          </a:p>
        </p:txBody>
      </p:sp>
      <p:sp>
        <p:nvSpPr>
          <p:cNvPr id="17" name="TextBox 16"/>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Prompt 13 of 20, run on 9 October 2026. Source: data/interim/mentions.csv</a:t>
            </a:r>
          </a:p>
        </p:txBody>
      </p:sp>
      <p:cxnSp>
        <p:nvCxnSpPr>
          <p:cNvPr id="18"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2"/>
          <p:cNvCxnSpPr/>
          <p:nvPr/>
        </p:nvCxnSpPr>
        <p:spPr>
          <a:xfrm>
            <a:off x="79883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0" name="motif-line-tick-03"/>
          <p:cNvCxnSpPr/>
          <p:nvPr/>
        </p:nvCxnSpPr>
        <p:spPr>
          <a:xfrm>
            <a:off x="8102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tick-04"/>
          <p:cNvCxnSpPr/>
          <p:nvPr/>
        </p:nvCxnSpPr>
        <p:spPr>
          <a:xfrm>
            <a:off x="8216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tick-05"/>
          <p:cNvCxnSpPr/>
          <p:nvPr/>
        </p:nvCxnSpPr>
        <p:spPr>
          <a:xfrm>
            <a:off x="8331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tick-06"/>
          <p:cNvCxnSpPr/>
          <p:nvPr/>
        </p:nvCxnSpPr>
        <p:spPr>
          <a:xfrm>
            <a:off x="8445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07"/>
          <p:cNvCxnSpPr/>
          <p:nvPr/>
        </p:nvCxnSpPr>
        <p:spPr>
          <a:xfrm>
            <a:off x="8559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0"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9525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A growing share of ChatGPT use is looking things up, and most pages AI assistants cite are not in Google's top 10</a:t>
            </a:r>
          </a:p>
        </p:txBody>
      </p:sp>
      <p:sp>
        <p:nvSpPr>
          <p:cNvPr id="3" name="TextBox 2"/>
          <p:cNvSpPr txBox="1"/>
          <p:nvPr/>
        </p:nvSpPr>
        <p:spPr>
          <a:xfrm>
            <a:off x="762000" y="2847340"/>
            <a:ext cx="5207000" cy="128016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24%</a:t>
            </a:r>
          </a:p>
        </p:txBody>
      </p:sp>
      <p:sp>
        <p:nvSpPr>
          <p:cNvPr id="4" name="TextBox 3"/>
          <p:cNvSpPr txBox="1"/>
          <p:nvPr/>
        </p:nvSpPr>
        <p:spPr>
          <a:xfrm>
            <a:off x="762000" y="4191000"/>
            <a:ext cx="4572000" cy="56896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of ChatGPT conversations seek information, up from 14% a year earlier</a:t>
            </a:r>
          </a:p>
        </p:txBody>
      </p:sp>
      <p:sp>
        <p:nvSpPr>
          <p:cNvPr id="5" name="TextBox 4"/>
          <p:cNvSpPr txBox="1"/>
          <p:nvPr/>
        </p:nvSpPr>
        <p:spPr>
          <a:xfrm>
            <a:off x="762000" y="486156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OpenAI usage study, via Search Engine Journal</a:t>
            </a:r>
          </a:p>
        </p:txBody>
      </p:sp>
      <p:sp>
        <p:nvSpPr>
          <p:cNvPr id="6" name="TextBox 5"/>
          <p:cNvSpPr txBox="1"/>
          <p:nvPr/>
        </p:nvSpPr>
        <p:spPr>
          <a:xfrm>
            <a:off x="6223000" y="2847340"/>
            <a:ext cx="5207000" cy="128016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12%</a:t>
            </a:r>
          </a:p>
        </p:txBody>
      </p:sp>
      <p:sp>
        <p:nvSpPr>
          <p:cNvPr id="7" name="TextBox 6"/>
          <p:cNvSpPr txBox="1"/>
          <p:nvPr/>
        </p:nvSpPr>
        <p:spPr>
          <a:xfrm>
            <a:off x="6223000" y="4191000"/>
            <a:ext cx="4572000" cy="56896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of URLs cited by AI assistants rank in Google's top 10 for the same query</a:t>
            </a:r>
          </a:p>
        </p:txBody>
      </p:sp>
      <p:sp>
        <p:nvSpPr>
          <p:cNvPr id="8" name="TextBox 7"/>
          <p:cNvSpPr txBox="1"/>
          <p:nvPr/>
        </p:nvSpPr>
        <p:spPr>
          <a:xfrm>
            <a:off x="6223000" y="486156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Ahrefs, 15,000 prompts</a:t>
            </a:r>
          </a:p>
        </p:txBody>
      </p:sp>
      <p:pic>
        <p:nvPicPr>
          <p:cNvPr id="9" name="motif-horizon" descr="motif-horizon.png"/>
          <p:cNvPicPr>
            <a:picLocks noChangeAspect="1"/>
          </p:cNvPicPr>
          <p:nvPr/>
        </p:nvPicPr>
        <p:blipFill>
          <a:blip r:embed="rId2"/>
          <a:stretch>
            <a:fillRect/>
          </a:stretch>
        </p:blipFill>
        <p:spPr>
          <a:xfrm>
            <a:off x="0" y="5511800"/>
            <a:ext cx="12192000" cy="1346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What this study asks</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banks does each engine name, how early, and in what tone?</a:t>
            </a:r>
          </a:p>
        </p:txBody>
      </p:sp>
      <p:sp>
        <p:nvSpPr>
          <p:cNvPr id="9" name="TextBox 8"/>
          <p:cNvSpPr txBox="1"/>
          <p:nvPr/>
        </p:nvSpPr>
        <p:spPr>
          <a:xfrm>
            <a:off x="762000" y="248666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46126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sources does each engine cite, and do the two engines agree?</a:t>
            </a:r>
          </a:p>
        </p:txBody>
      </p:sp>
      <p:sp>
        <p:nvSpPr>
          <p:cNvPr id="11" name="TextBox 10"/>
          <p:cNvSpPr txBox="1"/>
          <p:nvPr/>
        </p:nvSpPr>
        <p:spPr>
          <a:xfrm>
            <a:off x="762000" y="29286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29032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Where does a bank's share of the answers differ from its share of the cited pages?</a:t>
            </a:r>
          </a:p>
        </p:txBody>
      </p:sp>
      <p:cxnSp>
        <p:nvCxnSpPr>
          <p:cNvPr id="13" name="motif-line-rail"/>
          <p:cNvCxnSpPr/>
          <p:nvPr/>
        </p:nvCxnSpPr>
        <p:spPr>
          <a:xfrm>
            <a:off x="1282700" y="2056130"/>
            <a:ext cx="0" cy="111252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stop-2"/>
          <p:cNvCxnSpPr/>
          <p:nvPr/>
        </p:nvCxnSpPr>
        <p:spPr>
          <a:xfrm>
            <a:off x="1238250" y="261239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stop-3"/>
          <p:cNvCxnSpPr/>
          <p:nvPr/>
        </p:nvCxnSpPr>
        <p:spPr>
          <a:xfrm>
            <a:off x="1238250" y="30543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Introduction</a:t>
            </a:r>
          </a:p>
        </p:txBody>
      </p:sp>
      <p:sp>
        <p:nvSpPr>
          <p:cNvPr id="18" name="TextBox 17"/>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4 / 33</a:t>
            </a:r>
          </a:p>
        </p:txBody>
      </p:sp>
      <p:cxnSp>
        <p:nvCxnSpPr>
          <p:cNvPr id="19"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82169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331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445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559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1"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84500" y="2438400"/>
            <a:ext cx="6223000" cy="292100"/>
          </a:xfrm>
          <a:prstGeom prst="rect">
            <a:avLst/>
          </a:prstGeom>
          <a:noFill/>
        </p:spPr>
        <p:txBody>
          <a:bodyPr wrap="square" lIns="0" rIns="0" tIns="0" bIns="0" anchor="t">
            <a:spAutoFit/>
          </a:bodyPr>
          <a:lstStyle/>
          <a:p>
            <a:pPr algn="ctr">
              <a:lnSpc>
                <a:spcPct val="115000"/>
              </a:lnSpc>
            </a:pPr>
            <a:r>
              <a:rPr sz="1600" b="0">
                <a:solidFill>
                  <a:srgbClr val="9A9EA6"/>
                </a:solidFill>
                <a:latin typeface="Work Sans"/>
              </a:rPr>
              <a:t>Part I</a:t>
            </a:r>
          </a:p>
        </p:txBody>
      </p:sp>
      <p:sp>
        <p:nvSpPr>
          <p:cNvPr id="27" name="TextBox 26"/>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Method</a:t>
            </a:r>
          </a:p>
        </p:txBody>
      </p:sp>
      <p:sp>
        <p:nvSpPr>
          <p:cNvPr id="28" name="TextBox 27"/>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20 prompts, 2 engines, one day</a:t>
            </a:r>
          </a:p>
        </p:txBody>
      </p:sp>
      <p:cxnSp>
        <p:nvCxnSpPr>
          <p:cNvPr id="29" name="Connector 28"/>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20 everyday banking questions, asked in Bahasa Indonesia</a:t>
            </a:r>
          </a:p>
        </p:txBody>
      </p:sp>
      <p:sp>
        <p:nvSpPr>
          <p:cNvPr id="7" name="TextBox 6"/>
          <p:cNvSpPr txBox="1"/>
          <p:nvPr/>
        </p:nvSpPr>
        <p:spPr>
          <a:xfrm>
            <a:off x="762000" y="1732280"/>
            <a:ext cx="85725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5 customer needs by 5 question types. Only 3 prompts name a bank, all of them comparisons. Each prompt was asked once in ChatGPT and once in Gemini, with a request for 10 sources.</a:t>
            </a:r>
          </a:p>
        </p:txBody>
      </p:sp>
      <p:pic>
        <p:nvPicPr>
          <p:cNvPr id="8" name="chart-prompt_grid" descr="prompt_grid.png"/>
          <p:cNvPicPr>
            <a:picLocks noChangeAspect="1"/>
          </p:cNvPicPr>
          <p:nvPr/>
        </p:nvPicPr>
        <p:blipFill>
          <a:blip r:embed="rId2"/>
          <a:stretch>
            <a:fillRect/>
          </a:stretch>
        </p:blipFill>
        <p:spPr>
          <a:xfrm>
            <a:off x="1417884" y="2593340"/>
            <a:ext cx="9356231" cy="3007360"/>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 Method</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6 / 33</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data/interim/answers.csv. n = 20 prompts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From 40 answers to 195 readable source pages</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Each step is code in the public repo, covered by tests. Only links under each answer's source list count as citations.</a:t>
            </a:r>
          </a:p>
        </p:txBody>
      </p:sp>
      <p:pic>
        <p:nvPicPr>
          <p:cNvPr id="8" name="chart-pipeline" descr="pipeline.png"/>
          <p:cNvPicPr>
            <a:picLocks noChangeAspect="1"/>
          </p:cNvPicPr>
          <p:nvPr/>
        </p:nvPicPr>
        <p:blipFill>
          <a:blip r:embed="rId2"/>
          <a:stretch>
            <a:fillRect/>
          </a:stretch>
        </p:blipFill>
        <p:spPr>
          <a:xfrm>
            <a:off x="1537208" y="2344420"/>
            <a:ext cx="9117584" cy="3256279"/>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 Method</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7 / 33</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Code and data: github.com/rgmwnn/geo-bank-visibility. n = 40 answers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What is measured</a:t>
            </a:r>
          </a:p>
        </p:txBody>
      </p:sp>
      <p:sp>
        <p:nvSpPr>
          <p:cNvPr id="7" name="TextBox 6"/>
          <p:cNvSpPr txBox="1"/>
          <p:nvPr/>
        </p:nvSpPr>
        <p:spPr>
          <a:xfrm>
            <a:off x="762000" y="175768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Mention rate</a:t>
            </a:r>
          </a:p>
        </p:txBody>
      </p:sp>
      <p:sp>
        <p:nvSpPr>
          <p:cNvPr id="8" name="TextBox 7"/>
          <p:cNvSpPr txBox="1"/>
          <p:nvPr/>
        </p:nvSpPr>
        <p:spPr>
          <a:xfrm>
            <a:off x="762000" y="201930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share of answers that name the bank</a:t>
            </a:r>
          </a:p>
        </p:txBody>
      </p:sp>
      <p:sp>
        <p:nvSpPr>
          <p:cNvPr id="9" name="TextBox 8"/>
          <p:cNvSpPr txBox="1"/>
          <p:nvPr/>
        </p:nvSpPr>
        <p:spPr>
          <a:xfrm>
            <a:off x="762000" y="229616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AI share of voice</a:t>
            </a:r>
          </a:p>
        </p:txBody>
      </p:sp>
      <p:sp>
        <p:nvSpPr>
          <p:cNvPr id="10" name="TextBox 9"/>
          <p:cNvSpPr txBox="1"/>
          <p:nvPr/>
        </p:nvSpPr>
        <p:spPr>
          <a:xfrm>
            <a:off x="762000" y="255778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each answer weighted equally</a:t>
            </a:r>
          </a:p>
        </p:txBody>
      </p:sp>
      <p:sp>
        <p:nvSpPr>
          <p:cNvPr id="11" name="TextBox 10"/>
          <p:cNvSpPr txBox="1"/>
          <p:nvPr/>
        </p:nvSpPr>
        <p:spPr>
          <a:xfrm>
            <a:off x="762000" y="283464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Brand PAWC</a:t>
            </a:r>
          </a:p>
        </p:txBody>
      </p:sp>
      <p:sp>
        <p:nvSpPr>
          <p:cNvPr id="12" name="TextBox 11"/>
          <p:cNvSpPr txBox="1"/>
          <p:nvPr/>
        </p:nvSpPr>
        <p:spPr>
          <a:xfrm>
            <a:off x="762000" y="3096260"/>
            <a:ext cx="5207000" cy="42671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how much of an answer is about the bank, earlier sentences weighted more</a:t>
            </a:r>
          </a:p>
        </p:txBody>
      </p:sp>
      <p:sp>
        <p:nvSpPr>
          <p:cNvPr id="13" name="TextBox 12"/>
          <p:cNvSpPr txBox="1"/>
          <p:nvPr/>
        </p:nvSpPr>
        <p:spPr>
          <a:xfrm>
            <a:off x="762000" y="3586479"/>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Source share of voice</a:t>
            </a:r>
          </a:p>
        </p:txBody>
      </p:sp>
      <p:sp>
        <p:nvSpPr>
          <p:cNvPr id="14" name="TextBox 13"/>
          <p:cNvSpPr txBox="1"/>
          <p:nvPr/>
        </p:nvSpPr>
        <p:spPr>
          <a:xfrm>
            <a:off x="762000" y="384810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in the readable cited pages</a:t>
            </a:r>
          </a:p>
        </p:txBody>
      </p:sp>
      <p:sp>
        <p:nvSpPr>
          <p:cNvPr id="15" name="TextBox 14"/>
          <p:cNvSpPr txBox="1"/>
          <p:nvPr/>
        </p:nvSpPr>
        <p:spPr>
          <a:xfrm>
            <a:off x="762000" y="4124959"/>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SOV gap</a:t>
            </a:r>
          </a:p>
        </p:txBody>
      </p:sp>
      <p:sp>
        <p:nvSpPr>
          <p:cNvPr id="16" name="TextBox 15"/>
          <p:cNvSpPr txBox="1"/>
          <p:nvPr/>
        </p:nvSpPr>
        <p:spPr>
          <a:xfrm>
            <a:off x="762000" y="438658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AI share of voice minus source share of voice</a:t>
            </a:r>
          </a:p>
        </p:txBody>
      </p:sp>
      <p:sp>
        <p:nvSpPr>
          <p:cNvPr id="17" name="TextBox 16"/>
          <p:cNvSpPr txBox="1"/>
          <p:nvPr/>
        </p:nvSpPr>
        <p:spPr>
          <a:xfrm>
            <a:off x="762000" y="4663439"/>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VIS</a:t>
            </a:r>
          </a:p>
        </p:txBody>
      </p:sp>
      <p:sp>
        <p:nvSpPr>
          <p:cNvPr id="18" name="TextBox 17"/>
          <p:cNvSpPr txBox="1"/>
          <p:nvPr/>
        </p:nvSpPr>
        <p:spPr>
          <a:xfrm>
            <a:off x="762000" y="4925059"/>
            <a:ext cx="5207000" cy="42671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0 to 100: equal mix of PAWC, source authority, sentiment and coverage of both engines</a:t>
            </a:r>
          </a:p>
        </p:txBody>
      </p:sp>
      <p:pic>
        <p:nvPicPr>
          <p:cNvPr id="19" name="chart-pawc_curve" descr="pawc_curve.png"/>
          <p:cNvPicPr>
            <a:picLocks noChangeAspect="1"/>
          </p:cNvPicPr>
          <p:nvPr/>
        </p:nvPicPr>
        <p:blipFill>
          <a:blip r:embed="rId2"/>
          <a:stretch>
            <a:fillRect/>
          </a:stretch>
        </p:blipFill>
        <p:spPr>
          <a:xfrm>
            <a:off x="6350000" y="1905000"/>
            <a:ext cx="5080000" cy="2540000"/>
          </a:xfrm>
          <a:prstGeom prst="rect">
            <a:avLst/>
          </a:prstGeom>
        </p:spPr>
      </p:pic>
      <p:sp>
        <p:nvSpPr>
          <p:cNvPr id="20" name="TextBox 1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 Method</a:t>
            </a:r>
          </a:p>
        </p:txBody>
      </p:sp>
      <p:sp>
        <p:nvSpPr>
          <p:cNvPr id="21" name="TextBox 2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8 / 33</a:t>
            </a:r>
          </a:p>
        </p:txBody>
      </p:sp>
      <p:sp>
        <p:nvSpPr>
          <p:cNvPr id="22" name="TextBox 2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PAWC adapted from Aggarwal et al., GEO: Generative Engine Optimization, KDD 2024</a:t>
            </a:r>
          </a:p>
        </p:txBody>
      </p:sp>
      <p:cxnSp>
        <p:nvCxnSpPr>
          <p:cNvPr id="2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8"/>
          <p:cNvCxnSpPr/>
          <p:nvPr/>
        </p:nvCxnSpPr>
        <p:spPr>
          <a:xfrm>
            <a:off x="86741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1"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5"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What this data cannot tell you</a:t>
            </a:r>
          </a:p>
        </p:txBody>
      </p:sp>
      <p:sp>
        <p:nvSpPr>
          <p:cNvPr id="7" name="TextBox 6"/>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One run per prompt per engine: a snapshot.</a:t>
            </a:r>
          </a:p>
        </p:txBody>
      </p:sp>
      <p:sp>
        <p:nvSpPr>
          <p:cNvPr id="8" name="TextBox 7"/>
          <p:cNvSpPr txBox="1"/>
          <p:nvPr/>
        </p:nvSpPr>
        <p:spPr>
          <a:xfrm>
            <a:off x="762000" y="285750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Asking for 10 sources makes both engines cite more than usual.</a:t>
            </a:r>
          </a:p>
        </p:txBody>
      </p:sp>
      <p:sp>
        <p:nvSpPr>
          <p:cNvPr id="9" name="TextBox 8"/>
          <p:cNvSpPr txBox="1"/>
          <p:nvPr/>
        </p:nvSpPr>
        <p:spPr>
          <a:xfrm>
            <a:off x="762000" y="34188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10 of 20 prompts lean digital: they name digital banks or ask about apps.</a:t>
            </a:r>
          </a:p>
        </p:txBody>
      </p:sp>
      <p:sp>
        <p:nvSpPr>
          <p:cNvPr id="10" name="TextBox 9"/>
          <p:cNvSpPr txBox="1"/>
          <p:nvPr/>
        </p:nvSpPr>
        <p:spPr>
          <a:xfrm>
            <a:off x="762000" y="3980179"/>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Claude labelled sentiment and site types; RG spot-checked a sample.</a:t>
            </a:r>
          </a:p>
        </p:txBody>
      </p:sp>
      <p:sp>
        <p:nvSpPr>
          <p:cNvPr id="11" name="TextBox 10"/>
          <p:cNvSpPr txBox="1"/>
          <p:nvPr/>
        </p:nvSpPr>
        <p:spPr>
          <a:xfrm>
            <a:off x="762000" y="45415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Pages that blocked the crawler drop out of page-level measures.</a:t>
            </a:r>
          </a:p>
        </p:txBody>
      </p:sp>
      <p:sp>
        <p:nvSpPr>
          <p:cNvPr id="12" name="TextBox 11"/>
          <p:cNvSpPr txBox="1"/>
          <p:nvPr/>
        </p:nvSpPr>
        <p:spPr>
          <a:xfrm>
            <a:off x="762000" y="5102859"/>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Banks named in fewer than 3 answers are not ranked.</a:t>
            </a:r>
          </a:p>
        </p:txBody>
      </p:sp>
      <p:pic>
        <p:nvPicPr>
          <p:cNvPr id="13" name="chart-funnel" descr="funnel.png"/>
          <p:cNvPicPr>
            <a:picLocks noChangeAspect="1"/>
          </p:cNvPicPr>
          <p:nvPr/>
        </p:nvPicPr>
        <p:blipFill>
          <a:blip r:embed="rId2"/>
          <a:stretch>
            <a:fillRect/>
          </a:stretch>
        </p:blipFill>
        <p:spPr>
          <a:xfrm>
            <a:off x="4889500" y="1750060"/>
            <a:ext cx="6731000" cy="3230880"/>
          </a:xfrm>
          <a:prstGeom prst="rect">
            <a:avLst/>
          </a:prstGeom>
        </p:spPr>
      </p:pic>
      <p:sp>
        <p:nvSpPr>
          <p:cNvPr id="14" name="TextBox 13"/>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 Method</a:t>
            </a:r>
          </a:p>
        </p:txBody>
      </p:sp>
      <p:sp>
        <p:nvSpPr>
          <p:cNvPr id="15" name="TextBox 14"/>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9 / 33</a:t>
            </a:r>
          </a:p>
        </p:txBody>
      </p:sp>
      <p:sp>
        <p:nvSpPr>
          <p:cNvPr id="16" name="TextBox 15"/>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data/interim/pages.csv, page_brand_counts.csv. n = 243 pages</a:t>
            </a:r>
          </a:p>
        </p:txBody>
      </p:sp>
      <p:cxnSp>
        <p:nvCxnSpPr>
          <p:cNvPr id="17"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9"/>
          <p:cNvCxnSpPr/>
          <p:nvPr/>
        </p:nvCxnSpPr>
        <p:spPr>
          <a:xfrm>
            <a:off x="87884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6"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depth-2-t"/>
          <p:cNvCxnSpPr/>
          <p:nvPr/>
        </p:nvCxnSpPr>
        <p:spPr>
          <a:xfrm>
            <a:off x="2095500" y="1571625"/>
            <a:ext cx="8001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depth-2-b"/>
          <p:cNvCxnSpPr/>
          <p:nvPr/>
        </p:nvCxnSpPr>
        <p:spPr>
          <a:xfrm>
            <a:off x="2095500" y="5476875"/>
            <a:ext cx="8001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depth-2-l"/>
          <p:cNvCxnSpPr/>
          <p:nvPr/>
        </p:nvCxnSpPr>
        <p:spPr>
          <a:xfrm>
            <a:off x="2095500" y="1571625"/>
            <a:ext cx="0" cy="390525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depth-2-r"/>
          <p:cNvCxnSpPr/>
          <p:nvPr/>
        </p:nvCxnSpPr>
        <p:spPr>
          <a:xfrm>
            <a:off x="10096500" y="1571625"/>
            <a:ext cx="0" cy="390525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984500" y="2438400"/>
            <a:ext cx="6223000" cy="292100"/>
          </a:xfrm>
          <a:prstGeom prst="rect">
            <a:avLst/>
          </a:prstGeom>
          <a:noFill/>
        </p:spPr>
        <p:txBody>
          <a:bodyPr wrap="square" lIns="0" rIns="0" tIns="0" bIns="0" anchor="t">
            <a:spAutoFit/>
          </a:bodyPr>
          <a:lstStyle/>
          <a:p>
            <a:pPr algn="ctr">
              <a:lnSpc>
                <a:spcPct val="115000"/>
              </a:lnSpc>
            </a:pPr>
            <a:r>
              <a:rPr sz="1600" b="0">
                <a:solidFill>
                  <a:srgbClr val="9A9EA6"/>
                </a:solidFill>
                <a:latin typeface="Work Sans"/>
              </a:rPr>
              <a:t>Part II</a:t>
            </a:r>
          </a:p>
        </p:txBody>
      </p:sp>
      <p:sp>
        <p:nvSpPr>
          <p:cNvPr id="31" name="TextBox 30"/>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answers</a:t>
            </a:r>
          </a:p>
        </p:txBody>
      </p:sp>
      <p:sp>
        <p:nvSpPr>
          <p:cNvPr id="32" name="TextBox 31"/>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Which banks the answers name</a:t>
            </a:r>
          </a:p>
        </p:txBody>
      </p:sp>
      <p:cxnSp>
        <p:nvCxnSpPr>
          <p:cNvPr id="33" name="Connector 32"/>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8491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Bank Jago and SeaBank are each named in more than half of all answers</a:t>
            </a:r>
          </a:p>
        </p:txBody>
      </p:sp>
      <p:sp>
        <p:nvSpPr>
          <p:cNvPr id="7" name="TextBox 6"/>
          <p:cNvSpPr txBox="1"/>
          <p:nvPr/>
        </p:nvSpPr>
        <p:spPr>
          <a:xfrm>
            <a:off x="762000" y="32207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appear in 22 of 40 answers, SeaBank in 21, BRI in 12.</a:t>
            </a:r>
          </a:p>
        </p:txBody>
      </p:sp>
      <p:pic>
        <p:nvPicPr>
          <p:cNvPr id="8" name="chart-mention_dots" descr="mention_dots.png"/>
          <p:cNvPicPr>
            <a:picLocks noChangeAspect="1"/>
          </p:cNvPicPr>
          <p:nvPr/>
        </p:nvPicPr>
        <p:blipFill>
          <a:blip r:embed="rId2"/>
          <a:stretch>
            <a:fillRect/>
          </a:stretch>
        </p:blipFill>
        <p:spPr>
          <a:xfrm>
            <a:off x="4892756" y="1143000"/>
            <a:ext cx="6724487" cy="4445000"/>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11 / 33</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Top 10 banks. n = 20 answers per engine</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scores highest, with Bank Jago and BRI close behind</a:t>
            </a:r>
          </a:p>
        </p:txBody>
      </p:sp>
      <p:sp>
        <p:nvSpPr>
          <p:cNvPr id="7" name="TextBox 6"/>
          <p:cNvSpPr txBox="1"/>
          <p:nvPr/>
        </p:nvSpPr>
        <p:spPr>
          <a:xfrm>
            <a:off x="762000" y="27584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VIS 93.2 for BCA, then Bank Jago 89.6, BRI 89.5 and SeaBank 85.7.</a:t>
            </a:r>
          </a:p>
        </p:txBody>
      </p:sp>
      <p:sp>
        <p:nvSpPr>
          <p:cNvPr id="8" name="TextBox 7"/>
          <p:cNvSpPr txBox="1"/>
          <p:nvPr/>
        </p:nvSpPr>
        <p:spPr>
          <a:xfrm>
            <a:off x="762000" y="3345179"/>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7 banks named in fewer than 3 answers are left off the chart: one or two answers is too few to rank.</a:t>
            </a:r>
          </a:p>
        </p:txBody>
      </p:sp>
      <p:pic>
        <p:nvPicPr>
          <p:cNvPr id="9" name="chart-vis_rank" descr="vis_rank.png"/>
          <p:cNvPicPr>
            <a:picLocks noChangeAspect="1"/>
          </p:cNvPicPr>
          <p:nvPr/>
        </p:nvPicPr>
        <p:blipFill>
          <a:blip r:embed="rId2"/>
          <a:stretch>
            <a:fillRect/>
          </a:stretch>
        </p:blipFill>
        <p:spPr>
          <a:xfrm>
            <a:off x="4889500" y="1369016"/>
            <a:ext cx="6731000" cy="3992966"/>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12 / 33</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data/processed/vis.csv. n = 40 answers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 names a wider field: 18 banks against ChatGPT's 11</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Full-colour circles are banks only one engine named. Gemini alone named Bank BTPN (Jenius) in 5 answers and Superbank in 4.</a:t>
            </a:r>
          </a:p>
        </p:txBody>
      </p:sp>
      <p:pic>
        <p:nvPicPr>
          <p:cNvPr id="8" name="chart-wider_field" descr="wider_field.png"/>
          <p:cNvPicPr>
            <a:picLocks noChangeAspect="1"/>
          </p:cNvPicPr>
          <p:nvPr/>
        </p:nvPicPr>
        <p:blipFill>
          <a:blip r:embed="rId2"/>
          <a:stretch>
            <a:fillRect/>
          </a:stretch>
        </p:blipFill>
        <p:spPr>
          <a:xfrm>
            <a:off x="1030675" y="2344420"/>
            <a:ext cx="10130648" cy="3256279"/>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13 / 33</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n = 20 answers per engine</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No bank leads every customer need, and no lead is more than one answer</a:t>
            </a:r>
          </a:p>
        </p:txBody>
      </p:sp>
      <p:sp>
        <p:nvSpPr>
          <p:cNvPr id="7" name="TextBox 6"/>
          <p:cNvSpPr txBox="1"/>
          <p:nvPr/>
        </p:nvSpPr>
        <p:spPr>
          <a:xfrm>
            <a:off x="762000" y="2194560"/>
            <a:ext cx="85725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Counted on the 17 prompts that name no bank. Fees and rates: Bank Jago, Krom Bank and SeaBank, 6 of 8. Digital experience: Bank Jago and SeaBank, 6 of 6. Safety: Bank Jago, 5 of 8. Service: BCA, 4 of 6. Trust: BCA, 3 of 6.</a:t>
            </a:r>
          </a:p>
        </p:txBody>
      </p:sp>
      <p:pic>
        <p:nvPicPr>
          <p:cNvPr id="8" name="chart-pillar_heatmap" descr="pillar_heatmap.png"/>
          <p:cNvPicPr>
            <a:picLocks noChangeAspect="1"/>
          </p:cNvPicPr>
          <p:nvPr/>
        </p:nvPicPr>
        <p:blipFill>
          <a:blip r:embed="rId2"/>
          <a:stretch>
            <a:fillRect/>
          </a:stretch>
        </p:blipFill>
        <p:spPr>
          <a:xfrm>
            <a:off x="2278380" y="3055620"/>
            <a:ext cx="7635239" cy="2545079"/>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14 / 33</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data/interim/answers.csv, mentions.csv. Share of a need's answers that name the bank. n = 34 answers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Banks named in more answers also get named earlier</a:t>
            </a:r>
          </a:p>
        </p:txBody>
      </p:sp>
      <p:sp>
        <p:nvSpPr>
          <p:cNvPr id="7" name="TextBox 6"/>
          <p:cNvSpPr txBox="1"/>
          <p:nvPr/>
        </p:nvSpPr>
        <p:spPr>
          <a:xfrm>
            <a:off x="762000" y="27584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lead on both measures.</a:t>
            </a:r>
          </a:p>
        </p:txBody>
      </p:sp>
      <p:sp>
        <p:nvSpPr>
          <p:cNvPr id="8" name="TextBox 7"/>
          <p:cNvSpPr txBox="1"/>
          <p:nvPr/>
        </p:nvSpPr>
        <p:spPr>
          <a:xfrm>
            <a:off x="762000" y="3345179"/>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BRI scores higher on PAWC than SeaBank while appearing in fewer answers: when BRI is named, it takes up more of the answer.</a:t>
            </a:r>
          </a:p>
        </p:txBody>
      </p:sp>
      <p:pic>
        <p:nvPicPr>
          <p:cNvPr id="9" name="chart-often_vs_early" descr="often_vs_early.png"/>
          <p:cNvPicPr>
            <a:picLocks noChangeAspect="1"/>
          </p:cNvPicPr>
          <p:nvPr/>
        </p:nvPicPr>
        <p:blipFill>
          <a:blip r:embed="rId2"/>
          <a:stretch>
            <a:fillRect/>
          </a:stretch>
        </p:blipFill>
        <p:spPr>
          <a:xfrm>
            <a:off x="4889500" y="1540144"/>
            <a:ext cx="6731000" cy="3650711"/>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15 / 33</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Banks named in at least 3 answers. n = 40 answers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No answer was negative about a bank</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Of 137 answer and bank pairs, 117 are positive. The 6 mixed labels attach a condition, such as a minimum balance for free transfers.</a:t>
            </a:r>
          </a:p>
        </p:txBody>
      </p:sp>
      <p:pic>
        <p:nvPicPr>
          <p:cNvPr id="8" name="chart-sentiment_marks" descr="sentiment_marks.png"/>
          <p:cNvPicPr>
            <a:picLocks noChangeAspect="1"/>
          </p:cNvPicPr>
          <p:nvPr/>
        </p:nvPicPr>
        <p:blipFill>
          <a:blip r:embed="rId2"/>
          <a:stretch>
            <a:fillRect/>
          </a:stretch>
        </p:blipFill>
        <p:spPr>
          <a:xfrm>
            <a:off x="762000" y="2344420"/>
            <a:ext cx="10668000" cy="2413000"/>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16 / 33</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data/labels/sentiment.csv. Labelled by Claude, spot-checked by RG. n = 137 pairs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How-to answers rarely name a bank</a:t>
            </a:r>
          </a:p>
        </p:txBody>
      </p:sp>
      <p:sp>
        <p:nvSpPr>
          <p:cNvPr id="7" name="TextBox 6"/>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Every best and decision-brief answer named at least one bank.</a:t>
            </a:r>
          </a:p>
        </p:txBody>
      </p:sp>
      <p:sp>
        <p:nvSpPr>
          <p:cNvPr id="8" name="TextBox 7"/>
          <p:cNvSpPr txBox="1"/>
          <p:nvPr/>
        </p:nvSpPr>
        <p:spPr>
          <a:xfrm>
            <a:off x="762000" y="28829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 of 6 how-to answers did. Explainers on deposit insurance, scams and complaints look like a gap for banks.</a:t>
            </a:r>
          </a:p>
        </p:txBody>
      </p:sp>
      <p:pic>
        <p:nvPicPr>
          <p:cNvPr id="9" name="chart-intent_named" descr="intent_named.png"/>
          <p:cNvPicPr>
            <a:picLocks noChangeAspect="1"/>
          </p:cNvPicPr>
          <p:nvPr/>
        </p:nvPicPr>
        <p:blipFill>
          <a:blip r:embed="rId2"/>
          <a:stretch>
            <a:fillRect/>
          </a:stretch>
        </p:blipFill>
        <p:spPr>
          <a:xfrm>
            <a:off x="4889500" y="1896918"/>
            <a:ext cx="6731000" cy="2937163"/>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17 / 33</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data/processed/no_brand_rate.csv. n = 40 answers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depth-2-t"/>
          <p:cNvCxnSpPr/>
          <p:nvPr/>
        </p:nvCxnSpPr>
        <p:spPr>
          <a:xfrm>
            <a:off x="2095500" y="157162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depth-2-b"/>
          <p:cNvCxnSpPr/>
          <p:nvPr/>
        </p:nvCxnSpPr>
        <p:spPr>
          <a:xfrm>
            <a:off x="2095500" y="547687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depth-2-l"/>
          <p:cNvCxnSpPr/>
          <p:nvPr/>
        </p:nvCxnSpPr>
        <p:spPr>
          <a:xfrm>
            <a:off x="2095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depth-2-r"/>
          <p:cNvCxnSpPr/>
          <p:nvPr/>
        </p:nvCxnSpPr>
        <p:spPr>
          <a:xfrm>
            <a:off x="10096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depth-3-t"/>
          <p:cNvCxnSpPr/>
          <p:nvPr/>
        </p:nvCxnSpPr>
        <p:spPr>
          <a:xfrm>
            <a:off x="2444750" y="1833562"/>
            <a:ext cx="73025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depth-3-b"/>
          <p:cNvCxnSpPr/>
          <p:nvPr/>
        </p:nvCxnSpPr>
        <p:spPr>
          <a:xfrm>
            <a:off x="2444750" y="5246687"/>
            <a:ext cx="73025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depth-3-l"/>
          <p:cNvCxnSpPr/>
          <p:nvPr/>
        </p:nvCxnSpPr>
        <p:spPr>
          <a:xfrm>
            <a:off x="2444750" y="1833562"/>
            <a:ext cx="0" cy="3413125"/>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depth-3-r"/>
          <p:cNvCxnSpPr/>
          <p:nvPr/>
        </p:nvCxnSpPr>
        <p:spPr>
          <a:xfrm>
            <a:off x="9747250" y="1833562"/>
            <a:ext cx="0" cy="3413125"/>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984500" y="2438400"/>
            <a:ext cx="6223000" cy="292100"/>
          </a:xfrm>
          <a:prstGeom prst="rect">
            <a:avLst/>
          </a:prstGeom>
          <a:noFill/>
        </p:spPr>
        <p:txBody>
          <a:bodyPr wrap="square" lIns="0" rIns="0" tIns="0" bIns="0" anchor="t">
            <a:spAutoFit/>
          </a:bodyPr>
          <a:lstStyle/>
          <a:p>
            <a:pPr algn="ctr">
              <a:lnSpc>
                <a:spcPct val="115000"/>
              </a:lnSpc>
            </a:pPr>
            <a:r>
              <a:rPr sz="1600" b="0">
                <a:solidFill>
                  <a:srgbClr val="9A9EA6"/>
                </a:solidFill>
                <a:latin typeface="Work Sans"/>
              </a:rPr>
              <a:t>Part III</a:t>
            </a:r>
          </a:p>
        </p:txBody>
      </p:sp>
      <p:sp>
        <p:nvSpPr>
          <p:cNvPr id="35" name="TextBox 34"/>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sources</a:t>
            </a:r>
          </a:p>
        </p:txBody>
      </p:sp>
      <p:sp>
        <p:nvSpPr>
          <p:cNvPr id="36" name="TextBox 35"/>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Which pages each engine cites</a:t>
            </a:r>
          </a:p>
        </p:txBody>
      </p:sp>
      <p:cxnSp>
        <p:nvCxnSpPr>
          <p:cNvPr id="37" name="Connector 36"/>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 cites banks and regulators. Gemini cites fintech, blog and news sites.</a:t>
            </a:r>
          </a:p>
        </p:txBody>
      </p:sp>
      <p:sp>
        <p:nvSpPr>
          <p:cNvPr id="7" name="TextBox 6"/>
          <p:cNvSpPr txBox="1"/>
          <p:nvPr/>
        </p:nvSpPr>
        <p:spPr>
          <a:xfrm>
            <a:off x="762000" y="219456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89% of ChatGPT's citations go to bank and regulator sites. 61% of Gemini's go to fintech platforms, blogs and news.</a:t>
            </a:r>
          </a:p>
        </p:txBody>
      </p:sp>
      <p:pic>
        <p:nvPicPr>
          <p:cNvPr id="8" name="chart-source_mix" descr="source_mix.png"/>
          <p:cNvPicPr>
            <a:picLocks noChangeAspect="1"/>
          </p:cNvPicPr>
          <p:nvPr/>
        </p:nvPicPr>
        <p:blipFill>
          <a:blip r:embed="rId2"/>
          <a:stretch>
            <a:fillRect/>
          </a:stretch>
        </p:blipFill>
        <p:spPr>
          <a:xfrm>
            <a:off x="993913" y="2806700"/>
            <a:ext cx="10204173" cy="2794000"/>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19 / 33</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data/processed/domain_type_mix.csv. Shares rounded on their own, sums can differ by 1 point. n = 199 and 200 citations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8491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The engines share sites more than pages: 21 of 97 sites, 11 of 243 pages</a:t>
            </a:r>
          </a:p>
        </p:txBody>
      </p:sp>
      <p:sp>
        <p:nvSpPr>
          <p:cNvPr id="7" name="TextBox 6"/>
          <p:cNvSpPr txBox="1"/>
          <p:nvPr/>
        </p:nvSpPr>
        <p:spPr>
          <a:xfrm>
            <a:off x="762000" y="322072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21 of ChatGPT's 46 sites are also cited by Gemini, but rarely the same page. The Jaccard overlap is 0.22 for sites and 0.05 for pages.</a:t>
            </a:r>
          </a:p>
        </p:txBody>
      </p:sp>
      <p:sp>
        <p:nvSpPr>
          <p:cNvPr id="8" name="TextBox 7"/>
          <p:cNvSpPr txBox="1"/>
          <p:nvPr/>
        </p:nvSpPr>
        <p:spPr>
          <a:xfrm>
            <a:off x="762000" y="430530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Writesonic found 0.119 between ChatGPT and Gemini across 88,969 prompts, without saying whether it compared pages or sites.</a:t>
            </a:r>
          </a:p>
        </p:txBody>
      </p:sp>
      <p:pic>
        <p:nvPicPr>
          <p:cNvPr id="9" name="chart-overlap" descr="overlap.png"/>
          <p:cNvPicPr>
            <a:picLocks noChangeAspect="1"/>
          </p:cNvPicPr>
          <p:nvPr/>
        </p:nvPicPr>
        <p:blipFill>
          <a:blip r:embed="rId2"/>
          <a:stretch>
            <a:fillRect/>
          </a:stretch>
        </p:blipFill>
        <p:spPr>
          <a:xfrm>
            <a:off x="4889500" y="1652154"/>
            <a:ext cx="6731000" cy="3426690"/>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20 / 33</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Writesonic, AI citation source overlap study. n = 97 sites, 243 pages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Most cited sites: ChatGPT on the left, Gemini on the right</a:t>
            </a:r>
          </a:p>
        </p:txBody>
      </p:sp>
      <p:sp>
        <p:nvSpPr>
          <p:cNvPr id="7" name="TextBox 6"/>
          <p:cNvSpPr txBox="1"/>
          <p:nvPr/>
        </p:nvSpPr>
        <p:spPr>
          <a:xfrm>
            <a:off x="762000" y="1732280"/>
            <a:ext cx="85725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and regulator sites lead for ChatGPT. Fazz, Akulaku and Zaipad are cited only by Gemini.</a:t>
            </a:r>
          </a:p>
        </p:txBody>
      </p:sp>
      <p:pic>
        <p:nvPicPr>
          <p:cNvPr id="8" name="chart-mirror_sites" descr="mirror_sites.png"/>
          <p:cNvPicPr>
            <a:picLocks noChangeAspect="1"/>
          </p:cNvPicPr>
          <p:nvPr/>
        </p:nvPicPr>
        <p:blipFill>
          <a:blip r:embed="rId2"/>
          <a:stretch>
            <a:fillRect/>
          </a:stretch>
        </p:blipFill>
        <p:spPr>
          <a:xfrm>
            <a:off x="1634836" y="2095500"/>
            <a:ext cx="8922327" cy="3505200"/>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21 / 33</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data/processed/domains.csv. Top sites by citations. n = 399 citations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A few comparison articles appear across Gemini's answers</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One Akulaku article is cited in 14 of Gemini's 20 answers, one Zaipad article in 12, and Fazz articles 20 times across 15 answers. ChatGPT cites none of them.</a:t>
            </a:r>
          </a:p>
        </p:txBody>
      </p:sp>
      <p:sp>
        <p:nvSpPr>
          <p:cNvPr id="8" name="TextBox 7"/>
          <p:cNvSpPr txBox="1"/>
          <p:nvPr/>
        </p:nvSpPr>
        <p:spPr>
          <a:xfrm>
            <a:off x="762000" y="228092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Akulaku held 27.24% of Bank Neo Commerce in May 2023 (Bisnis). The article has not been checked for bias.</a:t>
            </a:r>
          </a:p>
        </p:txBody>
      </p:sp>
      <p:pic>
        <p:nvPicPr>
          <p:cNvPr id="9" name="chart-top_pages" descr="top_pages.png"/>
          <p:cNvPicPr>
            <a:picLocks noChangeAspect="1"/>
          </p:cNvPicPr>
          <p:nvPr/>
        </p:nvPicPr>
        <p:blipFill>
          <a:blip r:embed="rId2"/>
          <a:stretch>
            <a:fillRect/>
          </a:stretch>
        </p:blipFill>
        <p:spPr>
          <a:xfrm>
            <a:off x="2305304" y="2893060"/>
            <a:ext cx="7581392" cy="2707640"/>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22 / 33</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data/processed/pages_top.csv. Most cited pages. n = 399 citations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ChatGPT's citations sit on fewer sites</a:t>
            </a:r>
          </a:p>
        </p:txBody>
      </p:sp>
      <p:sp>
        <p:nvSpPr>
          <p:cNvPr id="7" name="TextBox 6"/>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Its top five sites hold 50% of its citations. Gemini's top five hold 36%.</a:t>
            </a:r>
          </a:p>
        </p:txBody>
      </p:sp>
      <p:pic>
        <p:nvPicPr>
          <p:cNvPr id="8" name="chart-concentration" descr="concentration.png"/>
          <p:cNvPicPr>
            <a:picLocks noChangeAspect="1"/>
          </p:cNvPicPr>
          <p:nvPr/>
        </p:nvPicPr>
        <p:blipFill>
          <a:blip r:embed="rId2"/>
          <a:stretch>
            <a:fillRect/>
          </a:stretch>
        </p:blipFill>
        <p:spPr>
          <a:xfrm>
            <a:off x="4889500" y="2264063"/>
            <a:ext cx="6731000" cy="2202872"/>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23 / 33</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data/processed/concentration.csv. n = 199 and 200 citations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Bank Mandiri gets less of the answers than its sources give it</a:t>
            </a:r>
          </a:p>
        </p:txBody>
      </p:sp>
      <p:sp>
        <p:nvSpPr>
          <p:cNvPr id="7" name="TextBox 6"/>
          <p:cNvSpPr txBox="1"/>
          <p:nvPr/>
        </p:nvSpPr>
        <p:spPr>
          <a:xfrm>
            <a:off x="762000" y="275844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Mandiri holds 11.5% of bank mentions in the cited pages and 5.9% in the answers.</a:t>
            </a:r>
          </a:p>
        </p:txBody>
      </p:sp>
      <p:sp>
        <p:nvSpPr>
          <p:cNvPr id="8" name="TextBox 7"/>
          <p:cNvSpPr txBox="1"/>
          <p:nvPr/>
        </p:nvSpPr>
        <p:spPr>
          <a:xfrm>
            <a:off x="762000" y="35941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Jago and BCA lean the other way. Bank Jago holds 20.2% of mentions in the answers and 13.6% in the pages.</a:t>
            </a:r>
          </a:p>
        </p:txBody>
      </p:sp>
      <p:sp>
        <p:nvSpPr>
          <p:cNvPr id="9" name="TextBox 8"/>
          <p:cNvSpPr txBox="1"/>
          <p:nvPr/>
        </p:nvSpPr>
        <p:spPr>
          <a:xfrm>
            <a:off x="762000" y="442976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Pages were counted without a bare “Jago” or “blu”, so these two banks' source share may be low and their gaps too wide.</a:t>
            </a:r>
          </a:p>
        </p:txBody>
      </p:sp>
      <p:pic>
        <p:nvPicPr>
          <p:cNvPr id="10" name="chart-sov_gap" descr="sov_gap.png"/>
          <p:cNvPicPr>
            <a:picLocks noChangeAspect="1"/>
          </p:cNvPicPr>
          <p:nvPr/>
        </p:nvPicPr>
        <p:blipFill>
          <a:blip r:embed="rId2"/>
          <a:stretch>
            <a:fillRect/>
          </a:stretch>
        </p:blipFill>
        <p:spPr>
          <a:xfrm>
            <a:off x="4889500" y="1654228"/>
            <a:ext cx="6731000" cy="3422542"/>
          </a:xfrm>
          <a:prstGeom prst="rect">
            <a:avLst/>
          </a:prstGeom>
        </p:spPr>
      </p:pic>
      <p:sp>
        <p:nvSpPr>
          <p:cNvPr id="11" name="TextBox 10"/>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2" name="TextBox 11"/>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24 / 33</a:t>
            </a:r>
          </a:p>
        </p:txBody>
      </p:sp>
      <p:sp>
        <p:nvSpPr>
          <p:cNvPr id="13" name="TextBox 1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data/processed/source_sov.csv. Answers and pages weighted equally. n = 40 answers, 148 pages</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Gemini's dead links all sit behind a Google redirect</a:t>
            </a:r>
          </a:p>
        </p:txBody>
      </p:sp>
      <p:sp>
        <p:nvSpPr>
          <p:cNvPr id="7" name="TextBox 6"/>
          <p:cNvSpPr txBox="1"/>
          <p:nvPr/>
        </p:nvSpPr>
        <p:spPr>
          <a:xfrm>
            <a:off x="762000" y="275844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13 of its 21 links wrapped in google.com/search were dead. None of its 179 direct links were.</a:t>
            </a:r>
          </a:p>
        </p:txBody>
      </p:sp>
      <p:sp>
        <p:nvSpPr>
          <p:cNvPr id="8" name="TextBox 7"/>
          <p:cNvSpPr txBox="1"/>
          <p:nvPr/>
        </p:nvSpPr>
        <p:spPr>
          <a:xfrm>
            <a:off x="762000" y="35941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The Tow Center found Gemini gave more fabricated links than correct ones in its 2025 tests (Nieman Lab).</a:t>
            </a:r>
          </a:p>
        </p:txBody>
      </p:sp>
      <p:pic>
        <p:nvPicPr>
          <p:cNvPr id="9" name="chart-dead_links" descr="dead_links.png"/>
          <p:cNvPicPr>
            <a:picLocks noChangeAspect="1"/>
          </p:cNvPicPr>
          <p:nvPr/>
        </p:nvPicPr>
        <p:blipFill>
          <a:blip r:embed="rId2"/>
          <a:stretch>
            <a:fillRect/>
          </a:stretch>
        </p:blipFill>
        <p:spPr>
          <a:xfrm>
            <a:off x="4889500" y="2281694"/>
            <a:ext cx="6731000" cy="2167610"/>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25 / 33</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pages.csv. n = 200 Gemini citations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Pages without schema still get cited</a:t>
            </a:r>
          </a:p>
        </p:txBody>
      </p:sp>
      <p:sp>
        <p:nvSpPr>
          <p:cNvPr id="7" name="TextBox 6"/>
          <p:cNvSpPr txBox="1"/>
          <p:nvPr/>
        </p:nvSpPr>
        <p:spPr>
          <a:xfrm>
            <a:off x="762000" y="229616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sites carry schema on 32% of cited pages, against 95% for news and 86% for blogs, yet they are the most cited type.</a:t>
            </a:r>
          </a:p>
        </p:txBody>
      </p:sp>
      <p:sp>
        <p:nvSpPr>
          <p:cNvPr id="8" name="TextBox 7"/>
          <p:cNvSpPr txBox="1"/>
          <p:nvPr/>
        </p:nvSpPr>
        <p:spPr>
          <a:xfrm>
            <a:off x="762000" y="31318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133 of 333 readable citations point to a page with a structured publish date.</a:t>
            </a:r>
          </a:p>
        </p:txBody>
      </p:sp>
      <p:sp>
        <p:nvSpPr>
          <p:cNvPr id="9" name="TextBox 8"/>
          <p:cNvSpPr txBox="1"/>
          <p:nvPr/>
        </p:nvSpPr>
        <p:spPr>
          <a:xfrm>
            <a:off x="762000" y="371856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Google: “there's also no special schema.org structured data that you need to add.”</a:t>
            </a:r>
          </a:p>
        </p:txBody>
      </p:sp>
      <p:pic>
        <p:nvPicPr>
          <p:cNvPr id="10" name="chart-schema" descr="schema.png"/>
          <p:cNvPicPr>
            <a:picLocks noChangeAspect="1"/>
          </p:cNvPicPr>
          <p:nvPr/>
        </p:nvPicPr>
        <p:blipFill>
          <a:blip r:embed="rId2"/>
          <a:stretch>
            <a:fillRect/>
          </a:stretch>
        </p:blipFill>
        <p:spPr>
          <a:xfrm>
            <a:off x="4889500" y="1711271"/>
            <a:ext cx="6731000" cy="3308457"/>
          </a:xfrm>
          <a:prstGeom prst="rect">
            <a:avLst/>
          </a:prstGeom>
        </p:spPr>
      </p:pic>
      <p:sp>
        <p:nvSpPr>
          <p:cNvPr id="11" name="TextBox 10"/>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2" name="TextBox 11"/>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26 / 33</a:t>
            </a:r>
          </a:p>
        </p:txBody>
      </p:sp>
      <p:sp>
        <p:nvSpPr>
          <p:cNvPr id="13" name="TextBox 1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data/processed/schema.csv, recency.csv. Google Search Central. n = 191 pages, 333 citations</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depth-2-t"/>
          <p:cNvCxnSpPr/>
          <p:nvPr/>
        </p:nvCxnSpPr>
        <p:spPr>
          <a:xfrm>
            <a:off x="2095500" y="157162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depth-2-b"/>
          <p:cNvCxnSpPr/>
          <p:nvPr/>
        </p:nvCxnSpPr>
        <p:spPr>
          <a:xfrm>
            <a:off x="2095500" y="547687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depth-2-l"/>
          <p:cNvCxnSpPr/>
          <p:nvPr/>
        </p:nvCxnSpPr>
        <p:spPr>
          <a:xfrm>
            <a:off x="2095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depth-2-r"/>
          <p:cNvCxnSpPr/>
          <p:nvPr/>
        </p:nvCxnSpPr>
        <p:spPr>
          <a:xfrm>
            <a:off x="10096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depth-3-t"/>
          <p:cNvCxnSpPr/>
          <p:nvPr/>
        </p:nvCxnSpPr>
        <p:spPr>
          <a:xfrm>
            <a:off x="2444750" y="1833562"/>
            <a:ext cx="73025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depth-3-b"/>
          <p:cNvCxnSpPr/>
          <p:nvPr/>
        </p:nvCxnSpPr>
        <p:spPr>
          <a:xfrm>
            <a:off x="2444750" y="5246687"/>
            <a:ext cx="73025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depth-3-l"/>
          <p:cNvCxnSpPr/>
          <p:nvPr/>
        </p:nvCxnSpPr>
        <p:spPr>
          <a:xfrm>
            <a:off x="2444750" y="1833562"/>
            <a:ext cx="0" cy="3413125"/>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depth-3-r"/>
          <p:cNvCxnSpPr/>
          <p:nvPr/>
        </p:nvCxnSpPr>
        <p:spPr>
          <a:xfrm>
            <a:off x="9747250" y="1833562"/>
            <a:ext cx="0" cy="3413125"/>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depth-4-t"/>
          <p:cNvCxnSpPr/>
          <p:nvPr/>
        </p:nvCxnSpPr>
        <p:spPr>
          <a:xfrm>
            <a:off x="2619375" y="1964531"/>
            <a:ext cx="695325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depth-4-b"/>
          <p:cNvCxnSpPr/>
          <p:nvPr/>
        </p:nvCxnSpPr>
        <p:spPr>
          <a:xfrm>
            <a:off x="2619375" y="5131593"/>
            <a:ext cx="695325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depth-4-l"/>
          <p:cNvCxnSpPr/>
          <p:nvPr/>
        </p:nvCxnSpPr>
        <p:spPr>
          <a:xfrm>
            <a:off x="2619375" y="1964531"/>
            <a:ext cx="0" cy="3167062"/>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depth-4-r"/>
          <p:cNvCxnSpPr/>
          <p:nvPr/>
        </p:nvCxnSpPr>
        <p:spPr>
          <a:xfrm>
            <a:off x="9572625" y="1964531"/>
            <a:ext cx="0" cy="3167062"/>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84500" y="2438400"/>
            <a:ext cx="6223000" cy="292100"/>
          </a:xfrm>
          <a:prstGeom prst="rect">
            <a:avLst/>
          </a:prstGeom>
          <a:noFill/>
        </p:spPr>
        <p:txBody>
          <a:bodyPr wrap="square" lIns="0" rIns="0" tIns="0" bIns="0" anchor="t">
            <a:spAutoFit/>
          </a:bodyPr>
          <a:lstStyle/>
          <a:p>
            <a:pPr algn="ctr">
              <a:lnSpc>
                <a:spcPct val="115000"/>
              </a:lnSpc>
            </a:pPr>
            <a:r>
              <a:rPr sz="1600" b="0">
                <a:solidFill>
                  <a:srgbClr val="9A9EA6"/>
                </a:solidFill>
                <a:latin typeface="Work Sans"/>
              </a:rPr>
              <a:t>Part IV</a:t>
            </a:r>
          </a:p>
        </p:txBody>
      </p:sp>
      <p:sp>
        <p:nvSpPr>
          <p:cNvPr id="39" name="TextBox 38"/>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What it means</a:t>
            </a:r>
          </a:p>
        </p:txBody>
      </p:sp>
      <p:sp>
        <p:nvSpPr>
          <p:cNvPr id="40" name="TextBox 39"/>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What the bank's website team can do with this</a:t>
            </a:r>
          </a:p>
        </p:txBody>
      </p:sp>
      <p:cxnSp>
        <p:nvCxnSpPr>
          <p:cNvPr id="41" name="Connector 40"/>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the SEO strategist</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90677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Measure AI answers as a channel of their own. Google rank is a weak proxy: 12% of URLs cited by AI assistants rank in Google's top 10 for the same query (Ahrefs).</a:t>
            </a:r>
          </a:p>
        </p:txBody>
      </p:sp>
      <p:sp>
        <p:nvSpPr>
          <p:cNvPr id="9" name="TextBox 8"/>
          <p:cNvSpPr txBox="1"/>
          <p:nvPr/>
        </p:nvSpPr>
        <p:spPr>
          <a:xfrm>
            <a:off x="762000" y="3091179"/>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3065779"/>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Report ChatGPT and Gemini separately. ChatGPT took 64% of its citations from bank websites, Gemini 29%. A blended figure would hide that gap.</a:t>
            </a:r>
          </a:p>
        </p:txBody>
      </p:sp>
      <p:sp>
        <p:nvSpPr>
          <p:cNvPr id="11" name="TextBox 10"/>
          <p:cNvSpPr txBox="1"/>
          <p:nvPr/>
        </p:nvSpPr>
        <p:spPr>
          <a:xfrm>
            <a:off x="762000" y="38354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38100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Track pages, not only domains. The engines cited 21 of the same 97 sites but only 11 of the same 243 pages.</a:t>
            </a:r>
          </a:p>
        </p:txBody>
      </p:sp>
      <p:sp>
        <p:nvSpPr>
          <p:cNvPr id="13" name="TextBox 12"/>
          <p:cNvSpPr txBox="1"/>
          <p:nvPr/>
        </p:nvSpPr>
        <p:spPr>
          <a:xfrm>
            <a:off x="762000" y="45796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4" name="TextBox 13"/>
          <p:cNvSpPr txBox="1"/>
          <p:nvPr/>
        </p:nvSpPr>
        <p:spPr>
          <a:xfrm>
            <a:off x="1524000" y="45542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Run a fixed set of customer questions in both engines every month, in Bahasa Indonesia. This study is one run of 20 questions, so treat it as the baseline.</a:t>
            </a:r>
          </a:p>
        </p:txBody>
      </p:sp>
      <p:cxnSp>
        <p:nvCxnSpPr>
          <p:cNvPr id="15" name="motif-line-rail"/>
          <p:cNvCxnSpPr/>
          <p:nvPr/>
        </p:nvCxnSpPr>
        <p:spPr>
          <a:xfrm>
            <a:off x="1282700" y="2056130"/>
            <a:ext cx="0" cy="276352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stop-2"/>
          <p:cNvCxnSpPr/>
          <p:nvPr/>
        </p:nvCxnSpPr>
        <p:spPr>
          <a:xfrm>
            <a:off x="1238250" y="321691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stop-3"/>
          <p:cNvCxnSpPr/>
          <p:nvPr/>
        </p:nvCxnSpPr>
        <p:spPr>
          <a:xfrm>
            <a:off x="1238250" y="396112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stop-4"/>
          <p:cNvCxnSpPr/>
          <p:nvPr/>
        </p:nvCxnSpPr>
        <p:spPr>
          <a:xfrm>
            <a:off x="1238250" y="47053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IV: What it means</a:t>
            </a:r>
          </a:p>
        </p:txBody>
      </p:sp>
      <p:sp>
        <p:nvSpPr>
          <p:cNvPr id="21" name="TextBox 2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28 / 33</a:t>
            </a:r>
          </a:p>
        </p:txBody>
      </p:sp>
      <p:sp>
        <p:nvSpPr>
          <p:cNvPr id="22" name="TextBox 2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Ahrefs, AI search overlap with Google results</a:t>
            </a:r>
          </a:p>
        </p:txBody>
      </p:sp>
      <p:cxnSp>
        <p:nvCxnSpPr>
          <p:cNvPr id="2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5"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6"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7"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8"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9"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0" name="motif-line-tick-28"/>
          <p:cNvCxnSpPr/>
          <p:nvPr/>
        </p:nvCxnSpPr>
        <p:spPr>
          <a:xfrm>
            <a:off x="109601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5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5"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content and marketing</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Keep fee and rate pages complete and current. ChatGPT cited SeaBank's fees page 5 times and blu's 4 times, by URL.</a:t>
            </a:r>
          </a:p>
        </p:txBody>
      </p:sp>
      <p:sp>
        <p:nvSpPr>
          <p:cNvPr id="9" name="TextBox 8"/>
          <p:cNvSpPr txBox="1"/>
          <p:nvPr/>
        </p:nvSpPr>
        <p:spPr>
          <a:xfrm>
            <a:off x="762000" y="27889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7635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Write explainers for how-to questions on deposit insurance, scams and complaints. Only 1 of 6 how-to answers named a bank.</a:t>
            </a:r>
          </a:p>
        </p:txBody>
      </p:sp>
      <p:sp>
        <p:nvSpPr>
          <p:cNvPr id="11" name="TextBox 10"/>
          <p:cNvSpPr txBox="1"/>
          <p:nvPr/>
        </p:nvSpPr>
        <p:spPr>
          <a:xfrm>
            <a:off x="762000" y="353314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3507740"/>
            <a:ext cx="8636000" cy="90677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the comparison articles Gemini cites and send their publishers corrections when a fact about your bank is out of date. One Akulaku article appeared in 14 of Gemini's 20 answers.</a:t>
            </a:r>
          </a:p>
        </p:txBody>
      </p:sp>
      <p:sp>
        <p:nvSpPr>
          <p:cNvPr id="13" name="TextBox 12"/>
          <p:cNvSpPr txBox="1"/>
          <p:nvPr/>
        </p:nvSpPr>
        <p:spPr>
          <a:xfrm>
            <a:off x="762000" y="45796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4" name="TextBox 13"/>
          <p:cNvSpPr txBox="1"/>
          <p:nvPr/>
        </p:nvSpPr>
        <p:spPr>
          <a:xfrm>
            <a:off x="1524000" y="45542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Report how often the bank is named before reporting tone. Of 137 answer and bank pairs, none was negative.</a:t>
            </a:r>
          </a:p>
        </p:txBody>
      </p:sp>
      <p:cxnSp>
        <p:nvCxnSpPr>
          <p:cNvPr id="15" name="motif-line-rail"/>
          <p:cNvCxnSpPr/>
          <p:nvPr/>
        </p:nvCxnSpPr>
        <p:spPr>
          <a:xfrm>
            <a:off x="1282700" y="2056130"/>
            <a:ext cx="0" cy="2763519"/>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stop-2"/>
          <p:cNvCxnSpPr/>
          <p:nvPr/>
        </p:nvCxnSpPr>
        <p:spPr>
          <a:xfrm>
            <a:off x="1238250" y="29146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stop-3"/>
          <p:cNvCxnSpPr/>
          <p:nvPr/>
        </p:nvCxnSpPr>
        <p:spPr>
          <a:xfrm>
            <a:off x="1238250" y="365886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stop-4"/>
          <p:cNvCxnSpPr/>
          <p:nvPr/>
        </p:nvCxnSpPr>
        <p:spPr>
          <a:xfrm>
            <a:off x="1238250" y="470534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IV: What it means</a:t>
            </a:r>
          </a:p>
        </p:txBody>
      </p:sp>
      <p:sp>
        <p:nvSpPr>
          <p:cNvPr id="21" name="TextBox 2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29 / 33</a:t>
            </a:r>
          </a:p>
        </p:txBody>
      </p:sp>
      <p:sp>
        <p:nvSpPr>
          <p:cNvPr id="22" name="TextBox 2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data/processed/no_brand_rate.csv, pages_top.csv, data/labels/sentiment.csv</a:t>
            </a:r>
          </a:p>
        </p:txBody>
      </p:sp>
      <p:cxnSp>
        <p:nvCxnSpPr>
          <p:cNvPr id="2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5"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6"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7"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8"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9"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0" name="motif-line-tick-28"/>
          <p:cNvCxnSpPr/>
          <p:nvPr/>
        </p:nvCxnSpPr>
        <p:spPr>
          <a:xfrm>
            <a:off x="10960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1" name="motif-line-tick-29"/>
          <p:cNvCxnSpPr/>
          <p:nvPr/>
        </p:nvCxnSpPr>
        <p:spPr>
          <a:xfrm>
            <a:off x="110744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5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5"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the web team</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Fix or redirect cited pages that no longer work. Gemini cited 2 broken bank pages 4 times: a 404 on jago.com and a BNI complaints page that loads as an error page.</a:t>
            </a:r>
          </a:p>
        </p:txBody>
      </p:sp>
      <p:sp>
        <p:nvSpPr>
          <p:cNvPr id="9" name="TextBox 8"/>
          <p:cNvSpPr txBox="1"/>
          <p:nvPr/>
        </p:nvSpPr>
        <p:spPr>
          <a:xfrm>
            <a:off x="762000" y="274066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715260"/>
            <a:ext cx="8636000" cy="853439"/>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Send key text in the HTML from the server. 12 cited bank pages, SeaBank's fees and rates page among them, showed their text only after a browser ran JavaScript. A crawler that skips JavaScript may read them as empty.</a:t>
            </a:r>
          </a:p>
        </p:txBody>
      </p:sp>
      <p:sp>
        <p:nvSpPr>
          <p:cNvPr id="11" name="TextBox 10"/>
          <p:cNvSpPr txBox="1"/>
          <p:nvPr/>
        </p:nvSpPr>
        <p:spPr>
          <a:xfrm>
            <a:off x="762000" y="37211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369570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Check robots.txt on reports and product pages. It blocked our crawler from 2 BNI annual reports, and 3 bank sites returned no robots.txt our crawler could read.</a:t>
            </a:r>
          </a:p>
        </p:txBody>
      </p:sp>
      <p:sp>
        <p:nvSpPr>
          <p:cNvPr id="13" name="TextBox 12"/>
          <p:cNvSpPr txBox="1"/>
          <p:nvPr/>
        </p:nvSpPr>
        <p:spPr>
          <a:xfrm>
            <a:off x="762000" y="441706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4" name="TextBox 13"/>
          <p:cNvSpPr txBox="1"/>
          <p:nvPr/>
        </p:nvSpPr>
        <p:spPr>
          <a:xfrm>
            <a:off x="1524000" y="439166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Treat schema as optional for AI citations. Bank sites carried schema on 32% of cited pages and were still the most cited type.</a:t>
            </a:r>
          </a:p>
        </p:txBody>
      </p:sp>
      <p:cxnSp>
        <p:nvCxnSpPr>
          <p:cNvPr id="15" name="motif-line-rail"/>
          <p:cNvCxnSpPr/>
          <p:nvPr/>
        </p:nvCxnSpPr>
        <p:spPr>
          <a:xfrm>
            <a:off x="1282700" y="2047239"/>
            <a:ext cx="0" cy="2600961"/>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stop-1"/>
          <p:cNvCxnSpPr/>
          <p:nvPr/>
        </p:nvCxnSpPr>
        <p:spPr>
          <a:xfrm>
            <a:off x="1238250" y="216154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stop-2"/>
          <p:cNvCxnSpPr/>
          <p:nvPr/>
        </p:nvCxnSpPr>
        <p:spPr>
          <a:xfrm>
            <a:off x="1238250" y="285750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stop-3"/>
          <p:cNvCxnSpPr/>
          <p:nvPr/>
        </p:nvCxnSpPr>
        <p:spPr>
          <a:xfrm>
            <a:off x="1238250" y="383794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stop-4"/>
          <p:cNvCxnSpPr/>
          <p:nvPr/>
        </p:nvCxnSpPr>
        <p:spPr>
          <a:xfrm>
            <a:off x="1238250" y="453390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IV: What it means</a:t>
            </a:r>
          </a:p>
        </p:txBody>
      </p:sp>
      <p:sp>
        <p:nvSpPr>
          <p:cNvPr id="21" name="TextBox 2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30 / 33</a:t>
            </a:r>
          </a:p>
        </p:txBody>
      </p:sp>
      <p:sp>
        <p:nvSpPr>
          <p:cNvPr id="22" name="TextBox 2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data/interim/pages.csv, crawled from GitHub's servers on 9 October 2026. Google Search Central</a:t>
            </a:r>
          </a:p>
        </p:txBody>
      </p:sp>
      <p:cxnSp>
        <p:nvCxnSpPr>
          <p:cNvPr id="2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5"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6"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7"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8"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9"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0" name="motif-line-tick-28"/>
          <p:cNvCxnSpPr/>
          <p:nvPr/>
        </p:nvCxnSpPr>
        <p:spPr>
          <a:xfrm>
            <a:off x="10960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1" name="motif-line-tick-29"/>
          <p:cNvCxnSpPr/>
          <p:nvPr/>
        </p:nvCxnSpPr>
        <p:spPr>
          <a:xfrm>
            <a:off x="11074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2" name="motif-line-tick-30"/>
          <p:cNvCxnSpPr/>
          <p:nvPr/>
        </p:nvCxnSpPr>
        <p:spPr>
          <a:xfrm>
            <a:off x="111887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5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5"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These numbers come from one run</a:t>
            </a:r>
          </a:p>
        </p:txBody>
      </p:sp>
      <p:sp>
        <p:nvSpPr>
          <p:cNvPr id="7" name="TextBox 6"/>
          <p:cNvSpPr txBox="1"/>
          <p:nvPr/>
        </p:nvSpPr>
        <p:spPr>
          <a:xfrm>
            <a:off x="15240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SparkToro and Gumshoe ran 12 prompts nearly 3,000 times. The same brand list came back less than 1 in 100 times (Search Engine Land, January 2026).</a:t>
            </a:r>
          </a:p>
        </p:txBody>
      </p:sp>
      <p:sp>
        <p:nvSpPr>
          <p:cNvPr id="8" name="TextBox 7"/>
          <p:cNvSpPr txBox="1"/>
          <p:nvPr/>
        </p:nvSpPr>
        <p:spPr>
          <a:xfrm>
            <a:off x="1524000" y="27635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gaps of a few points here as ties: BCA and Bank Jago at 55%, SeaBank at 53%.</a:t>
            </a:r>
          </a:p>
        </p:txBody>
      </p:sp>
      <p:cxnSp>
        <p:nvCxnSpPr>
          <p:cNvPr id="9" name="motif-line-rail"/>
          <p:cNvCxnSpPr/>
          <p:nvPr/>
        </p:nvCxnSpPr>
        <p:spPr>
          <a:xfrm>
            <a:off x="1282700" y="2056130"/>
            <a:ext cx="0" cy="97282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1" name="motif-line-stop-2"/>
          <p:cNvCxnSpPr/>
          <p:nvPr/>
        </p:nvCxnSpPr>
        <p:spPr>
          <a:xfrm>
            <a:off x="1238250" y="29146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IV: What it means</a:t>
            </a:r>
          </a:p>
        </p:txBody>
      </p:sp>
      <p:sp>
        <p:nvSpPr>
          <p:cNvPr id="13" name="TextBox 12"/>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31 / 33</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Next steps</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Run the same 20 prompts at least four more times, so every number has a range.</a:t>
            </a:r>
          </a:p>
        </p:txBody>
      </p:sp>
      <p:sp>
        <p:nvSpPr>
          <p:cNvPr id="9" name="TextBox 8"/>
          <p:cNvSpPr txBox="1"/>
          <p:nvPr/>
        </p:nvSpPr>
        <p:spPr>
          <a:xfrm>
            <a:off x="762000" y="27889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76352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Add Perplexity, Microsoft Copilot and Google AI Mode.</a:t>
            </a:r>
          </a:p>
        </p:txBody>
      </p:sp>
      <p:sp>
        <p:nvSpPr>
          <p:cNvPr id="11" name="TextBox 10"/>
          <p:cNvSpPr txBox="1"/>
          <p:nvPr/>
        </p:nvSpPr>
        <p:spPr>
          <a:xfrm>
            <a:off x="762000" y="3230879"/>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3205479"/>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the top Gemini comparison articles and record how each one describes each bank.</a:t>
            </a:r>
          </a:p>
        </p:txBody>
      </p:sp>
      <p:sp>
        <p:nvSpPr>
          <p:cNvPr id="13" name="TextBox 12"/>
          <p:cNvSpPr txBox="1"/>
          <p:nvPr/>
        </p:nvSpPr>
        <p:spPr>
          <a:xfrm>
            <a:off x="762000" y="39751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4" name="TextBox 13"/>
          <p:cNvSpPr txBox="1"/>
          <p:nvPr/>
        </p:nvSpPr>
        <p:spPr>
          <a:xfrm>
            <a:off x="1524000" y="394970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Put the tables in a public dashboard that refreshes after each run.</a:t>
            </a:r>
          </a:p>
        </p:txBody>
      </p:sp>
      <p:cxnSp>
        <p:nvCxnSpPr>
          <p:cNvPr id="15" name="motif-line-rail"/>
          <p:cNvCxnSpPr/>
          <p:nvPr/>
        </p:nvCxnSpPr>
        <p:spPr>
          <a:xfrm>
            <a:off x="1282700" y="2056130"/>
            <a:ext cx="0" cy="21590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stop-2"/>
          <p:cNvCxnSpPr/>
          <p:nvPr/>
        </p:nvCxnSpPr>
        <p:spPr>
          <a:xfrm>
            <a:off x="1238250" y="29146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stop-3"/>
          <p:cNvCxnSpPr/>
          <p:nvPr/>
        </p:nvCxnSpPr>
        <p:spPr>
          <a:xfrm>
            <a:off x="1238250" y="335660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stop-4"/>
          <p:cNvCxnSpPr/>
          <p:nvPr/>
        </p:nvCxnSpPr>
        <p:spPr>
          <a:xfrm>
            <a:off x="1238250" y="410082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IV: What it means</a:t>
            </a:r>
          </a:p>
        </p:txBody>
      </p:sp>
      <p:sp>
        <p:nvSpPr>
          <p:cNvPr id="21" name="TextBox 2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32 / 33</a:t>
            </a:r>
          </a:p>
        </p:txBody>
      </p:sp>
      <p:cxnSp>
        <p:nvCxnSpPr>
          <p:cNvPr id="2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5"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6"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7"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8"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9" name="motif-line-tick-28"/>
          <p:cNvCxnSpPr/>
          <p:nvPr/>
        </p:nvCxnSpPr>
        <p:spPr>
          <a:xfrm>
            <a:off x="10960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0" name="motif-line-tick-29"/>
          <p:cNvCxnSpPr/>
          <p:nvPr/>
        </p:nvCxnSpPr>
        <p:spPr>
          <a:xfrm>
            <a:off x="11074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1" name="motif-line-tick-30"/>
          <p:cNvCxnSpPr/>
          <p:nvPr/>
        </p:nvCxnSpPr>
        <p:spPr>
          <a:xfrm>
            <a:off x="11188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2" name="motif-line-tick-31"/>
          <p:cNvCxnSpPr/>
          <p:nvPr/>
        </p:nvCxnSpPr>
        <p:spPr>
          <a:xfrm>
            <a:off x="11303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3" name="motif-line-tick-32"/>
          <p:cNvCxnSpPr/>
          <p:nvPr/>
        </p:nvCxnSpPr>
        <p:spPr>
          <a:xfrm>
            <a:off x="114173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54" name="motif-line-tick-33"/>
          <p:cNvCxnSpPr/>
          <p:nvPr/>
        </p:nvCxnSpPr>
        <p:spPr>
          <a:xfrm>
            <a:off x="11531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10668000" cy="711200"/>
          </a:xfrm>
          <a:prstGeom prst="rect">
            <a:avLst/>
          </a:prstGeom>
          <a:noFill/>
        </p:spPr>
        <p:txBody>
          <a:bodyPr wrap="square" lIns="0" rIns="0" tIns="0" bIns="0" anchor="t">
            <a:spAutoFit/>
          </a:bodyPr>
          <a:lstStyle/>
          <a:p>
            <a:pPr algn="l">
              <a:lnSpc>
                <a:spcPct val="115000"/>
              </a:lnSpc>
            </a:pPr>
            <a:r>
              <a:rPr sz="4000" b="0">
                <a:solidFill>
                  <a:srgbClr val="ECE7DD"/>
                </a:solidFill>
                <a:latin typeface="Work Sans"/>
              </a:rPr>
              <a:t>Favoured Banks in ChatGPT and Gemini</a:t>
            </a:r>
          </a:p>
        </p:txBody>
      </p:sp>
      <p:sp>
        <p:nvSpPr>
          <p:cNvPr id="3" name="TextBox 2"/>
          <p:cNvSpPr txBox="1"/>
          <p:nvPr/>
        </p:nvSpPr>
        <p:spPr>
          <a:xfrm>
            <a:off x="762000" y="1854200"/>
            <a:ext cx="10160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IBM Plex Mono"/>
              </a:rPr>
              <a:t>Data, code and method: github.com/rgmwnn/geo-bank-visibility</a:t>
            </a:r>
          </a:p>
        </p:txBody>
      </p:sp>
      <p:sp>
        <p:nvSpPr>
          <p:cNvPr id="4" name="TextBox 3"/>
          <p:cNvSpPr txBox="1"/>
          <p:nvPr/>
        </p:nvSpPr>
        <p:spPr>
          <a:xfrm>
            <a:off x="762000" y="2540000"/>
            <a:ext cx="25400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Work Sans"/>
              </a:rPr>
              <a:t>Sources</a:t>
            </a:r>
          </a:p>
        </p:txBody>
      </p:sp>
      <p:sp>
        <p:nvSpPr>
          <p:cNvPr id="5" name="TextBox 4"/>
          <p:cNvSpPr txBox="1"/>
          <p:nvPr/>
        </p:nvSpPr>
        <p:spPr>
          <a:xfrm>
            <a:off x="762000" y="28194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Aggarwal et al. (2024). GEO: Generative Engine Optimization. KDD 2024. arXiv 2311.09735</a:t>
            </a:r>
          </a:p>
        </p:txBody>
      </p:sp>
      <p:sp>
        <p:nvSpPr>
          <p:cNvPr id="6" name="TextBox 5"/>
          <p:cNvSpPr txBox="1"/>
          <p:nvPr/>
        </p:nvSpPr>
        <p:spPr>
          <a:xfrm>
            <a:off x="762000" y="30480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Writesonic. AI citation source overlap study</a:t>
            </a:r>
          </a:p>
        </p:txBody>
      </p:sp>
      <p:sp>
        <p:nvSpPr>
          <p:cNvPr id="7" name="TextBox 6"/>
          <p:cNvSpPr txBox="1"/>
          <p:nvPr/>
        </p:nvSpPr>
        <p:spPr>
          <a:xfrm>
            <a:off x="762000" y="32766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Ahrefs. AI search overlap with Google results</a:t>
            </a:r>
          </a:p>
        </p:txBody>
      </p:sp>
      <p:sp>
        <p:nvSpPr>
          <p:cNvPr id="8" name="TextBox 7"/>
          <p:cNvSpPr txBox="1"/>
          <p:nvPr/>
        </p:nvSpPr>
        <p:spPr>
          <a:xfrm>
            <a:off x="762000" y="35052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Land. AI recommendation lists rarely repeat (SparkToro and Gumshoe)</a:t>
            </a:r>
          </a:p>
        </p:txBody>
      </p:sp>
      <p:sp>
        <p:nvSpPr>
          <p:cNvPr id="9" name="TextBox 8"/>
          <p:cNvSpPr txBox="1"/>
          <p:nvPr/>
        </p:nvSpPr>
        <p:spPr>
          <a:xfrm>
            <a:off x="762000" y="37338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Nieman Lab (2025). Tow Center study of AI search citations</a:t>
            </a:r>
          </a:p>
        </p:txBody>
      </p:sp>
      <p:sp>
        <p:nvSpPr>
          <p:cNvPr id="10" name="TextBox 9"/>
          <p:cNvSpPr txBox="1"/>
          <p:nvPr/>
        </p:nvSpPr>
        <p:spPr>
          <a:xfrm>
            <a:off x="762000" y="39624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Google Search Central. AI features and your website</a:t>
            </a:r>
          </a:p>
        </p:txBody>
      </p:sp>
      <p:sp>
        <p:nvSpPr>
          <p:cNvPr id="11" name="TextBox 10"/>
          <p:cNvSpPr txBox="1"/>
          <p:nvPr/>
        </p:nvSpPr>
        <p:spPr>
          <a:xfrm>
            <a:off x="762000" y="41910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Journal. OpenAI usage study</a:t>
            </a:r>
          </a:p>
        </p:txBody>
      </p:sp>
      <p:sp>
        <p:nvSpPr>
          <p:cNvPr id="12" name="TextBox 11"/>
          <p:cNvSpPr txBox="1"/>
          <p:nvPr/>
        </p:nvSpPr>
        <p:spPr>
          <a:xfrm>
            <a:off x="762000" y="44196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Bisnis (2023). Akulaku stake in Bank Neo Commerce</a:t>
            </a:r>
          </a:p>
        </p:txBody>
      </p:sp>
      <p:sp>
        <p:nvSpPr>
          <p:cNvPr id="13" name="TextBox 12"/>
          <p:cNvSpPr txBox="1"/>
          <p:nvPr/>
        </p:nvSpPr>
        <p:spPr>
          <a:xfrm>
            <a:off x="762000" y="4953000"/>
            <a:ext cx="8255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 data analyst, Indonesia</a:t>
            </a:r>
          </a:p>
        </p:txBody>
      </p:sp>
      <p:pic>
        <p:nvPicPr>
          <p:cNvPr id="14" name="motif-horizon" descr="motif-horizon.png"/>
          <p:cNvPicPr>
            <a:picLocks noChangeAspect="1"/>
          </p:cNvPicPr>
          <p:nvPr/>
        </p:nvPicPr>
        <p:blipFill>
          <a:blip r:embed="rId2"/>
          <a:stretch>
            <a:fillRect/>
          </a:stretch>
        </p:blipFill>
        <p:spPr>
          <a:xfrm>
            <a:off x="0" y="5511800"/>
            <a:ext cx="12192000" cy="1346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