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study of how two AI engines answer everyday banking questions in Indonesia, and which sources they cite. Everything here is built from public code and data in the repo named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freelancer asks which bank fits irregular income. Both engines answer with a short list of three banks, and two of the three are the same.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Information-seeking grew from 14% to 24% of ChatGPT conversations in a year. Ahrefs found that 12% of the URLs AI assistants cite rank in Google's top 10 for the same query.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 of the deck answers these three questions in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set is written to be unbranded so share of voice is fair. Only the head-to-head comparisons name banks.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Parse the answers, split them into sentences, match bank names, extract the listed sources, deduplicate the pages, then crawl them from GitHub's servers while respecting robots.txt.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PAWC uses the position-adjusted word count from the GEO paper, applied to banks instead of sources. The chart shows the weight each sentence gets in a ten-sentence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shows how many of the cited pages the crawler could read and that name a bank.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dot per engine. The line between the dots is the gap between the engines for that bank.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 combines prominence in the answer, the authority of the pages cited alongside the bank, sentiment and whether both engines name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 and subsidiaries credit their parent bank, so Jenius counts for Bank BTPN and blu for BCA.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comparison prompts name banks, which puts those banks in the answer, so they are left out here. Outlined cells lead their row, ties together. Every lead is a tie or one answer, so read the rows as close.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PAWC rises when a bank is named early and talked about at length.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mark is one bank in one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about how something works get general answers without bank names.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 types were labelled per domain. Percentages are rounded.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bank that wants to appear in both engines cannot rely on one set of pages.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ChatGPT's citations are on the left, Gemini's on the right, for the same twelve sites.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Gemini keeps citing the same few articles, a bank's place in them could carry into many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Higher concentration means a few sites carry more of the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positive gap means the engines talk about the bank more than the cited pages 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redirect wrapper is where Gemini's broken links concentrate in this data.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suggests schema did not decide which pages got cited. One run cannot test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strategist owns measurement. With these four habits the team can report one number each month.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owns the pages the engines quote and the explainers they do not yet have.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crawler is not an AI crawler, so these are signs to check, not proof that an engine was blocked.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Repeat runs would turn each number into a range.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photo-slot"/>
          <p:cNvSpPr/>
          <p:nvPr/>
        </p:nvSpPr>
        <p:spPr>
          <a:xfrm>
            <a:off x="0" y="0"/>
            <a:ext cx="12192000" cy="6858000"/>
          </a:xfrm>
          <a:prstGeom prst="rect">
            <a:avLst/>
          </a:prstGeom>
          <a:solidFill>
            <a:srgbClr val="1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ground-fade" descr="ground-fade-1400-360.png"/>
          <p:cNvPicPr>
            <a:picLocks noChangeAspect="1"/>
          </p:cNvPicPr>
          <p:nvPr/>
        </p:nvPicPr>
        <p:blipFill>
          <a:blip r:embed="rId2"/>
          <a:stretch>
            <a:fillRect/>
          </a:stretch>
        </p:blipFill>
        <p:spPr>
          <a:xfrm>
            <a:off x="0" y="0"/>
            <a:ext cx="8890000" cy="6858000"/>
          </a:xfrm>
          <a:prstGeom prst="rect">
            <a:avLst/>
          </a:prstGeom>
        </p:spPr>
      </p:pic>
      <p:sp>
        <p:nvSpPr>
          <p:cNvPr id="4" name="TextBox 3"/>
          <p:cNvSpPr txBox="1"/>
          <p:nvPr/>
        </p:nvSpPr>
        <p:spPr>
          <a:xfrm>
            <a:off x="762000" y="952500"/>
            <a:ext cx="5588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IBM Plex Mono"/>
              </a:rPr>
              <a:t>40 answers, collected on 9 October 2026</a:t>
            </a:r>
          </a:p>
        </p:txBody>
      </p:sp>
      <p:sp>
        <p:nvSpPr>
          <p:cNvPr id="5" name="TextBox 4"/>
          <p:cNvSpPr txBox="1"/>
          <p:nvPr/>
        </p:nvSpPr>
        <p:spPr>
          <a:xfrm>
            <a:off x="762000" y="1244600"/>
            <a:ext cx="5588000" cy="2844800"/>
          </a:xfrm>
          <a:prstGeom prst="rect">
            <a:avLst/>
          </a:prstGeom>
          <a:noFill/>
        </p:spPr>
        <p:txBody>
          <a:bodyPr wrap="square" lIns="0" rIns="0" tIns="0" bIns="0" anchor="t">
            <a:spAutoFit/>
          </a:bodyPr>
          <a:lstStyle/>
          <a:p>
            <a:pPr algn="l">
              <a:lnSpc>
                <a:spcPct val="115000"/>
              </a:lnSpc>
            </a:pPr>
            <a:r>
              <a:rPr sz="8000" b="1">
                <a:solidFill>
                  <a:srgbClr val="F4F6FA"/>
                </a:solidFill>
                <a:latin typeface="Plus Jakarta Sans"/>
              </a:rPr>
              <a:t>Favoured Banks</a:t>
            </a:r>
          </a:p>
        </p:txBody>
      </p:sp>
      <p:sp>
        <p:nvSpPr>
          <p:cNvPr id="6" name="motif-rule-cover"/>
          <p:cNvSpPr/>
          <p:nvPr/>
        </p:nvSpPr>
        <p:spPr>
          <a:xfrm>
            <a:off x="787400" y="4241800"/>
            <a:ext cx="762000" cy="38100"/>
          </a:xfrm>
          <a:prstGeom prst="rect">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4508500"/>
            <a:ext cx="5588000" cy="1280160"/>
          </a:xfrm>
          <a:prstGeom prst="rect">
            <a:avLst/>
          </a:prstGeom>
          <a:noFill/>
        </p:spPr>
        <p:txBody>
          <a:bodyPr wrap="square" lIns="0" rIns="0" tIns="0" bIns="0" anchor="t">
            <a:spAutoFit/>
          </a:bodyPr>
          <a:lstStyle/>
          <a:p>
            <a:pPr algn="l">
              <a:lnSpc>
                <a:spcPct val="115000"/>
              </a:lnSpc>
            </a:pPr>
            <a:r>
              <a:rPr sz="2400" b="0">
                <a:solidFill>
                  <a:srgbClr val="AFC0D8"/>
                </a:solidFill>
                <a:latin typeface="Plus Jakarta Sans"/>
              </a:rPr>
              <a:t>Which Indonesian banks ChatGPT and Gemini recommend, and which web pages they cite</a:t>
            </a:r>
          </a:p>
        </p:txBody>
      </p:sp>
      <p:sp>
        <p:nvSpPr>
          <p:cNvPr id="8" name="TextBox 7"/>
          <p:cNvSpPr txBox="1"/>
          <p:nvPr/>
        </p:nvSpPr>
        <p:spPr>
          <a:xfrm>
            <a:off x="762000" y="6042660"/>
            <a:ext cx="5588000" cy="266700"/>
          </a:xfrm>
          <a:prstGeom prst="rect">
            <a:avLst/>
          </a:prstGeom>
          <a:noFill/>
        </p:spPr>
        <p:txBody>
          <a:bodyPr wrap="square" lIns="0" rIns="0" tIns="0" bIns="0" anchor="t">
            <a:spAutoFit/>
          </a:bodyPr>
          <a:lstStyle/>
          <a:p>
            <a:pPr algn="l">
              <a:lnSpc>
                <a:spcPct val="115000"/>
              </a:lnSpc>
            </a:pPr>
            <a:r>
              <a:rPr sz="1500" b="0">
                <a:solidFill>
                  <a:srgbClr val="F4F6FA"/>
                </a:solidFill>
                <a:latin typeface="IBM Plex Mono"/>
              </a:rPr>
              <a:t>Rahmananda Ridho Gamawan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Same question, different banks</a:t>
            </a:r>
          </a:p>
        </p:txBody>
      </p:sp>
      <p:sp>
        <p:nvSpPr>
          <p:cNvPr id="3" name="TextBox 2"/>
          <p:cNvSpPr txBox="1"/>
          <p:nvPr/>
        </p:nvSpPr>
        <p:spPr>
          <a:xfrm>
            <a:off x="762000" y="1772920"/>
            <a:ext cx="9525000" cy="1280160"/>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“Saya freelancer dengan penghasilan tidak tetap, butuh rekening tanpa saldo minimum dan bisa pisah kantong. Bank apa yang cocok?”</a:t>
            </a:r>
          </a:p>
        </p:txBody>
      </p:sp>
      <p:sp>
        <p:nvSpPr>
          <p:cNvPr id="4" name="TextBox 3"/>
          <p:cNvSpPr txBox="1"/>
          <p:nvPr/>
        </p:nvSpPr>
        <p:spPr>
          <a:xfrm>
            <a:off x="762000" y="3205479"/>
            <a:ext cx="9525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I'm a freelancer with irregular income. I need an account with no minimum balance that lets me split money into pockets. Which bank fits?</a:t>
            </a:r>
          </a:p>
        </p:txBody>
      </p:sp>
      <p:sp>
        <p:nvSpPr>
          <p:cNvPr id="5" name="Rectangle 4"/>
          <p:cNvSpPr/>
          <p:nvPr/>
        </p:nvSpPr>
        <p:spPr>
          <a:xfrm>
            <a:off x="762000" y="4170679"/>
            <a:ext cx="88900" cy="88900"/>
          </a:xfrm>
          <a:prstGeom prst="rect">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4107179"/>
            <a:ext cx="3810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ChatGPT named</a:t>
            </a:r>
          </a:p>
        </p:txBody>
      </p:sp>
      <p:sp>
        <p:nvSpPr>
          <p:cNvPr id="7" name="TextBox 6"/>
          <p:cNvSpPr txBox="1"/>
          <p:nvPr/>
        </p:nvSpPr>
        <p:spPr>
          <a:xfrm>
            <a:off x="762000" y="4437380"/>
            <a:ext cx="4318000" cy="1386839"/>
          </a:xfrm>
          <a:prstGeom prst="rect">
            <a:avLst/>
          </a:prstGeom>
          <a:noFill/>
        </p:spPr>
        <p:txBody>
          <a:bodyPr wrap="square" lIns="0" rIns="0" tIns="0" bIns="0" anchor="t">
            <a:spAutoFit/>
          </a:bodyPr>
          <a:lstStyle/>
          <a:p>
            <a:pPr algn="l">
              <a:lnSpc>
                <a:spcPct val="115000"/>
              </a:lnSpc>
            </a:pPr>
            <a:r>
              <a:rPr sz="2600" b="0">
                <a:solidFill>
                  <a:srgbClr val="F4F6FA"/>
                </a:solidFill>
                <a:latin typeface="Plus Jakarta Sans"/>
              </a:rPr>
              <a:t>BCA</a:t>
            </a:r>
          </a:p>
          <a:p>
            <a:pPr algn="l">
              <a:lnSpc>
                <a:spcPct val="115000"/>
              </a:lnSpc>
            </a:pPr>
            <a:r>
              <a:rPr sz="2600" b="0">
                <a:solidFill>
                  <a:srgbClr val="F4F6FA"/>
                </a:solidFill>
                <a:latin typeface="Plus Jakarta Sans"/>
              </a:rPr>
              <a:t>Bank Jago</a:t>
            </a:r>
          </a:p>
          <a:p>
            <a:pPr algn="l">
              <a:lnSpc>
                <a:spcPct val="115000"/>
              </a:lnSpc>
            </a:pPr>
            <a:r>
              <a:rPr sz="2600" b="0">
                <a:solidFill>
                  <a:srgbClr val="F4F6FA"/>
                </a:solidFill>
                <a:latin typeface="Plus Jakarta Sans"/>
              </a:rPr>
              <a:t>SeaBank</a:t>
            </a:r>
          </a:p>
        </p:txBody>
      </p:sp>
      <p:sp>
        <p:nvSpPr>
          <p:cNvPr id="8" name="Rectangle 7"/>
          <p:cNvSpPr/>
          <p:nvPr/>
        </p:nvSpPr>
        <p:spPr>
          <a:xfrm>
            <a:off x="5588000" y="4170679"/>
            <a:ext cx="88900" cy="88900"/>
          </a:xfrm>
          <a:prstGeom prst="rect">
            <a:avLst/>
          </a:prstGeom>
          <a:solidFill>
            <a:srgbClr val="7FC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78500" y="4107179"/>
            <a:ext cx="3810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Gemini named</a:t>
            </a:r>
          </a:p>
        </p:txBody>
      </p:sp>
      <p:sp>
        <p:nvSpPr>
          <p:cNvPr id="10" name="TextBox 9"/>
          <p:cNvSpPr txBox="1"/>
          <p:nvPr/>
        </p:nvSpPr>
        <p:spPr>
          <a:xfrm>
            <a:off x="5588000" y="4437380"/>
            <a:ext cx="4318000" cy="1386839"/>
          </a:xfrm>
          <a:prstGeom prst="rect">
            <a:avLst/>
          </a:prstGeom>
          <a:noFill/>
        </p:spPr>
        <p:txBody>
          <a:bodyPr wrap="square" lIns="0" rIns="0" tIns="0" bIns="0" anchor="t">
            <a:spAutoFit/>
          </a:bodyPr>
          <a:lstStyle/>
          <a:p>
            <a:pPr algn="l">
              <a:lnSpc>
                <a:spcPct val="115000"/>
              </a:lnSpc>
            </a:pPr>
            <a:r>
              <a:rPr sz="2600" b="0">
                <a:solidFill>
                  <a:srgbClr val="F4F6FA"/>
                </a:solidFill>
                <a:latin typeface="Plus Jakarta Sans"/>
              </a:rPr>
              <a:t>BCA</a:t>
            </a:r>
          </a:p>
          <a:p>
            <a:pPr algn="l">
              <a:lnSpc>
                <a:spcPct val="115000"/>
              </a:lnSpc>
            </a:pPr>
            <a:r>
              <a:rPr sz="2600" b="0">
                <a:solidFill>
                  <a:srgbClr val="F4F6FA"/>
                </a:solidFill>
                <a:latin typeface="Plus Jakarta Sans"/>
              </a:rPr>
              <a:t>Bank BTPN (Jenius)</a:t>
            </a:r>
          </a:p>
          <a:p>
            <a:pPr algn="l">
              <a:lnSpc>
                <a:spcPct val="115000"/>
              </a:lnSpc>
            </a:pPr>
            <a:r>
              <a:rPr sz="2600" b="0">
                <a:solidFill>
                  <a:srgbClr val="F4F6FA"/>
                </a:solidFill>
                <a:latin typeface="Plus Jakarta Sans"/>
              </a:rPr>
              <a:t>Bank Jago</a:t>
            </a:r>
          </a:p>
        </p:txBody>
      </p:sp>
      <p:cxnSp>
        <p:nvCxnSpPr>
          <p:cNvPr id="11"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2"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Introduction</a:t>
            </a:r>
          </a:p>
        </p:txBody>
      </p:sp>
      <p:cxnSp>
        <p:nvCxnSpPr>
          <p:cNvPr id="13"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4"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 / 33</a:t>
            </a:r>
          </a:p>
        </p:txBody>
      </p:sp>
      <p:sp>
        <p:nvSpPr>
          <p:cNvPr id="15"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Prompt 13 of 20, run on 9 October 2026. Source: data/interim/mentions.csv</a:t>
            </a:r>
          </a:p>
        </p:txBody>
      </p:sp>
      <p:cxnSp>
        <p:nvCxnSpPr>
          <p:cNvPr id="16"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7" name="motif-line-tick-02"/>
          <p:cNvCxnSpPr/>
          <p:nvPr/>
        </p:nvCxnSpPr>
        <p:spPr>
          <a:xfrm>
            <a:off x="77152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18" name="motif-line-tick-03"/>
          <p:cNvCxnSpPr/>
          <p:nvPr/>
        </p:nvCxnSpPr>
        <p:spPr>
          <a:xfrm>
            <a:off x="7810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19" name="motif-line-tick-04"/>
          <p:cNvCxnSpPr/>
          <p:nvPr/>
        </p:nvCxnSpPr>
        <p:spPr>
          <a:xfrm>
            <a:off x="7905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0" name="motif-line-tick-05"/>
          <p:cNvCxnSpPr/>
          <p:nvPr/>
        </p:nvCxnSpPr>
        <p:spPr>
          <a:xfrm>
            <a:off x="8001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1" name="motif-line-tick-06"/>
          <p:cNvCxnSpPr/>
          <p:nvPr/>
        </p:nvCxnSpPr>
        <p:spPr>
          <a:xfrm>
            <a:off x="8096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2" name="motif-line-tick-07"/>
          <p:cNvCxnSpPr/>
          <p:nvPr/>
        </p:nvCxnSpPr>
        <p:spPr>
          <a:xfrm>
            <a:off x="8191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3" name="motif-line-tick-08"/>
          <p:cNvCxnSpPr/>
          <p:nvPr/>
        </p:nvCxnSpPr>
        <p:spPr>
          <a:xfrm>
            <a:off x="8286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4" name="motif-line-tick-09"/>
          <p:cNvCxnSpPr/>
          <p:nvPr/>
        </p:nvCxnSpPr>
        <p:spPr>
          <a:xfrm>
            <a:off x="8382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5" name="motif-line-tick-10"/>
          <p:cNvCxnSpPr/>
          <p:nvPr/>
        </p:nvCxnSpPr>
        <p:spPr>
          <a:xfrm>
            <a:off x="8477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6" name="motif-line-tick-11"/>
          <p:cNvCxnSpPr/>
          <p:nvPr/>
        </p:nvCxnSpPr>
        <p:spPr>
          <a:xfrm>
            <a:off x="8572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7" name="motif-line-tick-12"/>
          <p:cNvCxnSpPr/>
          <p:nvPr/>
        </p:nvCxnSpPr>
        <p:spPr>
          <a:xfrm>
            <a:off x="8667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8"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9"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0"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1"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2"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3"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181355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A growing share of ChatGPT use is looking things up, and most pages AI assistants cite are not in Google's top 10</a:t>
            </a:r>
          </a:p>
        </p:txBody>
      </p:sp>
      <p:pic>
        <p:nvPicPr>
          <p:cNvPr id="3" name="motif-gauge-1" descr="motif-gauge-1.png"/>
          <p:cNvPicPr>
            <a:picLocks noChangeAspect="1"/>
          </p:cNvPicPr>
          <p:nvPr/>
        </p:nvPicPr>
        <p:blipFill>
          <a:blip r:embed="rId2"/>
          <a:stretch>
            <a:fillRect/>
          </a:stretch>
        </p:blipFill>
        <p:spPr>
          <a:xfrm>
            <a:off x="762000" y="3147060"/>
            <a:ext cx="1905000" cy="1905000"/>
          </a:xfrm>
          <a:prstGeom prst="rect">
            <a:avLst/>
          </a:prstGeom>
        </p:spPr>
      </p:pic>
      <p:sp>
        <p:nvSpPr>
          <p:cNvPr id="4" name="TextBox 3"/>
          <p:cNvSpPr txBox="1"/>
          <p:nvPr/>
        </p:nvSpPr>
        <p:spPr>
          <a:xfrm>
            <a:off x="2946400" y="3210560"/>
            <a:ext cx="3048000" cy="1778000"/>
          </a:xfrm>
          <a:prstGeom prst="rect">
            <a:avLst/>
          </a:prstGeom>
          <a:noFill/>
        </p:spPr>
        <p:txBody>
          <a:bodyPr wrap="square" lIns="0" rIns="0" tIns="0" bIns="0" anchor="t">
            <a:spAutoFit/>
          </a:bodyPr>
          <a:lstStyle/>
          <a:p>
            <a:pPr algn="l">
              <a:lnSpc>
                <a:spcPct val="115000"/>
              </a:lnSpc>
            </a:pPr>
            <a:r>
              <a:rPr sz="10000" b="1">
                <a:solidFill>
                  <a:srgbClr val="F4F6FA"/>
                </a:solidFill>
                <a:latin typeface="Plus Jakarta Sans"/>
              </a:rPr>
              <a:t>24%</a:t>
            </a:r>
          </a:p>
        </p:txBody>
      </p:sp>
      <p:sp>
        <p:nvSpPr>
          <p:cNvPr id="5" name="TextBox 4"/>
          <p:cNvSpPr txBox="1"/>
          <p:nvPr/>
        </p:nvSpPr>
        <p:spPr>
          <a:xfrm>
            <a:off x="762000" y="5280659"/>
            <a:ext cx="4572000" cy="640080"/>
          </a:xfrm>
          <a:prstGeom prst="rect">
            <a:avLst/>
          </a:prstGeom>
          <a:noFill/>
        </p:spPr>
        <p:txBody>
          <a:bodyPr wrap="square" lIns="0" rIns="0" tIns="0" bIns="0" anchor="t">
            <a:spAutoFit/>
          </a:bodyPr>
          <a:lstStyle/>
          <a:p>
            <a:pPr algn="l">
              <a:lnSpc>
                <a:spcPct val="115000"/>
              </a:lnSpc>
            </a:pPr>
            <a:r>
              <a:rPr sz="1800" b="0">
                <a:solidFill>
                  <a:srgbClr val="AFC0D8"/>
                </a:solidFill>
                <a:latin typeface="Plus Jakarta Sans"/>
              </a:rPr>
              <a:t>of ChatGPT conversations seek information, up from 14% a year earlier</a:t>
            </a:r>
          </a:p>
        </p:txBody>
      </p:sp>
      <p:sp>
        <p:nvSpPr>
          <p:cNvPr id="6" name="TextBox 5"/>
          <p:cNvSpPr txBox="1"/>
          <p:nvPr/>
        </p:nvSpPr>
        <p:spPr>
          <a:xfrm>
            <a:off x="762000" y="6009639"/>
            <a:ext cx="4572000" cy="195579"/>
          </a:xfrm>
          <a:prstGeom prst="rect">
            <a:avLst/>
          </a:prstGeom>
          <a:noFill/>
        </p:spPr>
        <p:txBody>
          <a:bodyPr wrap="square" lIns="0" rIns="0" tIns="0" bIns="0" anchor="t">
            <a:spAutoFit/>
          </a:bodyPr>
          <a:lstStyle/>
          <a:p>
            <a:pPr algn="l">
              <a:lnSpc>
                <a:spcPct val="115000"/>
              </a:lnSpc>
            </a:pPr>
            <a:r>
              <a:rPr sz="1100" b="0">
                <a:solidFill>
                  <a:srgbClr val="AFC0D8"/>
                </a:solidFill>
                <a:latin typeface="IBM Plex Mono"/>
              </a:rPr>
              <a:t>OpenAI usage study, via Search Engine Journal</a:t>
            </a:r>
          </a:p>
        </p:txBody>
      </p:sp>
      <p:pic>
        <p:nvPicPr>
          <p:cNvPr id="7" name="motif-gauge-2" descr="motif-gauge-2.png"/>
          <p:cNvPicPr>
            <a:picLocks noChangeAspect="1"/>
          </p:cNvPicPr>
          <p:nvPr/>
        </p:nvPicPr>
        <p:blipFill>
          <a:blip r:embed="rId3"/>
          <a:stretch>
            <a:fillRect/>
          </a:stretch>
        </p:blipFill>
        <p:spPr>
          <a:xfrm>
            <a:off x="6096000" y="3147060"/>
            <a:ext cx="1905000" cy="1905000"/>
          </a:xfrm>
          <a:prstGeom prst="rect">
            <a:avLst/>
          </a:prstGeom>
        </p:spPr>
      </p:pic>
      <p:sp>
        <p:nvSpPr>
          <p:cNvPr id="8" name="TextBox 7"/>
          <p:cNvSpPr txBox="1"/>
          <p:nvPr/>
        </p:nvSpPr>
        <p:spPr>
          <a:xfrm>
            <a:off x="8280400" y="3210560"/>
            <a:ext cx="3048000" cy="1778000"/>
          </a:xfrm>
          <a:prstGeom prst="rect">
            <a:avLst/>
          </a:prstGeom>
          <a:noFill/>
        </p:spPr>
        <p:txBody>
          <a:bodyPr wrap="square" lIns="0" rIns="0" tIns="0" bIns="0" anchor="t">
            <a:spAutoFit/>
          </a:bodyPr>
          <a:lstStyle/>
          <a:p>
            <a:pPr algn="l">
              <a:lnSpc>
                <a:spcPct val="115000"/>
              </a:lnSpc>
            </a:pPr>
            <a:r>
              <a:rPr sz="10000" b="1">
                <a:solidFill>
                  <a:srgbClr val="F4F6FA"/>
                </a:solidFill>
                <a:latin typeface="Plus Jakarta Sans"/>
              </a:rPr>
              <a:t>12%</a:t>
            </a:r>
          </a:p>
        </p:txBody>
      </p:sp>
      <p:sp>
        <p:nvSpPr>
          <p:cNvPr id="9" name="TextBox 8"/>
          <p:cNvSpPr txBox="1"/>
          <p:nvPr/>
        </p:nvSpPr>
        <p:spPr>
          <a:xfrm>
            <a:off x="6096000" y="5280659"/>
            <a:ext cx="4572000" cy="640080"/>
          </a:xfrm>
          <a:prstGeom prst="rect">
            <a:avLst/>
          </a:prstGeom>
          <a:noFill/>
        </p:spPr>
        <p:txBody>
          <a:bodyPr wrap="square" lIns="0" rIns="0" tIns="0" bIns="0" anchor="t">
            <a:spAutoFit/>
          </a:bodyPr>
          <a:lstStyle/>
          <a:p>
            <a:pPr algn="l">
              <a:lnSpc>
                <a:spcPct val="115000"/>
              </a:lnSpc>
            </a:pPr>
            <a:r>
              <a:rPr sz="1800" b="0">
                <a:solidFill>
                  <a:srgbClr val="AFC0D8"/>
                </a:solidFill>
                <a:latin typeface="Plus Jakarta Sans"/>
              </a:rPr>
              <a:t>of URLs cited by AI assistants rank in Google's top 10 for the same query</a:t>
            </a:r>
          </a:p>
        </p:txBody>
      </p:sp>
      <p:sp>
        <p:nvSpPr>
          <p:cNvPr id="10" name="TextBox 9"/>
          <p:cNvSpPr txBox="1"/>
          <p:nvPr/>
        </p:nvSpPr>
        <p:spPr>
          <a:xfrm>
            <a:off x="6096000" y="6009639"/>
            <a:ext cx="4572000" cy="195579"/>
          </a:xfrm>
          <a:prstGeom prst="rect">
            <a:avLst/>
          </a:prstGeom>
          <a:noFill/>
        </p:spPr>
        <p:txBody>
          <a:bodyPr wrap="square" lIns="0" rIns="0" tIns="0" bIns="0" anchor="t">
            <a:spAutoFit/>
          </a:bodyPr>
          <a:lstStyle/>
          <a:p>
            <a:pPr algn="l">
              <a:lnSpc>
                <a:spcPct val="115000"/>
              </a:lnSpc>
            </a:pPr>
            <a:r>
              <a:rPr sz="1100" b="0">
                <a:solidFill>
                  <a:srgbClr val="AFC0D8"/>
                </a:solidFill>
                <a:latin typeface="IBM Plex Mono"/>
              </a:rPr>
              <a:t>Ahrefs, 15,000 prompts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What this study asks</a:t>
            </a:r>
          </a:p>
        </p:txBody>
      </p:sp>
      <p:sp>
        <p:nvSpPr>
          <p:cNvPr id="3" name="TextBox 2"/>
          <p:cNvSpPr txBox="1"/>
          <p:nvPr/>
        </p:nvSpPr>
        <p:spPr>
          <a:xfrm>
            <a:off x="762000" y="1813559"/>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01</a:t>
            </a:r>
          </a:p>
        </p:txBody>
      </p:sp>
      <p:sp>
        <p:nvSpPr>
          <p:cNvPr id="4" name="TextBox 3"/>
          <p:cNvSpPr txBox="1"/>
          <p:nvPr/>
        </p:nvSpPr>
        <p:spPr>
          <a:xfrm>
            <a:off x="1524000" y="1760220"/>
            <a:ext cx="9906000" cy="42671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Which banks does each engine name, how early, and in what tone?</a:t>
            </a:r>
          </a:p>
        </p:txBody>
      </p:sp>
      <p:sp>
        <p:nvSpPr>
          <p:cNvPr id="5" name="TextBox 4"/>
          <p:cNvSpPr txBox="1"/>
          <p:nvPr/>
        </p:nvSpPr>
        <p:spPr>
          <a:xfrm>
            <a:off x="762000" y="2456179"/>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02</a:t>
            </a:r>
          </a:p>
        </p:txBody>
      </p:sp>
      <p:sp>
        <p:nvSpPr>
          <p:cNvPr id="6" name="TextBox 5"/>
          <p:cNvSpPr txBox="1"/>
          <p:nvPr/>
        </p:nvSpPr>
        <p:spPr>
          <a:xfrm>
            <a:off x="1524000" y="2402840"/>
            <a:ext cx="9906000" cy="85343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Which sources does each engine cite, and do the two engines agree?</a:t>
            </a:r>
          </a:p>
        </p:txBody>
      </p:sp>
      <p:sp>
        <p:nvSpPr>
          <p:cNvPr id="7" name="TextBox 6"/>
          <p:cNvSpPr txBox="1"/>
          <p:nvPr/>
        </p:nvSpPr>
        <p:spPr>
          <a:xfrm>
            <a:off x="762000" y="3525519"/>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03</a:t>
            </a:r>
          </a:p>
        </p:txBody>
      </p:sp>
      <p:sp>
        <p:nvSpPr>
          <p:cNvPr id="8" name="TextBox 7"/>
          <p:cNvSpPr txBox="1"/>
          <p:nvPr/>
        </p:nvSpPr>
        <p:spPr>
          <a:xfrm>
            <a:off x="1524000" y="3472179"/>
            <a:ext cx="9906000" cy="85343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Where does a bank's share of the answers differ from its share of the cited pages?</a:t>
            </a:r>
          </a:p>
        </p:txBody>
      </p:sp>
      <p:cxnSp>
        <p:nvCxnSpPr>
          <p:cNvPr id="9" name="motif-line-rail"/>
          <p:cNvCxnSpPr/>
          <p:nvPr/>
        </p:nvCxnSpPr>
        <p:spPr>
          <a:xfrm>
            <a:off x="1282700" y="1859279"/>
            <a:ext cx="0" cy="1940561"/>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10" name="motif-line-stop-1"/>
          <p:cNvCxnSpPr/>
          <p:nvPr/>
        </p:nvCxnSpPr>
        <p:spPr>
          <a:xfrm>
            <a:off x="1238250" y="1973579"/>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line-stop-2"/>
          <p:cNvCxnSpPr/>
          <p:nvPr/>
        </p:nvCxnSpPr>
        <p:spPr>
          <a:xfrm>
            <a:off x="1238250" y="261620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line-stop-3"/>
          <p:cNvCxnSpPr/>
          <p:nvPr/>
        </p:nvCxnSpPr>
        <p:spPr>
          <a:xfrm>
            <a:off x="1238250" y="368554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4"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Introduction</a:t>
            </a:r>
          </a:p>
        </p:txBody>
      </p:sp>
      <p:cxnSp>
        <p:nvCxnSpPr>
          <p:cNvPr id="15"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6"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4 / 33</a:t>
            </a:r>
          </a:p>
        </p:txBody>
      </p:sp>
      <p:cxnSp>
        <p:nvCxnSpPr>
          <p:cNvPr id="17"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8"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9"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4"/>
          <p:cNvCxnSpPr/>
          <p:nvPr/>
        </p:nvCxnSpPr>
        <p:spPr>
          <a:xfrm>
            <a:off x="7905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1" name="motif-line-tick-05"/>
          <p:cNvCxnSpPr/>
          <p:nvPr/>
        </p:nvCxnSpPr>
        <p:spPr>
          <a:xfrm>
            <a:off x="8001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2" name="motif-line-tick-06"/>
          <p:cNvCxnSpPr/>
          <p:nvPr/>
        </p:nvCxnSpPr>
        <p:spPr>
          <a:xfrm>
            <a:off x="8096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3" name="motif-line-tick-07"/>
          <p:cNvCxnSpPr/>
          <p:nvPr/>
        </p:nvCxnSpPr>
        <p:spPr>
          <a:xfrm>
            <a:off x="8191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4" name="motif-line-tick-08"/>
          <p:cNvCxnSpPr/>
          <p:nvPr/>
        </p:nvCxnSpPr>
        <p:spPr>
          <a:xfrm>
            <a:off x="8286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5" name="motif-line-tick-09"/>
          <p:cNvCxnSpPr/>
          <p:nvPr/>
        </p:nvCxnSpPr>
        <p:spPr>
          <a:xfrm>
            <a:off x="8382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6" name="motif-line-tick-10"/>
          <p:cNvCxnSpPr/>
          <p:nvPr/>
        </p:nvCxnSpPr>
        <p:spPr>
          <a:xfrm>
            <a:off x="8477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7" name="motif-line-tick-11"/>
          <p:cNvCxnSpPr/>
          <p:nvPr/>
        </p:nvCxnSpPr>
        <p:spPr>
          <a:xfrm>
            <a:off x="8572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8" name="motif-line-tick-12"/>
          <p:cNvCxnSpPr/>
          <p:nvPr/>
        </p:nvCxnSpPr>
        <p:spPr>
          <a:xfrm>
            <a:off x="8667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9"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0"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1"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2"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3"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photo-slot"/>
          <p:cNvSpPr/>
          <p:nvPr/>
        </p:nvSpPr>
        <p:spPr>
          <a:xfrm>
            <a:off x="0" y="0"/>
            <a:ext cx="12192000" cy="6858000"/>
          </a:xfrm>
          <a:prstGeom prst="rect">
            <a:avLst/>
          </a:prstGeom>
          <a:solidFill>
            <a:srgbClr val="1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ground-fade" descr="ground-fade-1400-360.png"/>
          <p:cNvPicPr>
            <a:picLocks noChangeAspect="1"/>
          </p:cNvPicPr>
          <p:nvPr/>
        </p:nvPicPr>
        <p:blipFill>
          <a:blip r:embed="rId2"/>
          <a:stretch>
            <a:fillRect/>
          </a:stretch>
        </p:blipFill>
        <p:spPr>
          <a:xfrm>
            <a:off x="0" y="0"/>
            <a:ext cx="8890000" cy="6858000"/>
          </a:xfrm>
          <a:prstGeom prst="rect">
            <a:avLst/>
          </a:prstGeom>
        </p:spPr>
      </p:pic>
      <p:cxnSp>
        <p:nvCxnSpPr>
          <p:cNvPr id="4" name="motif-line-corridor-corner-0"/>
          <p:cNvCxnSpPr/>
          <p:nvPr/>
        </p:nvCxnSpPr>
        <p:spPr>
          <a:xfrm>
            <a:off x="6731000" y="0"/>
            <a:ext cx="2413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5" name="motif-line-corridor-corner-1"/>
          <p:cNvCxnSpPr/>
          <p:nvPr/>
        </p:nvCxnSpPr>
        <p:spPr>
          <a:xfrm flipH="1">
            <a:off x="10668000" y="0"/>
            <a:ext cx="1524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line-corridor-corner-2"/>
          <p:cNvCxnSpPr/>
          <p:nvPr/>
        </p:nvCxnSpPr>
        <p:spPr>
          <a:xfrm flipV="1">
            <a:off x="6731000" y="4064000"/>
            <a:ext cx="2413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line-corridor-corner-3"/>
          <p:cNvCxnSpPr/>
          <p:nvPr/>
        </p:nvCxnSpPr>
        <p:spPr>
          <a:xfrm flipH="1" flipV="1">
            <a:off x="10668000" y="4064000"/>
            <a:ext cx="1524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line-corridor-top-1"/>
          <p:cNvCxnSpPr/>
          <p:nvPr/>
        </p:nvCxnSpPr>
        <p:spPr>
          <a:xfrm>
            <a:off x="7823200" y="0"/>
            <a:ext cx="1625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line-corridor-floor-1"/>
          <p:cNvCxnSpPr/>
          <p:nvPr/>
        </p:nvCxnSpPr>
        <p:spPr>
          <a:xfrm flipV="1">
            <a:off x="7823200" y="4064000"/>
            <a:ext cx="1625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line-corridor-top-2"/>
          <p:cNvCxnSpPr/>
          <p:nvPr/>
        </p:nvCxnSpPr>
        <p:spPr>
          <a:xfrm>
            <a:off x="8915400" y="0"/>
            <a:ext cx="8382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line-corridor-floor-2"/>
          <p:cNvCxnSpPr/>
          <p:nvPr/>
        </p:nvCxnSpPr>
        <p:spPr>
          <a:xfrm flipV="1">
            <a:off x="8915400" y="4064000"/>
            <a:ext cx="8382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line-corridor-top-3"/>
          <p:cNvCxnSpPr/>
          <p:nvPr/>
        </p:nvCxnSpPr>
        <p:spPr>
          <a:xfrm>
            <a:off x="10007600" y="0"/>
            <a:ext cx="508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corridor-floor-3"/>
          <p:cNvCxnSpPr/>
          <p:nvPr/>
        </p:nvCxnSpPr>
        <p:spPr>
          <a:xfrm flipV="1">
            <a:off x="10007600" y="4064000"/>
            <a:ext cx="508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corridor-top-4"/>
          <p:cNvCxnSpPr/>
          <p:nvPr/>
        </p:nvCxnSpPr>
        <p:spPr>
          <a:xfrm flipH="1">
            <a:off x="10363200" y="0"/>
            <a:ext cx="736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corridor-floor-4"/>
          <p:cNvCxnSpPr/>
          <p:nvPr/>
        </p:nvCxnSpPr>
        <p:spPr>
          <a:xfrm flipH="1" flipV="1">
            <a:off x="10363200" y="4064000"/>
            <a:ext cx="736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corridor-right-1"/>
          <p:cNvCxnSpPr/>
          <p:nvPr/>
        </p:nvCxnSpPr>
        <p:spPr>
          <a:xfrm flipH="1">
            <a:off x="10668000" y="1714500"/>
            <a:ext cx="1524000" cy="1301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7" name="motif-line-corridor-right-2"/>
          <p:cNvCxnSpPr/>
          <p:nvPr/>
        </p:nvCxnSpPr>
        <p:spPr>
          <a:xfrm flipH="1" flipV="1">
            <a:off x="10668000" y="3365500"/>
            <a:ext cx="1524000" cy="635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8" name="motif-line-corridor-right-3"/>
          <p:cNvCxnSpPr/>
          <p:nvPr/>
        </p:nvCxnSpPr>
        <p:spPr>
          <a:xfrm flipH="1" flipV="1">
            <a:off x="10668000" y="3714750"/>
            <a:ext cx="1524000" cy="1428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9" name="motif-line-depth-1-t"/>
          <p:cNvCxnSpPr/>
          <p:nvPr/>
        </p:nvCxnSpPr>
        <p:spPr>
          <a:xfrm>
            <a:off x="7937500" y="1333500"/>
            <a:ext cx="3492500"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0" name="motif-line-depth-1-b"/>
          <p:cNvCxnSpPr/>
          <p:nvPr/>
        </p:nvCxnSpPr>
        <p:spPr>
          <a:xfrm>
            <a:off x="7937500" y="5461000"/>
            <a:ext cx="3492500"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1" name="motif-line-depth-1-l"/>
          <p:cNvCxnSpPr/>
          <p:nvPr/>
        </p:nvCxnSpPr>
        <p:spPr>
          <a:xfrm>
            <a:off x="7937500" y="1333500"/>
            <a:ext cx="0" cy="412750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2" name="motif-line-depth-1-r"/>
          <p:cNvCxnSpPr/>
          <p:nvPr/>
        </p:nvCxnSpPr>
        <p:spPr>
          <a:xfrm>
            <a:off x="11430000" y="1333500"/>
            <a:ext cx="0" cy="412750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62000" y="2122170"/>
            <a:ext cx="5588000" cy="320040"/>
          </a:xfrm>
          <a:prstGeom prst="rect">
            <a:avLst/>
          </a:prstGeom>
          <a:noFill/>
        </p:spPr>
        <p:txBody>
          <a:bodyPr wrap="square" lIns="0" rIns="0" tIns="0" bIns="0" anchor="t">
            <a:spAutoFit/>
          </a:bodyPr>
          <a:lstStyle/>
          <a:p>
            <a:pPr algn="l">
              <a:lnSpc>
                <a:spcPct val="115000"/>
              </a:lnSpc>
            </a:pPr>
            <a:r>
              <a:rPr sz="1800" b="0">
                <a:solidFill>
                  <a:srgbClr val="AFC0D8"/>
                </a:solidFill>
                <a:latin typeface="Plus Jakarta Sans"/>
              </a:rPr>
              <a:t>Part I</a:t>
            </a:r>
          </a:p>
        </p:txBody>
      </p:sp>
      <p:cxnSp>
        <p:nvCxnSpPr>
          <p:cNvPr id="24" name="motif-line-card-rule"/>
          <p:cNvCxnSpPr/>
          <p:nvPr/>
        </p:nvCxnSpPr>
        <p:spPr>
          <a:xfrm>
            <a:off x="762000" y="2569210"/>
            <a:ext cx="3048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62000" y="2696210"/>
            <a:ext cx="5588000" cy="1422400"/>
          </a:xfrm>
          <a:prstGeom prst="rect">
            <a:avLst/>
          </a:prstGeom>
          <a:noFill/>
        </p:spPr>
        <p:txBody>
          <a:bodyPr wrap="square" lIns="0" rIns="0" tIns="0" bIns="0" anchor="t">
            <a:spAutoFit/>
          </a:bodyPr>
          <a:lstStyle/>
          <a:p>
            <a:pPr algn="l">
              <a:lnSpc>
                <a:spcPct val="115000"/>
              </a:lnSpc>
            </a:pPr>
            <a:r>
              <a:rPr sz="8000" b="1">
                <a:solidFill>
                  <a:srgbClr val="F4F6FA"/>
                </a:solidFill>
                <a:latin typeface="Plus Jakarta Sans"/>
              </a:rPr>
              <a:t>Method</a:t>
            </a:r>
          </a:p>
        </p:txBody>
      </p:sp>
      <p:sp>
        <p:nvSpPr>
          <p:cNvPr id="26" name="TextBox 25"/>
          <p:cNvSpPr txBox="1"/>
          <p:nvPr/>
        </p:nvSpPr>
        <p:spPr>
          <a:xfrm>
            <a:off x="762000" y="4309110"/>
            <a:ext cx="5588000" cy="426719"/>
          </a:xfrm>
          <a:prstGeom prst="rect">
            <a:avLst/>
          </a:prstGeom>
          <a:noFill/>
        </p:spPr>
        <p:txBody>
          <a:bodyPr wrap="square" lIns="0" rIns="0" tIns="0" bIns="0" anchor="t">
            <a:spAutoFit/>
          </a:bodyPr>
          <a:lstStyle/>
          <a:p>
            <a:pPr algn="l">
              <a:lnSpc>
                <a:spcPct val="115000"/>
              </a:lnSpc>
            </a:pPr>
            <a:r>
              <a:rPr sz="2400" b="0">
                <a:solidFill>
                  <a:srgbClr val="AFC0D8"/>
                </a:solidFill>
                <a:latin typeface="Plus Jakarta Sans"/>
              </a:rPr>
              <a:t>20 prompts, 2 engines, one 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10668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20 everyday banking questions, asked in Bahasa Indonesia</a:t>
            </a:r>
          </a:p>
        </p:txBody>
      </p:sp>
      <p:sp>
        <p:nvSpPr>
          <p:cNvPr id="3" name="TextBox 2"/>
          <p:cNvSpPr txBox="1"/>
          <p:nvPr/>
        </p:nvSpPr>
        <p:spPr>
          <a:xfrm>
            <a:off x="762000" y="2032000"/>
            <a:ext cx="8890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5 customer needs by 5 question types. Only 3 prompts name a bank, all of them comparisons. Each prompt was asked once in ChatGPT and once in Gemini, with a request for 10 sources.</a:t>
            </a:r>
          </a:p>
        </p:txBody>
      </p:sp>
      <p:sp>
        <p:nvSpPr>
          <p:cNvPr id="4" name="ground-panel"/>
          <p:cNvSpPr/>
          <p:nvPr/>
        </p:nvSpPr>
        <p:spPr>
          <a:xfrm>
            <a:off x="1166988" y="2679700"/>
            <a:ext cx="9858022" cy="3289300"/>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1103488" y="26162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1103488" y="26162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0834511" y="26162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1088511" y="26162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1103488"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1103488"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0834511"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1088511"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prompt_grid" descr="prompt_grid.png"/>
          <p:cNvPicPr>
            <a:picLocks noChangeAspect="1"/>
          </p:cNvPicPr>
          <p:nvPr/>
        </p:nvPicPr>
        <p:blipFill>
          <a:blip r:embed="rId2"/>
          <a:stretch>
            <a:fillRect/>
          </a:stretch>
        </p:blipFill>
        <p:spPr>
          <a:xfrm>
            <a:off x="1255888" y="2768600"/>
            <a:ext cx="9680222" cy="3111500"/>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 Method</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6 / 33</a:t>
            </a:r>
          </a:p>
        </p:txBody>
      </p:sp>
      <p:sp>
        <p:nvSpPr>
          <p:cNvPr id="18"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data/interim/answers.csv. n = 20 prompts</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5334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From 40 answers to 195 readable source pages</a:t>
            </a:r>
          </a:p>
        </p:txBody>
      </p:sp>
      <p:sp>
        <p:nvSpPr>
          <p:cNvPr id="3" name="TextBox 2"/>
          <p:cNvSpPr txBox="1"/>
          <p:nvPr/>
        </p:nvSpPr>
        <p:spPr>
          <a:xfrm>
            <a:off x="762000" y="1498600"/>
            <a:ext cx="8890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Each step is code in the public repo, covered by tests. Only links under each answer's source list count as citations.</a:t>
            </a:r>
          </a:p>
        </p:txBody>
      </p:sp>
      <p:sp>
        <p:nvSpPr>
          <p:cNvPr id="4" name="ground-panel"/>
          <p:cNvSpPr/>
          <p:nvPr/>
        </p:nvSpPr>
        <p:spPr>
          <a:xfrm>
            <a:off x="904239" y="2146300"/>
            <a:ext cx="10383520" cy="3822700"/>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840739" y="20828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840739" y="20828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1097260" y="20828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1351260" y="20828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840739"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840739"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1097260"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1351260"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pipeline" descr="pipeline.png"/>
          <p:cNvPicPr>
            <a:picLocks noChangeAspect="1"/>
          </p:cNvPicPr>
          <p:nvPr/>
        </p:nvPicPr>
        <p:blipFill>
          <a:blip r:embed="rId2"/>
          <a:stretch>
            <a:fillRect/>
          </a:stretch>
        </p:blipFill>
        <p:spPr>
          <a:xfrm>
            <a:off x="993139" y="2235200"/>
            <a:ext cx="10205720" cy="3644900"/>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 Method</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7 / 33</a:t>
            </a:r>
          </a:p>
        </p:txBody>
      </p:sp>
      <p:sp>
        <p:nvSpPr>
          <p:cNvPr id="18"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Code and data: github.com/rgmwnn/geo-bank-visibility. n = 40 answers</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What is measured</a:t>
            </a:r>
          </a:p>
        </p:txBody>
      </p:sp>
      <p:sp>
        <p:nvSpPr>
          <p:cNvPr id="3" name="TextBox 2"/>
          <p:cNvSpPr txBox="1"/>
          <p:nvPr/>
        </p:nvSpPr>
        <p:spPr>
          <a:xfrm>
            <a:off x="762000" y="1709420"/>
            <a:ext cx="5080000" cy="266700"/>
          </a:xfrm>
          <a:prstGeom prst="rect">
            <a:avLst/>
          </a:prstGeom>
          <a:noFill/>
        </p:spPr>
        <p:txBody>
          <a:bodyPr wrap="square" lIns="0" rIns="0" tIns="0" bIns="0" anchor="t">
            <a:spAutoFit/>
          </a:bodyPr>
          <a:lstStyle/>
          <a:p>
            <a:pPr algn="l">
              <a:lnSpc>
                <a:spcPct val="115000"/>
              </a:lnSpc>
            </a:pPr>
            <a:r>
              <a:rPr sz="1500" b="1">
                <a:solidFill>
                  <a:srgbClr val="F4F6FA"/>
                </a:solidFill>
                <a:latin typeface="Plus Jakarta Sans"/>
              </a:rPr>
              <a:t>Mention rate</a:t>
            </a:r>
          </a:p>
        </p:txBody>
      </p:sp>
      <p:sp>
        <p:nvSpPr>
          <p:cNvPr id="4" name="TextBox 3"/>
          <p:cNvSpPr txBox="1"/>
          <p:nvPr/>
        </p:nvSpPr>
        <p:spPr>
          <a:xfrm>
            <a:off x="762000" y="1988820"/>
            <a:ext cx="5080000" cy="231140"/>
          </a:xfrm>
          <a:prstGeom prst="rect">
            <a:avLst/>
          </a:prstGeom>
          <a:noFill/>
        </p:spPr>
        <p:txBody>
          <a:bodyPr wrap="square" lIns="0" rIns="0" tIns="0" bIns="0" anchor="t">
            <a:spAutoFit/>
          </a:bodyPr>
          <a:lstStyle/>
          <a:p>
            <a:pPr algn="l">
              <a:lnSpc>
                <a:spcPct val="115000"/>
              </a:lnSpc>
            </a:pPr>
            <a:r>
              <a:rPr sz="1300" b="0">
                <a:solidFill>
                  <a:srgbClr val="AFC0D8"/>
                </a:solidFill>
                <a:latin typeface="Plus Jakarta Sans"/>
              </a:rPr>
              <a:t>share of answers that name the bank</a:t>
            </a:r>
          </a:p>
        </p:txBody>
      </p:sp>
      <p:sp>
        <p:nvSpPr>
          <p:cNvPr id="5" name="TextBox 4"/>
          <p:cNvSpPr txBox="1"/>
          <p:nvPr/>
        </p:nvSpPr>
        <p:spPr>
          <a:xfrm>
            <a:off x="762000" y="2296160"/>
            <a:ext cx="5080000" cy="266700"/>
          </a:xfrm>
          <a:prstGeom prst="rect">
            <a:avLst/>
          </a:prstGeom>
          <a:noFill/>
        </p:spPr>
        <p:txBody>
          <a:bodyPr wrap="square" lIns="0" rIns="0" tIns="0" bIns="0" anchor="t">
            <a:spAutoFit/>
          </a:bodyPr>
          <a:lstStyle/>
          <a:p>
            <a:pPr algn="l">
              <a:lnSpc>
                <a:spcPct val="115000"/>
              </a:lnSpc>
            </a:pPr>
            <a:r>
              <a:rPr sz="1500" b="1">
                <a:solidFill>
                  <a:srgbClr val="F4F6FA"/>
                </a:solidFill>
                <a:latin typeface="Plus Jakarta Sans"/>
              </a:rPr>
              <a:t>AI share of voice</a:t>
            </a:r>
          </a:p>
        </p:txBody>
      </p:sp>
      <p:sp>
        <p:nvSpPr>
          <p:cNvPr id="6" name="TextBox 5"/>
          <p:cNvSpPr txBox="1"/>
          <p:nvPr/>
        </p:nvSpPr>
        <p:spPr>
          <a:xfrm>
            <a:off x="762000" y="2575560"/>
            <a:ext cx="5080000" cy="462280"/>
          </a:xfrm>
          <a:prstGeom prst="rect">
            <a:avLst/>
          </a:prstGeom>
          <a:noFill/>
        </p:spPr>
        <p:txBody>
          <a:bodyPr wrap="square" lIns="0" rIns="0" tIns="0" bIns="0" anchor="t">
            <a:spAutoFit/>
          </a:bodyPr>
          <a:lstStyle/>
          <a:p>
            <a:pPr algn="l">
              <a:lnSpc>
                <a:spcPct val="115000"/>
              </a:lnSpc>
            </a:pPr>
            <a:r>
              <a:rPr sz="1300" b="0">
                <a:solidFill>
                  <a:srgbClr val="AFC0D8"/>
                </a:solidFill>
                <a:latin typeface="Plus Jakarta Sans"/>
              </a:rPr>
              <a:t>the bank's share of bank mentions, each answer weighted equally</a:t>
            </a:r>
          </a:p>
        </p:txBody>
      </p:sp>
      <p:sp>
        <p:nvSpPr>
          <p:cNvPr id="7" name="TextBox 6"/>
          <p:cNvSpPr txBox="1"/>
          <p:nvPr/>
        </p:nvSpPr>
        <p:spPr>
          <a:xfrm>
            <a:off x="762000" y="3114040"/>
            <a:ext cx="5080000" cy="266700"/>
          </a:xfrm>
          <a:prstGeom prst="rect">
            <a:avLst/>
          </a:prstGeom>
          <a:noFill/>
        </p:spPr>
        <p:txBody>
          <a:bodyPr wrap="square" lIns="0" rIns="0" tIns="0" bIns="0" anchor="t">
            <a:spAutoFit/>
          </a:bodyPr>
          <a:lstStyle/>
          <a:p>
            <a:pPr algn="l">
              <a:lnSpc>
                <a:spcPct val="115000"/>
              </a:lnSpc>
            </a:pPr>
            <a:r>
              <a:rPr sz="1500" b="1">
                <a:solidFill>
                  <a:srgbClr val="F4F6FA"/>
                </a:solidFill>
                <a:latin typeface="Plus Jakarta Sans"/>
              </a:rPr>
              <a:t>Brand PAWC</a:t>
            </a:r>
          </a:p>
        </p:txBody>
      </p:sp>
      <p:sp>
        <p:nvSpPr>
          <p:cNvPr id="8" name="TextBox 7"/>
          <p:cNvSpPr txBox="1"/>
          <p:nvPr/>
        </p:nvSpPr>
        <p:spPr>
          <a:xfrm>
            <a:off x="762000" y="3393440"/>
            <a:ext cx="5080000" cy="462280"/>
          </a:xfrm>
          <a:prstGeom prst="rect">
            <a:avLst/>
          </a:prstGeom>
          <a:noFill/>
        </p:spPr>
        <p:txBody>
          <a:bodyPr wrap="square" lIns="0" rIns="0" tIns="0" bIns="0" anchor="t">
            <a:spAutoFit/>
          </a:bodyPr>
          <a:lstStyle/>
          <a:p>
            <a:pPr algn="l">
              <a:lnSpc>
                <a:spcPct val="115000"/>
              </a:lnSpc>
            </a:pPr>
            <a:r>
              <a:rPr sz="1300" b="0">
                <a:solidFill>
                  <a:srgbClr val="AFC0D8"/>
                </a:solidFill>
                <a:latin typeface="Plus Jakarta Sans"/>
              </a:rPr>
              <a:t>how much of an answer is about the bank, earlier sentences weighted more</a:t>
            </a:r>
          </a:p>
        </p:txBody>
      </p:sp>
      <p:sp>
        <p:nvSpPr>
          <p:cNvPr id="9" name="TextBox 8"/>
          <p:cNvSpPr txBox="1"/>
          <p:nvPr/>
        </p:nvSpPr>
        <p:spPr>
          <a:xfrm>
            <a:off x="762000" y="3931920"/>
            <a:ext cx="5080000" cy="266700"/>
          </a:xfrm>
          <a:prstGeom prst="rect">
            <a:avLst/>
          </a:prstGeom>
          <a:noFill/>
        </p:spPr>
        <p:txBody>
          <a:bodyPr wrap="square" lIns="0" rIns="0" tIns="0" bIns="0" anchor="t">
            <a:spAutoFit/>
          </a:bodyPr>
          <a:lstStyle/>
          <a:p>
            <a:pPr algn="l">
              <a:lnSpc>
                <a:spcPct val="115000"/>
              </a:lnSpc>
            </a:pPr>
            <a:r>
              <a:rPr sz="1500" b="1">
                <a:solidFill>
                  <a:srgbClr val="F4F6FA"/>
                </a:solidFill>
                <a:latin typeface="Plus Jakarta Sans"/>
              </a:rPr>
              <a:t>Source share of voice</a:t>
            </a:r>
          </a:p>
        </p:txBody>
      </p:sp>
      <p:sp>
        <p:nvSpPr>
          <p:cNvPr id="10" name="TextBox 9"/>
          <p:cNvSpPr txBox="1"/>
          <p:nvPr/>
        </p:nvSpPr>
        <p:spPr>
          <a:xfrm>
            <a:off x="762000" y="4211320"/>
            <a:ext cx="5080000" cy="231140"/>
          </a:xfrm>
          <a:prstGeom prst="rect">
            <a:avLst/>
          </a:prstGeom>
          <a:noFill/>
        </p:spPr>
        <p:txBody>
          <a:bodyPr wrap="square" lIns="0" rIns="0" tIns="0" bIns="0" anchor="t">
            <a:spAutoFit/>
          </a:bodyPr>
          <a:lstStyle/>
          <a:p>
            <a:pPr algn="l">
              <a:lnSpc>
                <a:spcPct val="115000"/>
              </a:lnSpc>
            </a:pPr>
            <a:r>
              <a:rPr sz="1300" b="0">
                <a:solidFill>
                  <a:srgbClr val="AFC0D8"/>
                </a:solidFill>
                <a:latin typeface="Plus Jakarta Sans"/>
              </a:rPr>
              <a:t>the bank's share of bank mentions in the readable cited pages</a:t>
            </a:r>
          </a:p>
        </p:txBody>
      </p:sp>
      <p:sp>
        <p:nvSpPr>
          <p:cNvPr id="11" name="TextBox 10"/>
          <p:cNvSpPr txBox="1"/>
          <p:nvPr/>
        </p:nvSpPr>
        <p:spPr>
          <a:xfrm>
            <a:off x="762000" y="4518660"/>
            <a:ext cx="5080000" cy="266700"/>
          </a:xfrm>
          <a:prstGeom prst="rect">
            <a:avLst/>
          </a:prstGeom>
          <a:noFill/>
        </p:spPr>
        <p:txBody>
          <a:bodyPr wrap="square" lIns="0" rIns="0" tIns="0" bIns="0" anchor="t">
            <a:spAutoFit/>
          </a:bodyPr>
          <a:lstStyle/>
          <a:p>
            <a:pPr algn="l">
              <a:lnSpc>
                <a:spcPct val="115000"/>
              </a:lnSpc>
            </a:pPr>
            <a:r>
              <a:rPr sz="1500" b="1">
                <a:solidFill>
                  <a:srgbClr val="F4F6FA"/>
                </a:solidFill>
                <a:latin typeface="Plus Jakarta Sans"/>
              </a:rPr>
              <a:t>SOV gap</a:t>
            </a:r>
          </a:p>
        </p:txBody>
      </p:sp>
      <p:sp>
        <p:nvSpPr>
          <p:cNvPr id="12" name="TextBox 11"/>
          <p:cNvSpPr txBox="1"/>
          <p:nvPr/>
        </p:nvSpPr>
        <p:spPr>
          <a:xfrm>
            <a:off x="762000" y="4798060"/>
            <a:ext cx="5080000" cy="231140"/>
          </a:xfrm>
          <a:prstGeom prst="rect">
            <a:avLst/>
          </a:prstGeom>
          <a:noFill/>
        </p:spPr>
        <p:txBody>
          <a:bodyPr wrap="square" lIns="0" rIns="0" tIns="0" bIns="0" anchor="t">
            <a:spAutoFit/>
          </a:bodyPr>
          <a:lstStyle/>
          <a:p>
            <a:pPr algn="l">
              <a:lnSpc>
                <a:spcPct val="115000"/>
              </a:lnSpc>
            </a:pPr>
            <a:r>
              <a:rPr sz="1300" b="0">
                <a:solidFill>
                  <a:srgbClr val="AFC0D8"/>
                </a:solidFill>
                <a:latin typeface="Plus Jakarta Sans"/>
              </a:rPr>
              <a:t>AI share of voice minus source share of voice</a:t>
            </a:r>
          </a:p>
        </p:txBody>
      </p:sp>
      <p:sp>
        <p:nvSpPr>
          <p:cNvPr id="13" name="TextBox 12"/>
          <p:cNvSpPr txBox="1"/>
          <p:nvPr/>
        </p:nvSpPr>
        <p:spPr>
          <a:xfrm>
            <a:off x="762000" y="5105400"/>
            <a:ext cx="5080000" cy="266700"/>
          </a:xfrm>
          <a:prstGeom prst="rect">
            <a:avLst/>
          </a:prstGeom>
          <a:noFill/>
        </p:spPr>
        <p:txBody>
          <a:bodyPr wrap="square" lIns="0" rIns="0" tIns="0" bIns="0" anchor="t">
            <a:spAutoFit/>
          </a:bodyPr>
          <a:lstStyle/>
          <a:p>
            <a:pPr algn="l">
              <a:lnSpc>
                <a:spcPct val="115000"/>
              </a:lnSpc>
            </a:pPr>
            <a:r>
              <a:rPr sz="1500" b="1">
                <a:solidFill>
                  <a:srgbClr val="F4F6FA"/>
                </a:solidFill>
                <a:latin typeface="Plus Jakarta Sans"/>
              </a:rPr>
              <a:t>VIS</a:t>
            </a:r>
          </a:p>
        </p:txBody>
      </p:sp>
      <p:sp>
        <p:nvSpPr>
          <p:cNvPr id="14" name="TextBox 13"/>
          <p:cNvSpPr txBox="1"/>
          <p:nvPr/>
        </p:nvSpPr>
        <p:spPr>
          <a:xfrm>
            <a:off x="762000" y="5384800"/>
            <a:ext cx="5080000" cy="462280"/>
          </a:xfrm>
          <a:prstGeom prst="rect">
            <a:avLst/>
          </a:prstGeom>
          <a:noFill/>
        </p:spPr>
        <p:txBody>
          <a:bodyPr wrap="square" lIns="0" rIns="0" tIns="0" bIns="0" anchor="t">
            <a:spAutoFit/>
          </a:bodyPr>
          <a:lstStyle/>
          <a:p>
            <a:pPr algn="l">
              <a:lnSpc>
                <a:spcPct val="115000"/>
              </a:lnSpc>
            </a:pPr>
            <a:r>
              <a:rPr sz="1300" b="0">
                <a:solidFill>
                  <a:srgbClr val="AFC0D8"/>
                </a:solidFill>
                <a:latin typeface="Plus Jakarta Sans"/>
              </a:rPr>
              <a:t>0 to 100: equal mix of PAWC, source authority, sentiment and coverage of both engines</a:t>
            </a:r>
          </a:p>
        </p:txBody>
      </p:sp>
      <p:sp>
        <p:nvSpPr>
          <p:cNvPr id="15" name="ground-panel"/>
          <p:cNvSpPr/>
          <p:nvPr/>
        </p:nvSpPr>
        <p:spPr>
          <a:xfrm>
            <a:off x="6096000" y="2114550"/>
            <a:ext cx="5334000" cy="2755900"/>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motif-bracket-tl-h"/>
          <p:cNvCxnSpPr/>
          <p:nvPr/>
        </p:nvCxnSpPr>
        <p:spPr>
          <a:xfrm>
            <a:off x="6032500" y="205105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7" name="motif-bracket-tl-v"/>
          <p:cNvCxnSpPr/>
          <p:nvPr/>
        </p:nvCxnSpPr>
        <p:spPr>
          <a:xfrm>
            <a:off x="6032500" y="205105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8" name="motif-bracket-tr-h"/>
          <p:cNvCxnSpPr/>
          <p:nvPr/>
        </p:nvCxnSpPr>
        <p:spPr>
          <a:xfrm flipH="1">
            <a:off x="11239500" y="205105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9" name="motif-bracket-tr-v"/>
          <p:cNvCxnSpPr/>
          <p:nvPr/>
        </p:nvCxnSpPr>
        <p:spPr>
          <a:xfrm>
            <a:off x="11493500" y="205105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0" name="motif-bracket-bl-h"/>
          <p:cNvCxnSpPr/>
          <p:nvPr/>
        </p:nvCxnSpPr>
        <p:spPr>
          <a:xfrm>
            <a:off x="6032500" y="493395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1" name="motif-bracket-bl-v"/>
          <p:cNvCxnSpPr/>
          <p:nvPr/>
        </p:nvCxnSpPr>
        <p:spPr>
          <a:xfrm flipV="1">
            <a:off x="6032500" y="467995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2" name="motif-bracket-br-h"/>
          <p:cNvCxnSpPr/>
          <p:nvPr/>
        </p:nvCxnSpPr>
        <p:spPr>
          <a:xfrm flipH="1">
            <a:off x="11239500" y="493395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3" name="motif-bracket-br-v"/>
          <p:cNvCxnSpPr/>
          <p:nvPr/>
        </p:nvCxnSpPr>
        <p:spPr>
          <a:xfrm flipV="1">
            <a:off x="11493500" y="467995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24" name="chart-pawc_curve" descr="pawc_curve.png"/>
          <p:cNvPicPr>
            <a:picLocks noChangeAspect="1"/>
          </p:cNvPicPr>
          <p:nvPr/>
        </p:nvPicPr>
        <p:blipFill>
          <a:blip r:embed="rId2"/>
          <a:stretch>
            <a:fillRect/>
          </a:stretch>
        </p:blipFill>
        <p:spPr>
          <a:xfrm>
            <a:off x="6184900" y="2203450"/>
            <a:ext cx="5156200" cy="2578100"/>
          </a:xfrm>
          <a:prstGeom prst="rect">
            <a:avLst/>
          </a:prstGeom>
        </p:spPr>
      </p:pic>
      <p:cxnSp>
        <p:nvCxnSpPr>
          <p:cNvPr id="25"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26"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 Method</a:t>
            </a:r>
          </a:p>
        </p:txBody>
      </p:sp>
      <p:cxnSp>
        <p:nvCxnSpPr>
          <p:cNvPr id="27"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28"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8 / 33</a:t>
            </a:r>
          </a:p>
        </p:txBody>
      </p:sp>
      <p:sp>
        <p:nvSpPr>
          <p:cNvPr id="29"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PAWC adapted from Aggarwal et al., GEO: Generative Engine Optimization, KDD 2024</a:t>
            </a:r>
          </a:p>
        </p:txBody>
      </p:sp>
      <p:cxnSp>
        <p:nvCxnSpPr>
          <p:cNvPr id="3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08"/>
          <p:cNvCxnSpPr/>
          <p:nvPr/>
        </p:nvCxnSpPr>
        <p:spPr>
          <a:xfrm>
            <a:off x="8286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8" name="motif-line-tick-09"/>
          <p:cNvCxnSpPr/>
          <p:nvPr/>
        </p:nvCxnSpPr>
        <p:spPr>
          <a:xfrm>
            <a:off x="8382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10"/>
          <p:cNvCxnSpPr/>
          <p:nvPr/>
        </p:nvCxnSpPr>
        <p:spPr>
          <a:xfrm>
            <a:off x="8477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11"/>
          <p:cNvCxnSpPr/>
          <p:nvPr/>
        </p:nvCxnSpPr>
        <p:spPr>
          <a:xfrm>
            <a:off x="8572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12"/>
          <p:cNvCxnSpPr/>
          <p:nvPr/>
        </p:nvCxnSpPr>
        <p:spPr>
          <a:xfrm>
            <a:off x="8667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3"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4"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5"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6"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7"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8"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9"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60"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61"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6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10668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What this data cannot tell you</a:t>
            </a:r>
          </a:p>
        </p:txBody>
      </p:sp>
      <p:sp>
        <p:nvSpPr>
          <p:cNvPr id="3" name="TextBox 2"/>
          <p:cNvSpPr txBox="1"/>
          <p:nvPr/>
        </p:nvSpPr>
        <p:spPr>
          <a:xfrm>
            <a:off x="762000" y="219710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  One run per prompt per engine: a snapshot.</a:t>
            </a:r>
          </a:p>
        </p:txBody>
      </p:sp>
      <p:sp>
        <p:nvSpPr>
          <p:cNvPr id="4" name="TextBox 3"/>
          <p:cNvSpPr txBox="1"/>
          <p:nvPr/>
        </p:nvSpPr>
        <p:spPr>
          <a:xfrm>
            <a:off x="762000" y="279400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  Asking for 10 sources makes both engines cite more than usual.</a:t>
            </a:r>
          </a:p>
        </p:txBody>
      </p:sp>
      <p:sp>
        <p:nvSpPr>
          <p:cNvPr id="5" name="TextBox 4"/>
          <p:cNvSpPr txBox="1"/>
          <p:nvPr/>
        </p:nvSpPr>
        <p:spPr>
          <a:xfrm>
            <a:off x="762000" y="339090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  10 of 20 prompts lean digital: they name digital banks or ask about apps.</a:t>
            </a:r>
          </a:p>
        </p:txBody>
      </p:sp>
      <p:sp>
        <p:nvSpPr>
          <p:cNvPr id="6" name="TextBox 5"/>
          <p:cNvSpPr txBox="1"/>
          <p:nvPr/>
        </p:nvSpPr>
        <p:spPr>
          <a:xfrm>
            <a:off x="762000" y="398780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  Claude labelled sentiment and site types; RG spot-checked a sample.</a:t>
            </a:r>
          </a:p>
        </p:txBody>
      </p:sp>
      <p:sp>
        <p:nvSpPr>
          <p:cNvPr id="7" name="TextBox 6"/>
          <p:cNvSpPr txBox="1"/>
          <p:nvPr/>
        </p:nvSpPr>
        <p:spPr>
          <a:xfrm>
            <a:off x="762000" y="458470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  Pages that blocked the crawler drop out of page-level measures.</a:t>
            </a:r>
          </a:p>
        </p:txBody>
      </p:sp>
      <p:sp>
        <p:nvSpPr>
          <p:cNvPr id="8" name="TextBox 7"/>
          <p:cNvSpPr txBox="1"/>
          <p:nvPr/>
        </p:nvSpPr>
        <p:spPr>
          <a:xfrm>
            <a:off x="762000" y="518160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  Banks named in fewer than 3 answers are not ranked.</a:t>
            </a:r>
          </a:p>
        </p:txBody>
      </p:sp>
      <p:sp>
        <p:nvSpPr>
          <p:cNvPr id="9" name="ground-panel"/>
          <p:cNvSpPr/>
          <p:nvPr/>
        </p:nvSpPr>
        <p:spPr>
          <a:xfrm>
            <a:off x="4699000" y="1735582"/>
            <a:ext cx="6731000" cy="3323336"/>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motif-bracket-tl-h"/>
          <p:cNvCxnSpPr/>
          <p:nvPr/>
        </p:nvCxnSpPr>
        <p:spPr>
          <a:xfrm>
            <a:off x="4635500" y="167208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tl-v"/>
          <p:cNvCxnSpPr/>
          <p:nvPr/>
        </p:nvCxnSpPr>
        <p:spPr>
          <a:xfrm>
            <a:off x="4635500" y="167208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tr-h"/>
          <p:cNvCxnSpPr/>
          <p:nvPr/>
        </p:nvCxnSpPr>
        <p:spPr>
          <a:xfrm flipH="1">
            <a:off x="11239500" y="167208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tr-v"/>
          <p:cNvCxnSpPr/>
          <p:nvPr/>
        </p:nvCxnSpPr>
        <p:spPr>
          <a:xfrm>
            <a:off x="11493500" y="167208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bracket-bl-h"/>
          <p:cNvCxnSpPr/>
          <p:nvPr/>
        </p:nvCxnSpPr>
        <p:spPr>
          <a:xfrm>
            <a:off x="4635500" y="512241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bracket-bl-v"/>
          <p:cNvCxnSpPr/>
          <p:nvPr/>
        </p:nvCxnSpPr>
        <p:spPr>
          <a:xfrm flipV="1">
            <a:off x="4635500" y="486841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bracket-br-h"/>
          <p:cNvCxnSpPr/>
          <p:nvPr/>
        </p:nvCxnSpPr>
        <p:spPr>
          <a:xfrm flipH="1">
            <a:off x="11239500" y="512241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7" name="motif-bracket-br-v"/>
          <p:cNvCxnSpPr/>
          <p:nvPr/>
        </p:nvCxnSpPr>
        <p:spPr>
          <a:xfrm flipV="1">
            <a:off x="11493500" y="486841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8" name="chart-funnel" descr="funnel.png"/>
          <p:cNvPicPr>
            <a:picLocks noChangeAspect="1"/>
          </p:cNvPicPr>
          <p:nvPr/>
        </p:nvPicPr>
        <p:blipFill>
          <a:blip r:embed="rId2"/>
          <a:stretch>
            <a:fillRect/>
          </a:stretch>
        </p:blipFill>
        <p:spPr>
          <a:xfrm>
            <a:off x="4787900" y="1824482"/>
            <a:ext cx="6553200" cy="3145536"/>
          </a:xfrm>
          <a:prstGeom prst="rect">
            <a:avLst/>
          </a:prstGeom>
        </p:spPr>
      </p:pic>
      <p:cxnSp>
        <p:nvCxnSpPr>
          <p:cNvPr id="19"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20"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 Method</a:t>
            </a:r>
          </a:p>
        </p:txBody>
      </p:sp>
      <p:cxnSp>
        <p:nvCxnSpPr>
          <p:cNvPr id="21"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22"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9 / 33</a:t>
            </a:r>
          </a:p>
        </p:txBody>
      </p:sp>
      <p:sp>
        <p:nvSpPr>
          <p:cNvPr id="23"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data/interim/pages.csv, page_brand_counts.csv. n = 243 pages</a:t>
            </a:r>
          </a:p>
        </p:txBody>
      </p:sp>
      <p:cxnSp>
        <p:nvCxnSpPr>
          <p:cNvPr id="24"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09"/>
          <p:cNvCxnSpPr/>
          <p:nvPr/>
        </p:nvCxnSpPr>
        <p:spPr>
          <a:xfrm>
            <a:off x="83820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3" name="motif-line-tick-10"/>
          <p:cNvCxnSpPr/>
          <p:nvPr/>
        </p:nvCxnSpPr>
        <p:spPr>
          <a:xfrm>
            <a:off x="8477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1"/>
          <p:cNvCxnSpPr/>
          <p:nvPr/>
        </p:nvCxnSpPr>
        <p:spPr>
          <a:xfrm>
            <a:off x="8572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2"/>
          <p:cNvCxnSpPr/>
          <p:nvPr/>
        </p:nvCxnSpPr>
        <p:spPr>
          <a:xfrm>
            <a:off x="8667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3"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4"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5"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6"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photo-slot"/>
          <p:cNvSpPr/>
          <p:nvPr/>
        </p:nvSpPr>
        <p:spPr>
          <a:xfrm>
            <a:off x="0" y="0"/>
            <a:ext cx="12192000" cy="6858000"/>
          </a:xfrm>
          <a:prstGeom prst="rect">
            <a:avLst/>
          </a:prstGeom>
          <a:solidFill>
            <a:srgbClr val="1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ground-fade" descr="ground-fade-1400-360.png"/>
          <p:cNvPicPr>
            <a:picLocks noChangeAspect="1"/>
          </p:cNvPicPr>
          <p:nvPr/>
        </p:nvPicPr>
        <p:blipFill>
          <a:blip r:embed="rId2"/>
          <a:stretch>
            <a:fillRect/>
          </a:stretch>
        </p:blipFill>
        <p:spPr>
          <a:xfrm>
            <a:off x="0" y="0"/>
            <a:ext cx="8890000" cy="6858000"/>
          </a:xfrm>
          <a:prstGeom prst="rect">
            <a:avLst/>
          </a:prstGeom>
        </p:spPr>
      </p:pic>
      <p:cxnSp>
        <p:nvCxnSpPr>
          <p:cNvPr id="4" name="motif-line-corridor-corner-0"/>
          <p:cNvCxnSpPr/>
          <p:nvPr/>
        </p:nvCxnSpPr>
        <p:spPr>
          <a:xfrm>
            <a:off x="6731000" y="0"/>
            <a:ext cx="2413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5" name="motif-line-corridor-corner-1"/>
          <p:cNvCxnSpPr/>
          <p:nvPr/>
        </p:nvCxnSpPr>
        <p:spPr>
          <a:xfrm flipH="1">
            <a:off x="10668000" y="0"/>
            <a:ext cx="1524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line-corridor-corner-2"/>
          <p:cNvCxnSpPr/>
          <p:nvPr/>
        </p:nvCxnSpPr>
        <p:spPr>
          <a:xfrm flipV="1">
            <a:off x="6731000" y="4064000"/>
            <a:ext cx="2413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line-corridor-corner-3"/>
          <p:cNvCxnSpPr/>
          <p:nvPr/>
        </p:nvCxnSpPr>
        <p:spPr>
          <a:xfrm flipH="1" flipV="1">
            <a:off x="10668000" y="4064000"/>
            <a:ext cx="1524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line-corridor-top-1"/>
          <p:cNvCxnSpPr/>
          <p:nvPr/>
        </p:nvCxnSpPr>
        <p:spPr>
          <a:xfrm>
            <a:off x="7823200" y="0"/>
            <a:ext cx="1625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line-corridor-floor-1"/>
          <p:cNvCxnSpPr/>
          <p:nvPr/>
        </p:nvCxnSpPr>
        <p:spPr>
          <a:xfrm flipV="1">
            <a:off x="7823200" y="4064000"/>
            <a:ext cx="1625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line-corridor-top-2"/>
          <p:cNvCxnSpPr/>
          <p:nvPr/>
        </p:nvCxnSpPr>
        <p:spPr>
          <a:xfrm>
            <a:off x="8915400" y="0"/>
            <a:ext cx="8382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line-corridor-floor-2"/>
          <p:cNvCxnSpPr/>
          <p:nvPr/>
        </p:nvCxnSpPr>
        <p:spPr>
          <a:xfrm flipV="1">
            <a:off x="8915400" y="4064000"/>
            <a:ext cx="8382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line-corridor-top-3"/>
          <p:cNvCxnSpPr/>
          <p:nvPr/>
        </p:nvCxnSpPr>
        <p:spPr>
          <a:xfrm>
            <a:off x="10007600" y="0"/>
            <a:ext cx="508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corridor-floor-3"/>
          <p:cNvCxnSpPr/>
          <p:nvPr/>
        </p:nvCxnSpPr>
        <p:spPr>
          <a:xfrm flipV="1">
            <a:off x="10007600" y="4064000"/>
            <a:ext cx="508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corridor-top-4"/>
          <p:cNvCxnSpPr/>
          <p:nvPr/>
        </p:nvCxnSpPr>
        <p:spPr>
          <a:xfrm flipH="1">
            <a:off x="10363200" y="0"/>
            <a:ext cx="736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corridor-floor-4"/>
          <p:cNvCxnSpPr/>
          <p:nvPr/>
        </p:nvCxnSpPr>
        <p:spPr>
          <a:xfrm flipH="1" flipV="1">
            <a:off x="10363200" y="4064000"/>
            <a:ext cx="736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corridor-right-1"/>
          <p:cNvCxnSpPr/>
          <p:nvPr/>
        </p:nvCxnSpPr>
        <p:spPr>
          <a:xfrm flipH="1">
            <a:off x="10668000" y="1714500"/>
            <a:ext cx="1524000" cy="1301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7" name="motif-line-corridor-right-2"/>
          <p:cNvCxnSpPr/>
          <p:nvPr/>
        </p:nvCxnSpPr>
        <p:spPr>
          <a:xfrm flipH="1" flipV="1">
            <a:off x="10668000" y="3365500"/>
            <a:ext cx="1524000" cy="635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8" name="motif-line-corridor-right-3"/>
          <p:cNvCxnSpPr/>
          <p:nvPr/>
        </p:nvCxnSpPr>
        <p:spPr>
          <a:xfrm flipH="1" flipV="1">
            <a:off x="10668000" y="3714750"/>
            <a:ext cx="1524000" cy="1428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9" name="motif-line-depth-1-t"/>
          <p:cNvCxnSpPr/>
          <p:nvPr/>
        </p:nvCxnSpPr>
        <p:spPr>
          <a:xfrm>
            <a:off x="7937500" y="1333500"/>
            <a:ext cx="349250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0" name="motif-line-depth-1-b"/>
          <p:cNvCxnSpPr/>
          <p:nvPr/>
        </p:nvCxnSpPr>
        <p:spPr>
          <a:xfrm>
            <a:off x="7937500" y="5461000"/>
            <a:ext cx="349250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1" name="motif-line-depth-1-l"/>
          <p:cNvCxnSpPr/>
          <p:nvPr/>
        </p:nvCxnSpPr>
        <p:spPr>
          <a:xfrm>
            <a:off x="7937500" y="1333500"/>
            <a:ext cx="0" cy="412750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2" name="motif-line-depth-1-r"/>
          <p:cNvCxnSpPr/>
          <p:nvPr/>
        </p:nvCxnSpPr>
        <p:spPr>
          <a:xfrm>
            <a:off x="11430000" y="1333500"/>
            <a:ext cx="0" cy="412750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3" name="motif-line-depth-2-t"/>
          <p:cNvCxnSpPr/>
          <p:nvPr/>
        </p:nvCxnSpPr>
        <p:spPr>
          <a:xfrm>
            <a:off x="8540750" y="2000250"/>
            <a:ext cx="2508250"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4" name="motif-line-depth-2-b"/>
          <p:cNvCxnSpPr/>
          <p:nvPr/>
        </p:nvCxnSpPr>
        <p:spPr>
          <a:xfrm>
            <a:off x="8540750" y="4762500"/>
            <a:ext cx="2508250"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5" name="motif-line-depth-2-l"/>
          <p:cNvCxnSpPr/>
          <p:nvPr/>
        </p:nvCxnSpPr>
        <p:spPr>
          <a:xfrm>
            <a:off x="8540750" y="2000250"/>
            <a:ext cx="0" cy="276225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6" name="motif-line-depth-2-r"/>
          <p:cNvCxnSpPr/>
          <p:nvPr/>
        </p:nvCxnSpPr>
        <p:spPr>
          <a:xfrm>
            <a:off x="11049000" y="2000250"/>
            <a:ext cx="0" cy="276225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62000" y="1410970"/>
            <a:ext cx="5588000" cy="320040"/>
          </a:xfrm>
          <a:prstGeom prst="rect">
            <a:avLst/>
          </a:prstGeom>
          <a:noFill/>
        </p:spPr>
        <p:txBody>
          <a:bodyPr wrap="square" lIns="0" rIns="0" tIns="0" bIns="0" anchor="t">
            <a:spAutoFit/>
          </a:bodyPr>
          <a:lstStyle/>
          <a:p>
            <a:pPr algn="l">
              <a:lnSpc>
                <a:spcPct val="115000"/>
              </a:lnSpc>
            </a:pPr>
            <a:r>
              <a:rPr sz="1800" b="0">
                <a:solidFill>
                  <a:srgbClr val="AFC0D8"/>
                </a:solidFill>
                <a:latin typeface="Plus Jakarta Sans"/>
              </a:rPr>
              <a:t>Part II</a:t>
            </a:r>
          </a:p>
        </p:txBody>
      </p:sp>
      <p:cxnSp>
        <p:nvCxnSpPr>
          <p:cNvPr id="28" name="motif-line-card-rule"/>
          <p:cNvCxnSpPr/>
          <p:nvPr/>
        </p:nvCxnSpPr>
        <p:spPr>
          <a:xfrm>
            <a:off x="762000" y="1858010"/>
            <a:ext cx="3048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62000" y="1985010"/>
            <a:ext cx="5588000" cy="2844800"/>
          </a:xfrm>
          <a:prstGeom prst="rect">
            <a:avLst/>
          </a:prstGeom>
          <a:noFill/>
        </p:spPr>
        <p:txBody>
          <a:bodyPr wrap="square" lIns="0" rIns="0" tIns="0" bIns="0" anchor="t">
            <a:spAutoFit/>
          </a:bodyPr>
          <a:lstStyle/>
          <a:p>
            <a:pPr algn="l">
              <a:lnSpc>
                <a:spcPct val="115000"/>
              </a:lnSpc>
            </a:pPr>
            <a:r>
              <a:rPr sz="8000" b="1">
                <a:solidFill>
                  <a:srgbClr val="F4F6FA"/>
                </a:solidFill>
                <a:latin typeface="Plus Jakarta Sans"/>
              </a:rPr>
              <a:t>The answers</a:t>
            </a:r>
          </a:p>
        </p:txBody>
      </p:sp>
      <p:sp>
        <p:nvSpPr>
          <p:cNvPr id="30" name="TextBox 29"/>
          <p:cNvSpPr txBox="1"/>
          <p:nvPr/>
        </p:nvSpPr>
        <p:spPr>
          <a:xfrm>
            <a:off x="762000" y="5020310"/>
            <a:ext cx="5588000" cy="426719"/>
          </a:xfrm>
          <a:prstGeom prst="rect">
            <a:avLst/>
          </a:prstGeom>
          <a:noFill/>
        </p:spPr>
        <p:txBody>
          <a:bodyPr wrap="square" lIns="0" rIns="0" tIns="0" bIns="0" anchor="t">
            <a:spAutoFit/>
          </a:bodyPr>
          <a:lstStyle/>
          <a:p>
            <a:pPr algn="l">
              <a:lnSpc>
                <a:spcPct val="115000"/>
              </a:lnSpc>
            </a:pPr>
            <a:r>
              <a:rPr sz="2400" b="0">
                <a:solidFill>
                  <a:srgbClr val="AFC0D8"/>
                </a:solidFill>
                <a:latin typeface="Plus Jakarta Sans"/>
              </a:rPr>
              <a:t>Which banks the answers name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302259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BCA, Bank Jago and SeaBank are each named in more than half of all answers</a:t>
            </a:r>
          </a:p>
        </p:txBody>
      </p:sp>
      <p:sp>
        <p:nvSpPr>
          <p:cNvPr id="3" name="TextBox 2"/>
          <p:cNvSpPr txBox="1"/>
          <p:nvPr/>
        </p:nvSpPr>
        <p:spPr>
          <a:xfrm>
            <a:off x="762000" y="415290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BCA and Bank Jago appear in 22 of 40 answers, SeaBank in 21, BRI in 12.</a:t>
            </a:r>
          </a:p>
        </p:txBody>
      </p:sp>
      <p:sp>
        <p:nvSpPr>
          <p:cNvPr id="4" name="ground-panel"/>
          <p:cNvSpPr/>
          <p:nvPr/>
        </p:nvSpPr>
        <p:spPr>
          <a:xfrm>
            <a:off x="4699000" y="1142461"/>
            <a:ext cx="6731000" cy="4509576"/>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4635500" y="107896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4635500" y="107896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1239500" y="107896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1493500" y="107896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4635500" y="571553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4635500" y="546153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1239500" y="571553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1493500" y="546153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mention_dots" descr="mention_dots.png"/>
          <p:cNvPicPr>
            <a:picLocks noChangeAspect="1"/>
          </p:cNvPicPr>
          <p:nvPr/>
        </p:nvPicPr>
        <p:blipFill>
          <a:blip r:embed="rId2"/>
          <a:stretch>
            <a:fillRect/>
          </a:stretch>
        </p:blipFill>
        <p:spPr>
          <a:xfrm>
            <a:off x="4787900" y="1231361"/>
            <a:ext cx="6553200" cy="4331776"/>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 The answers</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11 / 33</a:t>
            </a:r>
          </a:p>
        </p:txBody>
      </p:sp>
      <p:sp>
        <p:nvSpPr>
          <p:cNvPr id="18"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data/processed/brand_engine.csv. Top 10 banks. n = 20 answers per engine</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241807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BCA scores highest, with Bank Jago and BRI close behind</a:t>
            </a:r>
          </a:p>
        </p:txBody>
      </p:sp>
      <p:sp>
        <p:nvSpPr>
          <p:cNvPr id="3" name="TextBox 2"/>
          <p:cNvSpPr txBox="1"/>
          <p:nvPr/>
        </p:nvSpPr>
        <p:spPr>
          <a:xfrm>
            <a:off x="762000" y="3548379"/>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VIS 93.2 for BCA, then Bank Jago 89.6, BRI 89.5 and SeaBank 85.7.</a:t>
            </a:r>
          </a:p>
        </p:txBody>
      </p:sp>
      <p:sp>
        <p:nvSpPr>
          <p:cNvPr id="4" name="TextBox 3"/>
          <p:cNvSpPr txBox="1"/>
          <p:nvPr/>
        </p:nvSpPr>
        <p:spPr>
          <a:xfrm>
            <a:off x="762000" y="4170679"/>
            <a:ext cx="3683000" cy="800099"/>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7 banks named in fewer than 3 answers are left off the chart: one or two answers is too few to rank.</a:t>
            </a:r>
          </a:p>
        </p:txBody>
      </p:sp>
      <p:sp>
        <p:nvSpPr>
          <p:cNvPr id="5" name="ground-panel"/>
          <p:cNvSpPr/>
          <p:nvPr/>
        </p:nvSpPr>
        <p:spPr>
          <a:xfrm>
            <a:off x="4699000" y="1364604"/>
            <a:ext cx="6731000" cy="4065291"/>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motif-bracket-tl-h"/>
          <p:cNvCxnSpPr/>
          <p:nvPr/>
        </p:nvCxnSpPr>
        <p:spPr>
          <a:xfrm>
            <a:off x="4635500" y="1301104"/>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l-v"/>
          <p:cNvCxnSpPr/>
          <p:nvPr/>
        </p:nvCxnSpPr>
        <p:spPr>
          <a:xfrm>
            <a:off x="4635500" y="1301104"/>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h"/>
          <p:cNvCxnSpPr/>
          <p:nvPr/>
        </p:nvCxnSpPr>
        <p:spPr>
          <a:xfrm flipH="1">
            <a:off x="11239500" y="1301104"/>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v"/>
          <p:cNvCxnSpPr/>
          <p:nvPr/>
        </p:nvCxnSpPr>
        <p:spPr>
          <a:xfrm>
            <a:off x="11493500" y="1301104"/>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h"/>
          <p:cNvCxnSpPr/>
          <p:nvPr/>
        </p:nvCxnSpPr>
        <p:spPr>
          <a:xfrm>
            <a:off x="4635500" y="5493395"/>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v"/>
          <p:cNvCxnSpPr/>
          <p:nvPr/>
        </p:nvCxnSpPr>
        <p:spPr>
          <a:xfrm flipV="1">
            <a:off x="4635500" y="5239395"/>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h"/>
          <p:cNvCxnSpPr/>
          <p:nvPr/>
        </p:nvCxnSpPr>
        <p:spPr>
          <a:xfrm flipH="1">
            <a:off x="11239500" y="5493395"/>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v"/>
          <p:cNvCxnSpPr/>
          <p:nvPr/>
        </p:nvCxnSpPr>
        <p:spPr>
          <a:xfrm flipV="1">
            <a:off x="11493500" y="5239395"/>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4" name="chart-vis_rank" descr="vis_rank.png"/>
          <p:cNvPicPr>
            <a:picLocks noChangeAspect="1"/>
          </p:cNvPicPr>
          <p:nvPr/>
        </p:nvPicPr>
        <p:blipFill>
          <a:blip r:embed="rId2"/>
          <a:stretch>
            <a:fillRect/>
          </a:stretch>
        </p:blipFill>
        <p:spPr>
          <a:xfrm>
            <a:off x="4787900" y="1453504"/>
            <a:ext cx="6553200" cy="3887491"/>
          </a:xfrm>
          <a:prstGeom prst="rect">
            <a:avLst/>
          </a:prstGeom>
        </p:spPr>
      </p:pic>
      <p:cxnSp>
        <p:nvCxnSpPr>
          <p:cNvPr id="15"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6"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 The answers</a:t>
            </a:r>
          </a:p>
        </p:txBody>
      </p:sp>
      <p:cxnSp>
        <p:nvCxnSpPr>
          <p:cNvPr id="17"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8"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12 / 33</a:t>
            </a:r>
          </a:p>
        </p:txBody>
      </p:sp>
      <p:sp>
        <p:nvSpPr>
          <p:cNvPr id="19"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data/processed/vis.csv. n = 40 answers</a:t>
            </a:r>
          </a:p>
        </p:txBody>
      </p:sp>
      <p:cxnSp>
        <p:nvCxnSpPr>
          <p:cNvPr id="2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2"/>
          <p:cNvCxnSpPr/>
          <p:nvPr/>
        </p:nvCxnSpPr>
        <p:spPr>
          <a:xfrm>
            <a:off x="8667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2" name="motif-line-tick-13"/>
          <p:cNvCxnSpPr/>
          <p:nvPr/>
        </p:nvCxnSpPr>
        <p:spPr>
          <a:xfrm>
            <a:off x="8763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3"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10668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Gemini names a wider field: 18 banks against ChatGPT's 11</a:t>
            </a:r>
          </a:p>
        </p:txBody>
      </p:sp>
      <p:sp>
        <p:nvSpPr>
          <p:cNvPr id="3" name="TextBox 2"/>
          <p:cNvSpPr txBox="1"/>
          <p:nvPr/>
        </p:nvSpPr>
        <p:spPr>
          <a:xfrm>
            <a:off x="762000" y="2032000"/>
            <a:ext cx="8890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Full-colour circles are banks only one engine named. Gemini alone named Bank BTPN (Jenius) in 5 answers and Superbank in 4.</a:t>
            </a:r>
          </a:p>
        </p:txBody>
      </p:sp>
      <p:sp>
        <p:nvSpPr>
          <p:cNvPr id="4" name="ground-panel"/>
          <p:cNvSpPr/>
          <p:nvPr/>
        </p:nvSpPr>
        <p:spPr>
          <a:xfrm>
            <a:off x="1166988" y="2679700"/>
            <a:ext cx="9858022" cy="3289300"/>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1103488" y="26162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1103488" y="26162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0834511" y="26162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1088511" y="26162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1103488"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1103488"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0834511"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1088511"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wider_field" descr="wider_field.png"/>
          <p:cNvPicPr>
            <a:picLocks noChangeAspect="1"/>
          </p:cNvPicPr>
          <p:nvPr/>
        </p:nvPicPr>
        <p:blipFill>
          <a:blip r:embed="rId2"/>
          <a:stretch>
            <a:fillRect/>
          </a:stretch>
        </p:blipFill>
        <p:spPr>
          <a:xfrm>
            <a:off x="1255888" y="2768600"/>
            <a:ext cx="9680222" cy="3111500"/>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 The answers</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13 / 33</a:t>
            </a:r>
          </a:p>
        </p:txBody>
      </p:sp>
      <p:sp>
        <p:nvSpPr>
          <p:cNvPr id="18"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data/processed/brand_engine.csv. n = 20 answers per engine</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10668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No bank leads every customer need, and no lead is more than one answer</a:t>
            </a:r>
          </a:p>
        </p:txBody>
      </p:sp>
      <p:sp>
        <p:nvSpPr>
          <p:cNvPr id="3" name="TextBox 2"/>
          <p:cNvSpPr txBox="1"/>
          <p:nvPr/>
        </p:nvSpPr>
        <p:spPr>
          <a:xfrm>
            <a:off x="762000" y="2032000"/>
            <a:ext cx="8890000" cy="800099"/>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Counted on the 17 prompts that name no bank. Fees and rates: Bank Jago, Krom Bank and SeaBank, 6 of 8. Digital experience: Bank Jago and SeaBank, 6 of 6. Safety: Bank Jago, 5 of 8. Service: BCA, 4 of 6. Trust: BCA, 3 of 6.</a:t>
            </a:r>
          </a:p>
        </p:txBody>
      </p:sp>
      <p:sp>
        <p:nvSpPr>
          <p:cNvPr id="4" name="ground-panel"/>
          <p:cNvSpPr/>
          <p:nvPr/>
        </p:nvSpPr>
        <p:spPr>
          <a:xfrm>
            <a:off x="1739900" y="2946400"/>
            <a:ext cx="8712200" cy="3022600"/>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1676400" y="28829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1676400" y="28829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0261600" y="28829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0515600" y="28829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1676400"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1676400"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0261600"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0515600"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pillar_heatmap" descr="pillar_heatmap.png"/>
          <p:cNvPicPr>
            <a:picLocks noChangeAspect="1"/>
          </p:cNvPicPr>
          <p:nvPr/>
        </p:nvPicPr>
        <p:blipFill>
          <a:blip r:embed="rId2"/>
          <a:stretch>
            <a:fillRect/>
          </a:stretch>
        </p:blipFill>
        <p:spPr>
          <a:xfrm>
            <a:off x="1828800" y="3035300"/>
            <a:ext cx="8534400" cy="2844800"/>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 The answers</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14 / 33</a:t>
            </a:r>
          </a:p>
        </p:txBody>
      </p:sp>
      <p:sp>
        <p:nvSpPr>
          <p:cNvPr id="18"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data/interim/answers.csv, mentions.csv. Share of a need's answers that name the bank. n = 34 answers</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241807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Banks named in more answers also get named earlier</a:t>
            </a:r>
          </a:p>
        </p:txBody>
      </p:sp>
      <p:sp>
        <p:nvSpPr>
          <p:cNvPr id="3" name="TextBox 2"/>
          <p:cNvSpPr txBox="1"/>
          <p:nvPr/>
        </p:nvSpPr>
        <p:spPr>
          <a:xfrm>
            <a:off x="762000" y="3548379"/>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BCA and Bank Jago lead on both measures.</a:t>
            </a:r>
          </a:p>
        </p:txBody>
      </p:sp>
      <p:sp>
        <p:nvSpPr>
          <p:cNvPr id="4" name="TextBox 3"/>
          <p:cNvSpPr txBox="1"/>
          <p:nvPr/>
        </p:nvSpPr>
        <p:spPr>
          <a:xfrm>
            <a:off x="762000" y="4170679"/>
            <a:ext cx="3683000" cy="10668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BRI scores higher on PAWC than SeaBank while appearing in fewer answers: when BRI is named, it takes up more of the answer.</a:t>
            </a:r>
          </a:p>
        </p:txBody>
      </p:sp>
      <p:sp>
        <p:nvSpPr>
          <p:cNvPr id="5" name="ground-panel"/>
          <p:cNvSpPr/>
          <p:nvPr/>
        </p:nvSpPr>
        <p:spPr>
          <a:xfrm>
            <a:off x="4699000" y="1531211"/>
            <a:ext cx="6731000" cy="3732077"/>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motif-bracket-tl-h"/>
          <p:cNvCxnSpPr/>
          <p:nvPr/>
        </p:nvCxnSpPr>
        <p:spPr>
          <a:xfrm>
            <a:off x="4635500" y="146771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l-v"/>
          <p:cNvCxnSpPr/>
          <p:nvPr/>
        </p:nvCxnSpPr>
        <p:spPr>
          <a:xfrm>
            <a:off x="4635500" y="146771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h"/>
          <p:cNvCxnSpPr/>
          <p:nvPr/>
        </p:nvCxnSpPr>
        <p:spPr>
          <a:xfrm flipH="1">
            <a:off x="11239500" y="146771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v"/>
          <p:cNvCxnSpPr/>
          <p:nvPr/>
        </p:nvCxnSpPr>
        <p:spPr>
          <a:xfrm>
            <a:off x="11493500" y="146771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h"/>
          <p:cNvCxnSpPr/>
          <p:nvPr/>
        </p:nvCxnSpPr>
        <p:spPr>
          <a:xfrm>
            <a:off x="4635500" y="532678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v"/>
          <p:cNvCxnSpPr/>
          <p:nvPr/>
        </p:nvCxnSpPr>
        <p:spPr>
          <a:xfrm flipV="1">
            <a:off x="4635500" y="507278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h"/>
          <p:cNvCxnSpPr/>
          <p:nvPr/>
        </p:nvCxnSpPr>
        <p:spPr>
          <a:xfrm flipH="1">
            <a:off x="11239500" y="532678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v"/>
          <p:cNvCxnSpPr/>
          <p:nvPr/>
        </p:nvCxnSpPr>
        <p:spPr>
          <a:xfrm flipV="1">
            <a:off x="11493500" y="507278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4" name="chart-often_vs_early" descr="often_vs_early.png"/>
          <p:cNvPicPr>
            <a:picLocks noChangeAspect="1"/>
          </p:cNvPicPr>
          <p:nvPr/>
        </p:nvPicPr>
        <p:blipFill>
          <a:blip r:embed="rId2"/>
          <a:stretch>
            <a:fillRect/>
          </a:stretch>
        </p:blipFill>
        <p:spPr>
          <a:xfrm>
            <a:off x="4787900" y="1620111"/>
            <a:ext cx="6553200" cy="3554277"/>
          </a:xfrm>
          <a:prstGeom prst="rect">
            <a:avLst/>
          </a:prstGeom>
        </p:spPr>
      </p:pic>
      <p:cxnSp>
        <p:nvCxnSpPr>
          <p:cNvPr id="15"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6"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 The answers</a:t>
            </a:r>
          </a:p>
        </p:txBody>
      </p:sp>
      <p:cxnSp>
        <p:nvCxnSpPr>
          <p:cNvPr id="17"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8"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15 / 33</a:t>
            </a:r>
          </a:p>
        </p:txBody>
      </p:sp>
      <p:sp>
        <p:nvSpPr>
          <p:cNvPr id="19"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data/processed/brand_engine.csv. Banks named in at least 3 answers. n = 40 answers</a:t>
            </a:r>
          </a:p>
        </p:txBody>
      </p:sp>
      <p:cxnSp>
        <p:nvCxnSpPr>
          <p:cNvPr id="2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5"/>
          <p:cNvCxnSpPr/>
          <p:nvPr/>
        </p:nvCxnSpPr>
        <p:spPr>
          <a:xfrm>
            <a:off x="89535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5" name="motif-line-tick-16"/>
          <p:cNvCxnSpPr/>
          <p:nvPr/>
        </p:nvCxnSpPr>
        <p:spPr>
          <a:xfrm>
            <a:off x="9048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5334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No answer was negative about a bank</a:t>
            </a:r>
          </a:p>
        </p:txBody>
      </p:sp>
      <p:sp>
        <p:nvSpPr>
          <p:cNvPr id="3" name="TextBox 2"/>
          <p:cNvSpPr txBox="1"/>
          <p:nvPr/>
        </p:nvSpPr>
        <p:spPr>
          <a:xfrm>
            <a:off x="762000" y="1498600"/>
            <a:ext cx="8890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Of 137 answer and bank pairs, 117 are positive. The 6 mixed labels attach a condition, such as a minimum balance for free transfers.</a:t>
            </a:r>
          </a:p>
        </p:txBody>
      </p:sp>
      <p:sp>
        <p:nvSpPr>
          <p:cNvPr id="4" name="ground-panel"/>
          <p:cNvSpPr/>
          <p:nvPr/>
        </p:nvSpPr>
        <p:spPr>
          <a:xfrm>
            <a:off x="762000" y="2782358"/>
            <a:ext cx="10668000" cy="2550583"/>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698500" y="271885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698500" y="271885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1239500" y="271885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1493500" y="271885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698500" y="539644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698500" y="514244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1239500" y="539644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1493500" y="514244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sentiment_marks" descr="sentiment_marks.png"/>
          <p:cNvPicPr>
            <a:picLocks noChangeAspect="1"/>
          </p:cNvPicPr>
          <p:nvPr/>
        </p:nvPicPr>
        <p:blipFill>
          <a:blip r:embed="rId2"/>
          <a:stretch>
            <a:fillRect/>
          </a:stretch>
        </p:blipFill>
        <p:spPr>
          <a:xfrm>
            <a:off x="850900" y="2871258"/>
            <a:ext cx="10490200" cy="2372783"/>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 The answers</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16 / 33</a:t>
            </a:r>
          </a:p>
        </p:txBody>
      </p:sp>
      <p:sp>
        <p:nvSpPr>
          <p:cNvPr id="18"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data/labels/sentiment.csv. Labelled by Claude, spot-checked by RG. n = 137 pairs</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181355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How-to answers rarely name a bank</a:t>
            </a:r>
          </a:p>
        </p:txBody>
      </p:sp>
      <p:sp>
        <p:nvSpPr>
          <p:cNvPr id="3" name="TextBox 2"/>
          <p:cNvSpPr txBox="1"/>
          <p:nvPr/>
        </p:nvSpPr>
        <p:spPr>
          <a:xfrm>
            <a:off x="762000" y="294386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Every best and decision-brief answer named at least one bank.</a:t>
            </a:r>
          </a:p>
        </p:txBody>
      </p:sp>
      <p:sp>
        <p:nvSpPr>
          <p:cNvPr id="4" name="TextBox 3"/>
          <p:cNvSpPr txBox="1"/>
          <p:nvPr/>
        </p:nvSpPr>
        <p:spPr>
          <a:xfrm>
            <a:off x="762000" y="3566159"/>
            <a:ext cx="3683000" cy="10668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Only 1 of 6 how-to answers did. Explainers on deposit insurance, scams and complaints look like a gap for banks.</a:t>
            </a:r>
          </a:p>
        </p:txBody>
      </p:sp>
      <p:sp>
        <p:nvSpPr>
          <p:cNvPr id="5" name="ground-panel"/>
          <p:cNvSpPr/>
          <p:nvPr/>
        </p:nvSpPr>
        <p:spPr>
          <a:xfrm>
            <a:off x="4699000" y="1878560"/>
            <a:ext cx="6731000" cy="3037378"/>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motif-bracket-tl-h"/>
          <p:cNvCxnSpPr/>
          <p:nvPr/>
        </p:nvCxnSpPr>
        <p:spPr>
          <a:xfrm>
            <a:off x="4635500" y="181506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l-v"/>
          <p:cNvCxnSpPr/>
          <p:nvPr/>
        </p:nvCxnSpPr>
        <p:spPr>
          <a:xfrm>
            <a:off x="4635500" y="181506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h"/>
          <p:cNvCxnSpPr/>
          <p:nvPr/>
        </p:nvCxnSpPr>
        <p:spPr>
          <a:xfrm flipH="1">
            <a:off x="11239500" y="181506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v"/>
          <p:cNvCxnSpPr/>
          <p:nvPr/>
        </p:nvCxnSpPr>
        <p:spPr>
          <a:xfrm>
            <a:off x="11493500" y="181506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h"/>
          <p:cNvCxnSpPr/>
          <p:nvPr/>
        </p:nvCxnSpPr>
        <p:spPr>
          <a:xfrm>
            <a:off x="4635500" y="4979439"/>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v"/>
          <p:cNvCxnSpPr/>
          <p:nvPr/>
        </p:nvCxnSpPr>
        <p:spPr>
          <a:xfrm flipV="1">
            <a:off x="4635500" y="4725439"/>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h"/>
          <p:cNvCxnSpPr/>
          <p:nvPr/>
        </p:nvCxnSpPr>
        <p:spPr>
          <a:xfrm flipH="1">
            <a:off x="11239500" y="4979439"/>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v"/>
          <p:cNvCxnSpPr/>
          <p:nvPr/>
        </p:nvCxnSpPr>
        <p:spPr>
          <a:xfrm flipV="1">
            <a:off x="11493500" y="4725439"/>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4" name="chart-intent_named" descr="intent_named.png"/>
          <p:cNvPicPr>
            <a:picLocks noChangeAspect="1"/>
          </p:cNvPicPr>
          <p:nvPr/>
        </p:nvPicPr>
        <p:blipFill>
          <a:blip r:embed="rId2"/>
          <a:stretch>
            <a:fillRect/>
          </a:stretch>
        </p:blipFill>
        <p:spPr>
          <a:xfrm>
            <a:off x="4787900" y="1967460"/>
            <a:ext cx="6553200" cy="2859578"/>
          </a:xfrm>
          <a:prstGeom prst="rect">
            <a:avLst/>
          </a:prstGeom>
        </p:spPr>
      </p:pic>
      <p:cxnSp>
        <p:nvCxnSpPr>
          <p:cNvPr id="15"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6"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 The answers</a:t>
            </a:r>
          </a:p>
        </p:txBody>
      </p:sp>
      <p:cxnSp>
        <p:nvCxnSpPr>
          <p:cNvPr id="17"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8"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17 / 33</a:t>
            </a:r>
          </a:p>
        </p:txBody>
      </p:sp>
      <p:sp>
        <p:nvSpPr>
          <p:cNvPr id="19"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data/processed/no_brand_rate.csv. n = 40 answers</a:t>
            </a:r>
          </a:p>
        </p:txBody>
      </p:sp>
      <p:cxnSp>
        <p:nvCxnSpPr>
          <p:cNvPr id="2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7"/>
          <p:cNvCxnSpPr/>
          <p:nvPr/>
        </p:nvCxnSpPr>
        <p:spPr>
          <a:xfrm>
            <a:off x="91440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7" name="motif-line-tick-18"/>
          <p:cNvCxnSpPr/>
          <p:nvPr/>
        </p:nvCxnSpPr>
        <p:spPr>
          <a:xfrm>
            <a:off x="9239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8" name="motif-line-tick-19"/>
          <p:cNvCxnSpPr/>
          <p:nvPr/>
        </p:nvCxnSpPr>
        <p:spPr>
          <a:xfrm>
            <a:off x="9334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photo-slot"/>
          <p:cNvSpPr/>
          <p:nvPr/>
        </p:nvSpPr>
        <p:spPr>
          <a:xfrm>
            <a:off x="0" y="0"/>
            <a:ext cx="12192000" cy="6858000"/>
          </a:xfrm>
          <a:prstGeom prst="rect">
            <a:avLst/>
          </a:prstGeom>
          <a:solidFill>
            <a:srgbClr val="1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ground-fade" descr="ground-fade-1400-360.png"/>
          <p:cNvPicPr>
            <a:picLocks noChangeAspect="1"/>
          </p:cNvPicPr>
          <p:nvPr/>
        </p:nvPicPr>
        <p:blipFill>
          <a:blip r:embed="rId2"/>
          <a:stretch>
            <a:fillRect/>
          </a:stretch>
        </p:blipFill>
        <p:spPr>
          <a:xfrm>
            <a:off x="0" y="0"/>
            <a:ext cx="8890000" cy="6858000"/>
          </a:xfrm>
          <a:prstGeom prst="rect">
            <a:avLst/>
          </a:prstGeom>
        </p:spPr>
      </p:pic>
      <p:cxnSp>
        <p:nvCxnSpPr>
          <p:cNvPr id="4" name="motif-line-corridor-corner-0"/>
          <p:cNvCxnSpPr/>
          <p:nvPr/>
        </p:nvCxnSpPr>
        <p:spPr>
          <a:xfrm>
            <a:off x="6731000" y="0"/>
            <a:ext cx="2413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5" name="motif-line-corridor-corner-1"/>
          <p:cNvCxnSpPr/>
          <p:nvPr/>
        </p:nvCxnSpPr>
        <p:spPr>
          <a:xfrm flipH="1">
            <a:off x="10668000" y="0"/>
            <a:ext cx="1524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line-corridor-corner-2"/>
          <p:cNvCxnSpPr/>
          <p:nvPr/>
        </p:nvCxnSpPr>
        <p:spPr>
          <a:xfrm flipV="1">
            <a:off x="6731000" y="4064000"/>
            <a:ext cx="2413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line-corridor-corner-3"/>
          <p:cNvCxnSpPr/>
          <p:nvPr/>
        </p:nvCxnSpPr>
        <p:spPr>
          <a:xfrm flipH="1" flipV="1">
            <a:off x="10668000" y="4064000"/>
            <a:ext cx="1524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line-corridor-top-1"/>
          <p:cNvCxnSpPr/>
          <p:nvPr/>
        </p:nvCxnSpPr>
        <p:spPr>
          <a:xfrm>
            <a:off x="7823200" y="0"/>
            <a:ext cx="1625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line-corridor-floor-1"/>
          <p:cNvCxnSpPr/>
          <p:nvPr/>
        </p:nvCxnSpPr>
        <p:spPr>
          <a:xfrm flipV="1">
            <a:off x="7823200" y="4064000"/>
            <a:ext cx="1625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line-corridor-top-2"/>
          <p:cNvCxnSpPr/>
          <p:nvPr/>
        </p:nvCxnSpPr>
        <p:spPr>
          <a:xfrm>
            <a:off x="8915400" y="0"/>
            <a:ext cx="8382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line-corridor-floor-2"/>
          <p:cNvCxnSpPr/>
          <p:nvPr/>
        </p:nvCxnSpPr>
        <p:spPr>
          <a:xfrm flipV="1">
            <a:off x="8915400" y="4064000"/>
            <a:ext cx="8382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line-corridor-top-3"/>
          <p:cNvCxnSpPr/>
          <p:nvPr/>
        </p:nvCxnSpPr>
        <p:spPr>
          <a:xfrm>
            <a:off x="10007600" y="0"/>
            <a:ext cx="508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corridor-floor-3"/>
          <p:cNvCxnSpPr/>
          <p:nvPr/>
        </p:nvCxnSpPr>
        <p:spPr>
          <a:xfrm flipV="1">
            <a:off x="10007600" y="4064000"/>
            <a:ext cx="508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corridor-top-4"/>
          <p:cNvCxnSpPr/>
          <p:nvPr/>
        </p:nvCxnSpPr>
        <p:spPr>
          <a:xfrm flipH="1">
            <a:off x="10363200" y="0"/>
            <a:ext cx="736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corridor-floor-4"/>
          <p:cNvCxnSpPr/>
          <p:nvPr/>
        </p:nvCxnSpPr>
        <p:spPr>
          <a:xfrm flipH="1" flipV="1">
            <a:off x="10363200" y="4064000"/>
            <a:ext cx="736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corridor-right-1"/>
          <p:cNvCxnSpPr/>
          <p:nvPr/>
        </p:nvCxnSpPr>
        <p:spPr>
          <a:xfrm flipH="1">
            <a:off x="10668000" y="1714500"/>
            <a:ext cx="1524000" cy="1301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7" name="motif-line-corridor-right-2"/>
          <p:cNvCxnSpPr/>
          <p:nvPr/>
        </p:nvCxnSpPr>
        <p:spPr>
          <a:xfrm flipH="1" flipV="1">
            <a:off x="10668000" y="3365500"/>
            <a:ext cx="1524000" cy="635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8" name="motif-line-corridor-right-3"/>
          <p:cNvCxnSpPr/>
          <p:nvPr/>
        </p:nvCxnSpPr>
        <p:spPr>
          <a:xfrm flipH="1" flipV="1">
            <a:off x="10668000" y="3714750"/>
            <a:ext cx="1524000" cy="1428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9" name="motif-line-depth-1-t"/>
          <p:cNvCxnSpPr/>
          <p:nvPr/>
        </p:nvCxnSpPr>
        <p:spPr>
          <a:xfrm>
            <a:off x="7937500" y="1333500"/>
            <a:ext cx="349250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0" name="motif-line-depth-1-b"/>
          <p:cNvCxnSpPr/>
          <p:nvPr/>
        </p:nvCxnSpPr>
        <p:spPr>
          <a:xfrm>
            <a:off x="7937500" y="5461000"/>
            <a:ext cx="349250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1" name="motif-line-depth-1-l"/>
          <p:cNvCxnSpPr/>
          <p:nvPr/>
        </p:nvCxnSpPr>
        <p:spPr>
          <a:xfrm>
            <a:off x="7937500" y="1333500"/>
            <a:ext cx="0" cy="412750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2" name="motif-line-depth-1-r"/>
          <p:cNvCxnSpPr/>
          <p:nvPr/>
        </p:nvCxnSpPr>
        <p:spPr>
          <a:xfrm>
            <a:off x="11430000" y="1333500"/>
            <a:ext cx="0" cy="412750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3" name="motif-line-depth-2-t"/>
          <p:cNvCxnSpPr/>
          <p:nvPr/>
        </p:nvCxnSpPr>
        <p:spPr>
          <a:xfrm>
            <a:off x="8540750" y="2000250"/>
            <a:ext cx="250825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4" name="motif-line-depth-2-b"/>
          <p:cNvCxnSpPr/>
          <p:nvPr/>
        </p:nvCxnSpPr>
        <p:spPr>
          <a:xfrm>
            <a:off x="8540750" y="4762500"/>
            <a:ext cx="250825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5" name="motif-line-depth-2-l"/>
          <p:cNvCxnSpPr/>
          <p:nvPr/>
        </p:nvCxnSpPr>
        <p:spPr>
          <a:xfrm>
            <a:off x="8540750" y="2000250"/>
            <a:ext cx="0" cy="276225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6" name="motif-line-depth-2-r"/>
          <p:cNvCxnSpPr/>
          <p:nvPr/>
        </p:nvCxnSpPr>
        <p:spPr>
          <a:xfrm>
            <a:off x="11049000" y="2000250"/>
            <a:ext cx="0" cy="276225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7" name="motif-line-depth-3-t"/>
          <p:cNvCxnSpPr/>
          <p:nvPr/>
        </p:nvCxnSpPr>
        <p:spPr>
          <a:xfrm>
            <a:off x="8842375" y="2333625"/>
            <a:ext cx="2016125"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8" name="motif-line-depth-3-b"/>
          <p:cNvCxnSpPr/>
          <p:nvPr/>
        </p:nvCxnSpPr>
        <p:spPr>
          <a:xfrm>
            <a:off x="8842375" y="4413250"/>
            <a:ext cx="2016125"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29" name="motif-line-depth-3-l"/>
          <p:cNvCxnSpPr/>
          <p:nvPr/>
        </p:nvCxnSpPr>
        <p:spPr>
          <a:xfrm>
            <a:off x="8842375" y="2333625"/>
            <a:ext cx="0" cy="2079625"/>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0" name="motif-line-depth-3-r"/>
          <p:cNvCxnSpPr/>
          <p:nvPr/>
        </p:nvCxnSpPr>
        <p:spPr>
          <a:xfrm>
            <a:off x="10858500" y="2333625"/>
            <a:ext cx="0" cy="2079625"/>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62000" y="1410970"/>
            <a:ext cx="5588000" cy="320040"/>
          </a:xfrm>
          <a:prstGeom prst="rect">
            <a:avLst/>
          </a:prstGeom>
          <a:noFill/>
        </p:spPr>
        <p:txBody>
          <a:bodyPr wrap="square" lIns="0" rIns="0" tIns="0" bIns="0" anchor="t">
            <a:spAutoFit/>
          </a:bodyPr>
          <a:lstStyle/>
          <a:p>
            <a:pPr algn="l">
              <a:lnSpc>
                <a:spcPct val="115000"/>
              </a:lnSpc>
            </a:pPr>
            <a:r>
              <a:rPr sz="1800" b="0">
                <a:solidFill>
                  <a:srgbClr val="AFC0D8"/>
                </a:solidFill>
                <a:latin typeface="Plus Jakarta Sans"/>
              </a:rPr>
              <a:t>Part III</a:t>
            </a:r>
          </a:p>
        </p:txBody>
      </p:sp>
      <p:cxnSp>
        <p:nvCxnSpPr>
          <p:cNvPr id="32" name="motif-line-card-rule"/>
          <p:cNvCxnSpPr/>
          <p:nvPr/>
        </p:nvCxnSpPr>
        <p:spPr>
          <a:xfrm>
            <a:off x="762000" y="1858010"/>
            <a:ext cx="3048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62000" y="1985010"/>
            <a:ext cx="5588000" cy="2844800"/>
          </a:xfrm>
          <a:prstGeom prst="rect">
            <a:avLst/>
          </a:prstGeom>
          <a:noFill/>
        </p:spPr>
        <p:txBody>
          <a:bodyPr wrap="square" lIns="0" rIns="0" tIns="0" bIns="0" anchor="t">
            <a:spAutoFit/>
          </a:bodyPr>
          <a:lstStyle/>
          <a:p>
            <a:pPr algn="l">
              <a:lnSpc>
                <a:spcPct val="115000"/>
              </a:lnSpc>
            </a:pPr>
            <a:r>
              <a:rPr sz="8000" b="1">
                <a:solidFill>
                  <a:srgbClr val="F4F6FA"/>
                </a:solidFill>
                <a:latin typeface="Plus Jakarta Sans"/>
              </a:rPr>
              <a:t>The sources</a:t>
            </a:r>
          </a:p>
        </p:txBody>
      </p:sp>
      <p:sp>
        <p:nvSpPr>
          <p:cNvPr id="34" name="TextBox 33"/>
          <p:cNvSpPr txBox="1"/>
          <p:nvPr/>
        </p:nvSpPr>
        <p:spPr>
          <a:xfrm>
            <a:off x="762000" y="5020310"/>
            <a:ext cx="5588000" cy="426719"/>
          </a:xfrm>
          <a:prstGeom prst="rect">
            <a:avLst/>
          </a:prstGeom>
          <a:noFill/>
        </p:spPr>
        <p:txBody>
          <a:bodyPr wrap="square" lIns="0" rIns="0" tIns="0" bIns="0" anchor="t">
            <a:spAutoFit/>
          </a:bodyPr>
          <a:lstStyle/>
          <a:p>
            <a:pPr algn="l">
              <a:lnSpc>
                <a:spcPct val="115000"/>
              </a:lnSpc>
            </a:pPr>
            <a:r>
              <a:rPr sz="2400" b="0">
                <a:solidFill>
                  <a:srgbClr val="AFC0D8"/>
                </a:solidFill>
                <a:latin typeface="Plus Jakarta Sans"/>
              </a:rPr>
              <a:t>Which pages each engine cites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10668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ChatGPT cites banks and regulators. Gemini cites fintech, blog and news sites.</a:t>
            </a:r>
          </a:p>
        </p:txBody>
      </p:sp>
      <p:sp>
        <p:nvSpPr>
          <p:cNvPr id="3" name="TextBox 2"/>
          <p:cNvSpPr txBox="1"/>
          <p:nvPr/>
        </p:nvSpPr>
        <p:spPr>
          <a:xfrm>
            <a:off x="762000" y="2032000"/>
            <a:ext cx="8890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89% of ChatGPT's citations go to bank and regulator sites. 61% of Gemini's go to fintech platforms, blogs and news.</a:t>
            </a:r>
          </a:p>
        </p:txBody>
      </p:sp>
      <p:sp>
        <p:nvSpPr>
          <p:cNvPr id="4" name="ground-panel"/>
          <p:cNvSpPr/>
          <p:nvPr/>
        </p:nvSpPr>
        <p:spPr>
          <a:xfrm>
            <a:off x="762000" y="2799291"/>
            <a:ext cx="10668000" cy="3050116"/>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698500" y="273579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698500" y="273579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1239500" y="273579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1493500" y="273579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698500" y="591290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698500" y="565890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1239500" y="591290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1493500" y="565890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source_mix" descr="source_mix.png"/>
          <p:cNvPicPr>
            <a:picLocks noChangeAspect="1"/>
          </p:cNvPicPr>
          <p:nvPr/>
        </p:nvPicPr>
        <p:blipFill>
          <a:blip r:embed="rId2"/>
          <a:stretch>
            <a:fillRect/>
          </a:stretch>
        </p:blipFill>
        <p:spPr>
          <a:xfrm>
            <a:off x="850900" y="2888191"/>
            <a:ext cx="10490200" cy="2872316"/>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19 / 33</a:t>
            </a:r>
          </a:p>
        </p:txBody>
      </p:sp>
      <p:sp>
        <p:nvSpPr>
          <p:cNvPr id="18"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data/processed/domain_type_mix.csv. Shares rounded on their own, sums can differ by 1 point. n = 199 and 200 citations</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2489200"/>
          </a:xfrm>
          <a:prstGeom prst="rect">
            <a:avLst/>
          </a:prstGeom>
          <a:noFill/>
        </p:spPr>
        <p:txBody>
          <a:bodyPr wrap="square" lIns="0" rIns="0" tIns="0" bIns="0" anchor="t">
            <a:spAutoFit/>
          </a:bodyPr>
          <a:lstStyle/>
          <a:p>
            <a:pPr algn="l">
              <a:lnSpc>
                <a:spcPct val="115000"/>
              </a:lnSpc>
            </a:pPr>
            <a:r>
              <a:rPr sz="2800" b="1">
                <a:solidFill>
                  <a:srgbClr val="F4F6FA"/>
                </a:solidFill>
                <a:latin typeface="Plus Jakarta Sans"/>
              </a:rPr>
              <a:t>The engines share sites more than pages: 21 of 97 sites, 11 of 243 pages</a:t>
            </a:r>
          </a:p>
        </p:txBody>
      </p:sp>
      <p:sp>
        <p:nvSpPr>
          <p:cNvPr id="3" name="TextBox 2"/>
          <p:cNvSpPr txBox="1"/>
          <p:nvPr/>
        </p:nvSpPr>
        <p:spPr>
          <a:xfrm>
            <a:off x="762000" y="3619500"/>
            <a:ext cx="3683000" cy="995679"/>
          </a:xfrm>
          <a:prstGeom prst="rect">
            <a:avLst/>
          </a:prstGeom>
          <a:noFill/>
        </p:spPr>
        <p:txBody>
          <a:bodyPr wrap="square" lIns="0" rIns="0" tIns="0" bIns="0" anchor="t">
            <a:spAutoFit/>
          </a:bodyPr>
          <a:lstStyle/>
          <a:p>
            <a:pPr algn="l">
              <a:lnSpc>
                <a:spcPct val="115000"/>
              </a:lnSpc>
            </a:pPr>
            <a:r>
              <a:rPr sz="1400" b="0">
                <a:solidFill>
                  <a:srgbClr val="AFC0D8"/>
                </a:solidFill>
                <a:latin typeface="Plus Jakarta Sans"/>
              </a:rPr>
              <a:t>21 of ChatGPT's 46 sites are also cited by Gemini, but rarely the same page. The Jaccard overlap is 0.22 for sites and 0.05 for pages.</a:t>
            </a:r>
          </a:p>
        </p:txBody>
      </p:sp>
      <p:sp>
        <p:nvSpPr>
          <p:cNvPr id="4" name="TextBox 3"/>
          <p:cNvSpPr txBox="1"/>
          <p:nvPr/>
        </p:nvSpPr>
        <p:spPr>
          <a:xfrm>
            <a:off x="762000" y="4704080"/>
            <a:ext cx="3683000" cy="995679"/>
          </a:xfrm>
          <a:prstGeom prst="rect">
            <a:avLst/>
          </a:prstGeom>
          <a:noFill/>
        </p:spPr>
        <p:txBody>
          <a:bodyPr wrap="square" lIns="0" rIns="0" tIns="0" bIns="0" anchor="t">
            <a:spAutoFit/>
          </a:bodyPr>
          <a:lstStyle/>
          <a:p>
            <a:pPr algn="l">
              <a:lnSpc>
                <a:spcPct val="115000"/>
              </a:lnSpc>
            </a:pPr>
            <a:r>
              <a:rPr sz="1400" b="0">
                <a:solidFill>
                  <a:srgbClr val="AFC0D8"/>
                </a:solidFill>
                <a:latin typeface="Plus Jakarta Sans"/>
              </a:rPr>
              <a:t>Writesonic found 0.119 between ChatGPT and Gemini across 88,969 prompts, without saying whether it compared pages or sites.</a:t>
            </a:r>
          </a:p>
        </p:txBody>
      </p:sp>
      <p:sp>
        <p:nvSpPr>
          <p:cNvPr id="5" name="ground-panel"/>
          <p:cNvSpPr/>
          <p:nvPr/>
        </p:nvSpPr>
        <p:spPr>
          <a:xfrm>
            <a:off x="4699000" y="1640262"/>
            <a:ext cx="6731000" cy="3513974"/>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motif-bracket-tl-h"/>
          <p:cNvCxnSpPr/>
          <p:nvPr/>
        </p:nvCxnSpPr>
        <p:spPr>
          <a:xfrm>
            <a:off x="4635500" y="157676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l-v"/>
          <p:cNvCxnSpPr/>
          <p:nvPr/>
        </p:nvCxnSpPr>
        <p:spPr>
          <a:xfrm>
            <a:off x="4635500" y="157676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h"/>
          <p:cNvCxnSpPr/>
          <p:nvPr/>
        </p:nvCxnSpPr>
        <p:spPr>
          <a:xfrm flipH="1">
            <a:off x="11239500" y="157676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v"/>
          <p:cNvCxnSpPr/>
          <p:nvPr/>
        </p:nvCxnSpPr>
        <p:spPr>
          <a:xfrm>
            <a:off x="11493500" y="157676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h"/>
          <p:cNvCxnSpPr/>
          <p:nvPr/>
        </p:nvCxnSpPr>
        <p:spPr>
          <a:xfrm>
            <a:off x="4635500" y="5217737"/>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v"/>
          <p:cNvCxnSpPr/>
          <p:nvPr/>
        </p:nvCxnSpPr>
        <p:spPr>
          <a:xfrm flipV="1">
            <a:off x="4635500" y="4963737"/>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h"/>
          <p:cNvCxnSpPr/>
          <p:nvPr/>
        </p:nvCxnSpPr>
        <p:spPr>
          <a:xfrm flipH="1">
            <a:off x="11239500" y="5217737"/>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v"/>
          <p:cNvCxnSpPr/>
          <p:nvPr/>
        </p:nvCxnSpPr>
        <p:spPr>
          <a:xfrm flipV="1">
            <a:off x="11493500" y="4963737"/>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4" name="chart-overlap" descr="overlap.png"/>
          <p:cNvPicPr>
            <a:picLocks noChangeAspect="1"/>
          </p:cNvPicPr>
          <p:nvPr/>
        </p:nvPicPr>
        <p:blipFill>
          <a:blip r:embed="rId2"/>
          <a:stretch>
            <a:fillRect/>
          </a:stretch>
        </p:blipFill>
        <p:spPr>
          <a:xfrm>
            <a:off x="4787900" y="1729162"/>
            <a:ext cx="6553200" cy="3336174"/>
          </a:xfrm>
          <a:prstGeom prst="rect">
            <a:avLst/>
          </a:prstGeom>
        </p:spPr>
      </p:pic>
      <p:cxnSp>
        <p:nvCxnSpPr>
          <p:cNvPr id="15"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6"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7"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8"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20 / 33</a:t>
            </a:r>
          </a:p>
        </p:txBody>
      </p:sp>
      <p:sp>
        <p:nvSpPr>
          <p:cNvPr id="19"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data/interim/citations.csv. Writesonic, AI citation source overlap study. n = 97 sites, 243 pages</a:t>
            </a:r>
          </a:p>
        </p:txBody>
      </p:sp>
      <p:cxnSp>
        <p:nvCxnSpPr>
          <p:cNvPr id="2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20"/>
          <p:cNvCxnSpPr/>
          <p:nvPr/>
        </p:nvCxnSpPr>
        <p:spPr>
          <a:xfrm>
            <a:off x="9429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0" name="motif-line-tick-21"/>
          <p:cNvCxnSpPr/>
          <p:nvPr/>
        </p:nvCxnSpPr>
        <p:spPr>
          <a:xfrm>
            <a:off x="9525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10668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Most cited sites: ChatGPT on the left, Gemini on the right</a:t>
            </a:r>
          </a:p>
        </p:txBody>
      </p:sp>
      <p:sp>
        <p:nvSpPr>
          <p:cNvPr id="3" name="TextBox 2"/>
          <p:cNvSpPr txBox="1"/>
          <p:nvPr/>
        </p:nvSpPr>
        <p:spPr>
          <a:xfrm>
            <a:off x="762000" y="2032000"/>
            <a:ext cx="8890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Bank and regulator sites lead for ChatGPT. Fazz, Akulaku and Zaipad are cited only by Gemini.</a:t>
            </a:r>
          </a:p>
        </p:txBody>
      </p:sp>
      <p:sp>
        <p:nvSpPr>
          <p:cNvPr id="4" name="ground-panel"/>
          <p:cNvSpPr/>
          <p:nvPr/>
        </p:nvSpPr>
        <p:spPr>
          <a:xfrm>
            <a:off x="1707572" y="2413000"/>
            <a:ext cx="8776854" cy="3556000"/>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1644072" y="2349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1644072" y="2349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0293927" y="2349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0547927" y="2349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1644072"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1644072"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0293927"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0547927"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mirror_sites" descr="mirror_sites.png"/>
          <p:cNvPicPr>
            <a:picLocks noChangeAspect="1"/>
          </p:cNvPicPr>
          <p:nvPr/>
        </p:nvPicPr>
        <p:blipFill>
          <a:blip r:embed="rId2"/>
          <a:stretch>
            <a:fillRect/>
          </a:stretch>
        </p:blipFill>
        <p:spPr>
          <a:xfrm>
            <a:off x="1796472" y="2501900"/>
            <a:ext cx="8599054" cy="3378200"/>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21 / 33</a:t>
            </a:r>
          </a:p>
        </p:txBody>
      </p:sp>
      <p:sp>
        <p:nvSpPr>
          <p:cNvPr id="18"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data/processed/domains.csv. Top sites by citations. n = 399 citations</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889000"/>
            <a:ext cx="10668000" cy="10668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A few comparison articles appear across Gemini's answers</a:t>
            </a:r>
          </a:p>
        </p:txBody>
      </p:sp>
      <p:sp>
        <p:nvSpPr>
          <p:cNvPr id="3" name="TextBox 2"/>
          <p:cNvSpPr txBox="1"/>
          <p:nvPr/>
        </p:nvSpPr>
        <p:spPr>
          <a:xfrm>
            <a:off x="762000" y="2032000"/>
            <a:ext cx="8890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One Akulaku article is cited in 14 of Gemini's 20 answers, one Zaipad article in 12, and Fazz articles 20 times across 15 answers. ChatGPT cites none of them.</a:t>
            </a:r>
          </a:p>
        </p:txBody>
      </p:sp>
      <p:sp>
        <p:nvSpPr>
          <p:cNvPr id="4" name="TextBox 3"/>
          <p:cNvSpPr txBox="1"/>
          <p:nvPr/>
        </p:nvSpPr>
        <p:spPr>
          <a:xfrm>
            <a:off x="762000" y="2616200"/>
            <a:ext cx="8890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Akulaku held 27.24% of Bank Neo Commerce in May 2023 (Bisnis). The article has not been checked for bias.</a:t>
            </a:r>
          </a:p>
        </p:txBody>
      </p:sp>
      <p:sp>
        <p:nvSpPr>
          <p:cNvPr id="5" name="ground-panel"/>
          <p:cNvSpPr/>
          <p:nvPr/>
        </p:nvSpPr>
        <p:spPr>
          <a:xfrm>
            <a:off x="2216150" y="3263900"/>
            <a:ext cx="7759700" cy="2705100"/>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motif-bracket-tl-h"/>
          <p:cNvCxnSpPr/>
          <p:nvPr/>
        </p:nvCxnSpPr>
        <p:spPr>
          <a:xfrm>
            <a:off x="2152650" y="32004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l-v"/>
          <p:cNvCxnSpPr/>
          <p:nvPr/>
        </p:nvCxnSpPr>
        <p:spPr>
          <a:xfrm>
            <a:off x="2152650" y="32004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h"/>
          <p:cNvCxnSpPr/>
          <p:nvPr/>
        </p:nvCxnSpPr>
        <p:spPr>
          <a:xfrm flipH="1">
            <a:off x="9785350" y="32004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v"/>
          <p:cNvCxnSpPr/>
          <p:nvPr/>
        </p:nvCxnSpPr>
        <p:spPr>
          <a:xfrm>
            <a:off x="10039350" y="32004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h"/>
          <p:cNvCxnSpPr/>
          <p:nvPr/>
        </p:nvCxnSpPr>
        <p:spPr>
          <a:xfrm>
            <a:off x="2152650"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v"/>
          <p:cNvCxnSpPr/>
          <p:nvPr/>
        </p:nvCxnSpPr>
        <p:spPr>
          <a:xfrm flipV="1">
            <a:off x="2152650"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h"/>
          <p:cNvCxnSpPr/>
          <p:nvPr/>
        </p:nvCxnSpPr>
        <p:spPr>
          <a:xfrm flipH="1">
            <a:off x="9785350" y="6032500"/>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v"/>
          <p:cNvCxnSpPr/>
          <p:nvPr/>
        </p:nvCxnSpPr>
        <p:spPr>
          <a:xfrm flipV="1">
            <a:off x="10039350" y="5778500"/>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4" name="chart-top_pages" descr="top_pages.png"/>
          <p:cNvPicPr>
            <a:picLocks noChangeAspect="1"/>
          </p:cNvPicPr>
          <p:nvPr/>
        </p:nvPicPr>
        <p:blipFill>
          <a:blip r:embed="rId2"/>
          <a:stretch>
            <a:fillRect/>
          </a:stretch>
        </p:blipFill>
        <p:spPr>
          <a:xfrm>
            <a:off x="2305050" y="3352800"/>
            <a:ext cx="7581900" cy="2527300"/>
          </a:xfrm>
          <a:prstGeom prst="rect">
            <a:avLst/>
          </a:prstGeom>
        </p:spPr>
      </p:pic>
      <p:cxnSp>
        <p:nvCxnSpPr>
          <p:cNvPr id="15"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6"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7"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8"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22 / 33</a:t>
            </a:r>
          </a:p>
        </p:txBody>
      </p:sp>
      <p:sp>
        <p:nvSpPr>
          <p:cNvPr id="19"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data/processed/pages_top.csv. Most cited pages. n = 399 citations</a:t>
            </a:r>
          </a:p>
        </p:txBody>
      </p:sp>
      <p:cxnSp>
        <p:nvCxnSpPr>
          <p:cNvPr id="2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2"/>
          <p:cNvCxnSpPr/>
          <p:nvPr/>
        </p:nvCxnSpPr>
        <p:spPr>
          <a:xfrm>
            <a:off x="96202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2" name="motif-line-tick-23"/>
          <p:cNvCxnSpPr/>
          <p:nvPr/>
        </p:nvCxnSpPr>
        <p:spPr>
          <a:xfrm>
            <a:off x="9715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181355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ChatGPT's citations sit on fewer sites</a:t>
            </a:r>
          </a:p>
        </p:txBody>
      </p:sp>
      <p:sp>
        <p:nvSpPr>
          <p:cNvPr id="3" name="TextBox 2"/>
          <p:cNvSpPr txBox="1"/>
          <p:nvPr/>
        </p:nvSpPr>
        <p:spPr>
          <a:xfrm>
            <a:off x="762000" y="2943860"/>
            <a:ext cx="3683000" cy="5334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Its top five sites hold 50% of its citations. Gemini's top five hold 36%.</a:t>
            </a:r>
          </a:p>
        </p:txBody>
      </p:sp>
      <p:sp>
        <p:nvSpPr>
          <p:cNvPr id="4" name="ground-panel"/>
          <p:cNvSpPr/>
          <p:nvPr/>
        </p:nvSpPr>
        <p:spPr>
          <a:xfrm>
            <a:off x="4699000" y="2236008"/>
            <a:ext cx="6731000" cy="2322483"/>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motif-bracket-tl-h"/>
          <p:cNvCxnSpPr/>
          <p:nvPr/>
        </p:nvCxnSpPr>
        <p:spPr>
          <a:xfrm>
            <a:off x="4635500" y="217250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bracket-tl-v"/>
          <p:cNvCxnSpPr/>
          <p:nvPr/>
        </p:nvCxnSpPr>
        <p:spPr>
          <a:xfrm>
            <a:off x="4635500" y="217250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r-h"/>
          <p:cNvCxnSpPr/>
          <p:nvPr/>
        </p:nvCxnSpPr>
        <p:spPr>
          <a:xfrm flipH="1">
            <a:off x="11239500" y="2172508"/>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v"/>
          <p:cNvCxnSpPr/>
          <p:nvPr/>
        </p:nvCxnSpPr>
        <p:spPr>
          <a:xfrm>
            <a:off x="11493500" y="2172508"/>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bl-h"/>
          <p:cNvCxnSpPr/>
          <p:nvPr/>
        </p:nvCxnSpPr>
        <p:spPr>
          <a:xfrm>
            <a:off x="4635500" y="462199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v"/>
          <p:cNvCxnSpPr/>
          <p:nvPr/>
        </p:nvCxnSpPr>
        <p:spPr>
          <a:xfrm flipV="1">
            <a:off x="4635500" y="436799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r-h"/>
          <p:cNvCxnSpPr/>
          <p:nvPr/>
        </p:nvCxnSpPr>
        <p:spPr>
          <a:xfrm flipH="1">
            <a:off x="11239500" y="4621991"/>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v"/>
          <p:cNvCxnSpPr/>
          <p:nvPr/>
        </p:nvCxnSpPr>
        <p:spPr>
          <a:xfrm flipV="1">
            <a:off x="11493500" y="4367991"/>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3" name="chart-concentration" descr="concentration.png"/>
          <p:cNvPicPr>
            <a:picLocks noChangeAspect="1"/>
          </p:cNvPicPr>
          <p:nvPr/>
        </p:nvPicPr>
        <p:blipFill>
          <a:blip r:embed="rId2"/>
          <a:stretch>
            <a:fillRect/>
          </a:stretch>
        </p:blipFill>
        <p:spPr>
          <a:xfrm>
            <a:off x="4787900" y="2324908"/>
            <a:ext cx="6553200" cy="2144683"/>
          </a:xfrm>
          <a:prstGeom prst="rect">
            <a:avLst/>
          </a:prstGeom>
        </p:spPr>
      </p:pic>
      <p:cxnSp>
        <p:nvCxnSpPr>
          <p:cNvPr id="14"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5"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6"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7"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23 / 33</a:t>
            </a:r>
          </a:p>
        </p:txBody>
      </p:sp>
      <p:sp>
        <p:nvSpPr>
          <p:cNvPr id="18"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data/processed/concentration.csv. n = 199 and 200 citations</a:t>
            </a:r>
          </a:p>
        </p:txBody>
      </p:sp>
      <p:cxnSp>
        <p:nvCxnSpPr>
          <p:cNvPr id="19"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3"/>
          <p:cNvCxnSpPr/>
          <p:nvPr/>
        </p:nvCxnSpPr>
        <p:spPr>
          <a:xfrm>
            <a:off x="97155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2" name="motif-line-tick-24"/>
          <p:cNvCxnSpPr/>
          <p:nvPr/>
        </p:nvCxnSpPr>
        <p:spPr>
          <a:xfrm>
            <a:off x="9810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3"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5"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2133600"/>
          </a:xfrm>
          <a:prstGeom prst="rect">
            <a:avLst/>
          </a:prstGeom>
          <a:noFill/>
        </p:spPr>
        <p:txBody>
          <a:bodyPr wrap="square" lIns="0" rIns="0" tIns="0" bIns="0" anchor="t">
            <a:spAutoFit/>
          </a:bodyPr>
          <a:lstStyle/>
          <a:p>
            <a:pPr algn="l">
              <a:lnSpc>
                <a:spcPct val="115000"/>
              </a:lnSpc>
            </a:pPr>
            <a:r>
              <a:rPr sz="3000" b="1">
                <a:solidFill>
                  <a:srgbClr val="F4F6FA"/>
                </a:solidFill>
                <a:latin typeface="Plus Jakarta Sans"/>
              </a:rPr>
              <a:t>Bank Mandiri gets less of the answers than its sources give it</a:t>
            </a:r>
          </a:p>
        </p:txBody>
      </p:sp>
      <p:sp>
        <p:nvSpPr>
          <p:cNvPr id="3" name="TextBox 2"/>
          <p:cNvSpPr txBox="1"/>
          <p:nvPr/>
        </p:nvSpPr>
        <p:spPr>
          <a:xfrm>
            <a:off x="762000" y="3263900"/>
            <a:ext cx="3683000" cy="746760"/>
          </a:xfrm>
          <a:prstGeom prst="rect">
            <a:avLst/>
          </a:prstGeom>
          <a:noFill/>
        </p:spPr>
        <p:txBody>
          <a:bodyPr wrap="square" lIns="0" rIns="0" tIns="0" bIns="0" anchor="t">
            <a:spAutoFit/>
          </a:bodyPr>
          <a:lstStyle/>
          <a:p>
            <a:pPr algn="l">
              <a:lnSpc>
                <a:spcPct val="115000"/>
              </a:lnSpc>
            </a:pPr>
            <a:r>
              <a:rPr sz="1400" b="0">
                <a:solidFill>
                  <a:srgbClr val="AFC0D8"/>
                </a:solidFill>
                <a:latin typeface="Plus Jakarta Sans"/>
              </a:rPr>
              <a:t>Bank Mandiri holds 11.5% of bank mentions in the cited pages and 5.9% in the answers.</a:t>
            </a:r>
          </a:p>
        </p:txBody>
      </p:sp>
      <p:sp>
        <p:nvSpPr>
          <p:cNvPr id="4" name="TextBox 3"/>
          <p:cNvSpPr txBox="1"/>
          <p:nvPr/>
        </p:nvSpPr>
        <p:spPr>
          <a:xfrm>
            <a:off x="762000" y="4099560"/>
            <a:ext cx="3683000" cy="746760"/>
          </a:xfrm>
          <a:prstGeom prst="rect">
            <a:avLst/>
          </a:prstGeom>
          <a:noFill/>
        </p:spPr>
        <p:txBody>
          <a:bodyPr wrap="square" lIns="0" rIns="0" tIns="0" bIns="0" anchor="t">
            <a:spAutoFit/>
          </a:bodyPr>
          <a:lstStyle/>
          <a:p>
            <a:pPr algn="l">
              <a:lnSpc>
                <a:spcPct val="115000"/>
              </a:lnSpc>
            </a:pPr>
            <a:r>
              <a:rPr sz="1400" b="0">
                <a:solidFill>
                  <a:srgbClr val="AFC0D8"/>
                </a:solidFill>
                <a:latin typeface="Plus Jakarta Sans"/>
              </a:rPr>
              <a:t>Bank Jago and BCA lean the other way. Bank Jago holds 20.2% of mentions in the answers and 13.6% in the pages.</a:t>
            </a:r>
          </a:p>
        </p:txBody>
      </p:sp>
      <p:sp>
        <p:nvSpPr>
          <p:cNvPr id="5" name="TextBox 4"/>
          <p:cNvSpPr txBox="1"/>
          <p:nvPr/>
        </p:nvSpPr>
        <p:spPr>
          <a:xfrm>
            <a:off x="762000" y="4935220"/>
            <a:ext cx="3683000" cy="746760"/>
          </a:xfrm>
          <a:prstGeom prst="rect">
            <a:avLst/>
          </a:prstGeom>
          <a:noFill/>
        </p:spPr>
        <p:txBody>
          <a:bodyPr wrap="square" lIns="0" rIns="0" tIns="0" bIns="0" anchor="t">
            <a:spAutoFit/>
          </a:bodyPr>
          <a:lstStyle/>
          <a:p>
            <a:pPr algn="l">
              <a:lnSpc>
                <a:spcPct val="115000"/>
              </a:lnSpc>
            </a:pPr>
            <a:r>
              <a:rPr sz="1400" b="0">
                <a:solidFill>
                  <a:srgbClr val="AFC0D8"/>
                </a:solidFill>
                <a:latin typeface="Plus Jakarta Sans"/>
              </a:rPr>
              <a:t>Pages were counted without a bare “Jago” or “blu”, so these two banks' source share may be low and their gaps too wide.</a:t>
            </a:r>
          </a:p>
        </p:txBody>
      </p:sp>
      <p:sp>
        <p:nvSpPr>
          <p:cNvPr id="6" name="ground-panel"/>
          <p:cNvSpPr/>
          <p:nvPr/>
        </p:nvSpPr>
        <p:spPr>
          <a:xfrm>
            <a:off x="4699000" y="1642282"/>
            <a:ext cx="6731000" cy="3509935"/>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motif-bracket-tl-h"/>
          <p:cNvCxnSpPr/>
          <p:nvPr/>
        </p:nvCxnSpPr>
        <p:spPr>
          <a:xfrm>
            <a:off x="4635500" y="157878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l-v"/>
          <p:cNvCxnSpPr/>
          <p:nvPr/>
        </p:nvCxnSpPr>
        <p:spPr>
          <a:xfrm>
            <a:off x="4635500" y="157878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h"/>
          <p:cNvCxnSpPr/>
          <p:nvPr/>
        </p:nvCxnSpPr>
        <p:spPr>
          <a:xfrm flipH="1">
            <a:off x="11239500" y="157878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tr-v"/>
          <p:cNvCxnSpPr/>
          <p:nvPr/>
        </p:nvCxnSpPr>
        <p:spPr>
          <a:xfrm>
            <a:off x="11493500" y="157878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h"/>
          <p:cNvCxnSpPr/>
          <p:nvPr/>
        </p:nvCxnSpPr>
        <p:spPr>
          <a:xfrm>
            <a:off x="4635500" y="5215717"/>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l-v"/>
          <p:cNvCxnSpPr/>
          <p:nvPr/>
        </p:nvCxnSpPr>
        <p:spPr>
          <a:xfrm flipV="1">
            <a:off x="4635500" y="4961717"/>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h"/>
          <p:cNvCxnSpPr/>
          <p:nvPr/>
        </p:nvCxnSpPr>
        <p:spPr>
          <a:xfrm flipH="1">
            <a:off x="11239500" y="5215717"/>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bracket-br-v"/>
          <p:cNvCxnSpPr/>
          <p:nvPr/>
        </p:nvCxnSpPr>
        <p:spPr>
          <a:xfrm flipV="1">
            <a:off x="11493500" y="4961717"/>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5" name="chart-sov_gap" descr="sov_gap.png"/>
          <p:cNvPicPr>
            <a:picLocks noChangeAspect="1"/>
          </p:cNvPicPr>
          <p:nvPr/>
        </p:nvPicPr>
        <p:blipFill>
          <a:blip r:embed="rId2"/>
          <a:stretch>
            <a:fillRect/>
          </a:stretch>
        </p:blipFill>
        <p:spPr>
          <a:xfrm>
            <a:off x="4787900" y="1731182"/>
            <a:ext cx="6553199" cy="3332135"/>
          </a:xfrm>
          <a:prstGeom prst="rect">
            <a:avLst/>
          </a:prstGeom>
        </p:spPr>
      </p:pic>
      <p:cxnSp>
        <p:nvCxnSpPr>
          <p:cNvPr id="16"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7"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8"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9"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24 / 33</a:t>
            </a:r>
          </a:p>
        </p:txBody>
      </p:sp>
      <p:sp>
        <p:nvSpPr>
          <p:cNvPr id="20"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data/processed/source_sov.csv. Answers and pages weighted equally. n = 40 answers, 148 pages</a:t>
            </a:r>
          </a:p>
        </p:txBody>
      </p:sp>
      <p:cxnSp>
        <p:nvCxnSpPr>
          <p:cNvPr id="21"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3"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4" name="motif-line-tick-24"/>
          <p:cNvCxnSpPr/>
          <p:nvPr/>
        </p:nvCxnSpPr>
        <p:spPr>
          <a:xfrm>
            <a:off x="9810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5" name="motif-line-tick-25"/>
          <p:cNvCxnSpPr/>
          <p:nvPr/>
        </p:nvCxnSpPr>
        <p:spPr>
          <a:xfrm>
            <a:off x="9906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3"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241807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Gemini's dead links all sit behind a Google redirect</a:t>
            </a:r>
          </a:p>
        </p:txBody>
      </p:sp>
      <p:sp>
        <p:nvSpPr>
          <p:cNvPr id="3" name="TextBox 2"/>
          <p:cNvSpPr txBox="1"/>
          <p:nvPr/>
        </p:nvSpPr>
        <p:spPr>
          <a:xfrm>
            <a:off x="762000" y="3548379"/>
            <a:ext cx="3683000" cy="800099"/>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13 of its 21 links wrapped in google.com/search were dead. None of its 179 direct links were.</a:t>
            </a:r>
          </a:p>
        </p:txBody>
      </p:sp>
      <p:sp>
        <p:nvSpPr>
          <p:cNvPr id="4" name="TextBox 3"/>
          <p:cNvSpPr txBox="1"/>
          <p:nvPr/>
        </p:nvSpPr>
        <p:spPr>
          <a:xfrm>
            <a:off x="762000" y="4437380"/>
            <a:ext cx="3683000" cy="800099"/>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The Tow Center found Gemini gave more fabricated links than correct ones in its 2025 tests (Nieman Lab).</a:t>
            </a:r>
          </a:p>
        </p:txBody>
      </p:sp>
      <p:sp>
        <p:nvSpPr>
          <p:cNvPr id="5" name="ground-panel"/>
          <p:cNvSpPr/>
          <p:nvPr/>
        </p:nvSpPr>
        <p:spPr>
          <a:xfrm>
            <a:off x="4699000" y="2253173"/>
            <a:ext cx="6731000" cy="2288152"/>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motif-bracket-tl-h"/>
          <p:cNvCxnSpPr/>
          <p:nvPr/>
        </p:nvCxnSpPr>
        <p:spPr>
          <a:xfrm>
            <a:off x="4635500" y="2189673"/>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bracket-tl-v"/>
          <p:cNvCxnSpPr/>
          <p:nvPr/>
        </p:nvCxnSpPr>
        <p:spPr>
          <a:xfrm>
            <a:off x="4635500" y="2189673"/>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r-h"/>
          <p:cNvCxnSpPr/>
          <p:nvPr/>
        </p:nvCxnSpPr>
        <p:spPr>
          <a:xfrm flipH="1">
            <a:off x="11239500" y="2189673"/>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v"/>
          <p:cNvCxnSpPr/>
          <p:nvPr/>
        </p:nvCxnSpPr>
        <p:spPr>
          <a:xfrm>
            <a:off x="11493500" y="2189673"/>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bl-h"/>
          <p:cNvCxnSpPr/>
          <p:nvPr/>
        </p:nvCxnSpPr>
        <p:spPr>
          <a:xfrm>
            <a:off x="4635500" y="4604826"/>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v"/>
          <p:cNvCxnSpPr/>
          <p:nvPr/>
        </p:nvCxnSpPr>
        <p:spPr>
          <a:xfrm flipV="1">
            <a:off x="4635500" y="4350826"/>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r-h"/>
          <p:cNvCxnSpPr/>
          <p:nvPr/>
        </p:nvCxnSpPr>
        <p:spPr>
          <a:xfrm flipH="1">
            <a:off x="11239500" y="4604826"/>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v"/>
          <p:cNvCxnSpPr/>
          <p:nvPr/>
        </p:nvCxnSpPr>
        <p:spPr>
          <a:xfrm flipV="1">
            <a:off x="11493500" y="4350826"/>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4" name="chart-dead_links" descr="dead_links.png"/>
          <p:cNvPicPr>
            <a:picLocks noChangeAspect="1"/>
          </p:cNvPicPr>
          <p:nvPr/>
        </p:nvPicPr>
        <p:blipFill>
          <a:blip r:embed="rId2"/>
          <a:stretch>
            <a:fillRect/>
          </a:stretch>
        </p:blipFill>
        <p:spPr>
          <a:xfrm>
            <a:off x="4787900" y="2342073"/>
            <a:ext cx="6553200" cy="2110352"/>
          </a:xfrm>
          <a:prstGeom prst="rect">
            <a:avLst/>
          </a:prstGeom>
        </p:spPr>
      </p:pic>
      <p:cxnSp>
        <p:nvCxnSpPr>
          <p:cNvPr id="15"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6"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7"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8"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25 / 33</a:t>
            </a:r>
          </a:p>
        </p:txBody>
      </p:sp>
      <p:sp>
        <p:nvSpPr>
          <p:cNvPr id="19"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data/interim/citations.csv, pages.csv. n = 200 Gemini citations</a:t>
            </a:r>
          </a:p>
        </p:txBody>
      </p:sp>
      <p:cxnSp>
        <p:nvCxnSpPr>
          <p:cNvPr id="2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3" name="motif-line-tick-24"/>
          <p:cNvCxnSpPr/>
          <p:nvPr/>
        </p:nvCxnSpPr>
        <p:spPr>
          <a:xfrm>
            <a:off x="9810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4" name="motif-line-tick-25"/>
          <p:cNvCxnSpPr/>
          <p:nvPr/>
        </p:nvCxnSpPr>
        <p:spPr>
          <a:xfrm>
            <a:off x="99060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5" name="motif-line-tick-26"/>
          <p:cNvCxnSpPr/>
          <p:nvPr/>
        </p:nvCxnSpPr>
        <p:spPr>
          <a:xfrm>
            <a:off x="10001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6"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7"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3683000" cy="181355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Pages without schema still get cited</a:t>
            </a:r>
          </a:p>
        </p:txBody>
      </p:sp>
      <p:sp>
        <p:nvSpPr>
          <p:cNvPr id="3" name="TextBox 2"/>
          <p:cNvSpPr txBox="1"/>
          <p:nvPr/>
        </p:nvSpPr>
        <p:spPr>
          <a:xfrm>
            <a:off x="762000" y="2943860"/>
            <a:ext cx="3683000" cy="10668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Bank sites carry schema on 32% of cited pages, against 95% for news and 86% for blogs, yet they are the most cited type.</a:t>
            </a:r>
          </a:p>
        </p:txBody>
      </p:sp>
      <p:sp>
        <p:nvSpPr>
          <p:cNvPr id="4" name="TextBox 3"/>
          <p:cNvSpPr txBox="1"/>
          <p:nvPr/>
        </p:nvSpPr>
        <p:spPr>
          <a:xfrm>
            <a:off x="762000" y="4099559"/>
            <a:ext cx="3683000" cy="800099"/>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Only 133 of 333 readable citations point to a page with a structured publish date.</a:t>
            </a:r>
          </a:p>
        </p:txBody>
      </p:sp>
      <p:sp>
        <p:nvSpPr>
          <p:cNvPr id="5" name="TextBox 4"/>
          <p:cNvSpPr txBox="1"/>
          <p:nvPr/>
        </p:nvSpPr>
        <p:spPr>
          <a:xfrm>
            <a:off x="762000" y="4988559"/>
            <a:ext cx="3683000" cy="800099"/>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Google: “there's also no special schema.org structured data that you need to add.”</a:t>
            </a:r>
          </a:p>
        </p:txBody>
      </p:sp>
      <p:sp>
        <p:nvSpPr>
          <p:cNvPr id="6" name="ground-panel"/>
          <p:cNvSpPr/>
          <p:nvPr/>
        </p:nvSpPr>
        <p:spPr>
          <a:xfrm>
            <a:off x="4699000" y="1697817"/>
            <a:ext cx="6731000" cy="3398864"/>
          </a:xfrm>
          <a:prstGeom prst="rect">
            <a:avLst/>
          </a:prstGeom>
          <a:solidFill>
            <a:srgbClr val="0A1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motif-bracket-tl-h"/>
          <p:cNvCxnSpPr/>
          <p:nvPr/>
        </p:nvCxnSpPr>
        <p:spPr>
          <a:xfrm>
            <a:off x="4635500" y="1634317"/>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bracket-tl-v"/>
          <p:cNvCxnSpPr/>
          <p:nvPr/>
        </p:nvCxnSpPr>
        <p:spPr>
          <a:xfrm>
            <a:off x="4635500" y="1634317"/>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bracket-tr-h"/>
          <p:cNvCxnSpPr/>
          <p:nvPr/>
        </p:nvCxnSpPr>
        <p:spPr>
          <a:xfrm flipH="1">
            <a:off x="11239500" y="1634317"/>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bracket-tr-v"/>
          <p:cNvCxnSpPr/>
          <p:nvPr/>
        </p:nvCxnSpPr>
        <p:spPr>
          <a:xfrm>
            <a:off x="11493500" y="1634317"/>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bracket-bl-h"/>
          <p:cNvCxnSpPr/>
          <p:nvPr/>
        </p:nvCxnSpPr>
        <p:spPr>
          <a:xfrm>
            <a:off x="4635500" y="516018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bracket-bl-v"/>
          <p:cNvCxnSpPr/>
          <p:nvPr/>
        </p:nvCxnSpPr>
        <p:spPr>
          <a:xfrm flipV="1">
            <a:off x="4635500" y="490618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bracket-br-h"/>
          <p:cNvCxnSpPr/>
          <p:nvPr/>
        </p:nvCxnSpPr>
        <p:spPr>
          <a:xfrm flipH="1">
            <a:off x="11239500" y="5160182"/>
            <a:ext cx="2540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bracket-br-v"/>
          <p:cNvCxnSpPr/>
          <p:nvPr/>
        </p:nvCxnSpPr>
        <p:spPr>
          <a:xfrm flipV="1">
            <a:off x="11493500" y="4906182"/>
            <a:ext cx="0" cy="25400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pic>
        <p:nvPicPr>
          <p:cNvPr id="15" name="chart-schema" descr="schema.png"/>
          <p:cNvPicPr>
            <a:picLocks noChangeAspect="1"/>
          </p:cNvPicPr>
          <p:nvPr/>
        </p:nvPicPr>
        <p:blipFill>
          <a:blip r:embed="rId2"/>
          <a:stretch>
            <a:fillRect/>
          </a:stretch>
        </p:blipFill>
        <p:spPr>
          <a:xfrm>
            <a:off x="4787900" y="1786717"/>
            <a:ext cx="6553199" cy="3221064"/>
          </a:xfrm>
          <a:prstGeom prst="rect">
            <a:avLst/>
          </a:prstGeom>
        </p:spPr>
      </p:pic>
      <p:cxnSp>
        <p:nvCxnSpPr>
          <p:cNvPr id="16"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7"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III: The sources</a:t>
            </a:r>
          </a:p>
        </p:txBody>
      </p:sp>
      <p:cxnSp>
        <p:nvCxnSpPr>
          <p:cNvPr id="18"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9"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26 / 33</a:t>
            </a:r>
          </a:p>
        </p:txBody>
      </p:sp>
      <p:sp>
        <p:nvSpPr>
          <p:cNvPr id="20"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data/processed/schema.csv, recency.csv. Google Search Central. n = 191 pages, 333 citations</a:t>
            </a:r>
          </a:p>
        </p:txBody>
      </p:sp>
      <p:cxnSp>
        <p:nvCxnSpPr>
          <p:cNvPr id="21"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3"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4" name="motif-line-tick-24"/>
          <p:cNvCxnSpPr/>
          <p:nvPr/>
        </p:nvCxnSpPr>
        <p:spPr>
          <a:xfrm>
            <a:off x="9810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5" name="motif-line-tick-25"/>
          <p:cNvCxnSpPr/>
          <p:nvPr/>
        </p:nvCxnSpPr>
        <p:spPr>
          <a:xfrm>
            <a:off x="9906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6" name="motif-line-tick-26"/>
          <p:cNvCxnSpPr/>
          <p:nvPr/>
        </p:nvCxnSpPr>
        <p:spPr>
          <a:xfrm>
            <a:off x="100012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7" name="motif-line-tick-27"/>
          <p:cNvCxnSpPr/>
          <p:nvPr/>
        </p:nvCxnSpPr>
        <p:spPr>
          <a:xfrm>
            <a:off x="10096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8" name="motif-line-tick-28"/>
          <p:cNvCxnSpPr/>
          <p:nvPr/>
        </p:nvCxnSpPr>
        <p:spPr>
          <a:xfrm>
            <a:off x="10191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9"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3"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photo-slot"/>
          <p:cNvSpPr/>
          <p:nvPr/>
        </p:nvSpPr>
        <p:spPr>
          <a:xfrm>
            <a:off x="0" y="0"/>
            <a:ext cx="12192000" cy="6858000"/>
          </a:xfrm>
          <a:prstGeom prst="rect">
            <a:avLst/>
          </a:prstGeom>
          <a:solidFill>
            <a:srgbClr val="1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ground-fade" descr="ground-fade-1400-360.png"/>
          <p:cNvPicPr>
            <a:picLocks noChangeAspect="1"/>
          </p:cNvPicPr>
          <p:nvPr/>
        </p:nvPicPr>
        <p:blipFill>
          <a:blip r:embed="rId2"/>
          <a:stretch>
            <a:fillRect/>
          </a:stretch>
        </p:blipFill>
        <p:spPr>
          <a:xfrm>
            <a:off x="0" y="0"/>
            <a:ext cx="8890000" cy="6858000"/>
          </a:xfrm>
          <a:prstGeom prst="rect">
            <a:avLst/>
          </a:prstGeom>
        </p:spPr>
      </p:pic>
      <p:cxnSp>
        <p:nvCxnSpPr>
          <p:cNvPr id="4" name="motif-line-corridor-corner-0"/>
          <p:cNvCxnSpPr/>
          <p:nvPr/>
        </p:nvCxnSpPr>
        <p:spPr>
          <a:xfrm>
            <a:off x="6731000" y="0"/>
            <a:ext cx="2413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5" name="motif-line-corridor-corner-1"/>
          <p:cNvCxnSpPr/>
          <p:nvPr/>
        </p:nvCxnSpPr>
        <p:spPr>
          <a:xfrm flipH="1">
            <a:off x="10668000" y="0"/>
            <a:ext cx="1524000" cy="2667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6" name="motif-line-corridor-corner-2"/>
          <p:cNvCxnSpPr/>
          <p:nvPr/>
        </p:nvCxnSpPr>
        <p:spPr>
          <a:xfrm flipV="1">
            <a:off x="6731000" y="4064000"/>
            <a:ext cx="2413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line-corridor-corner-3"/>
          <p:cNvCxnSpPr/>
          <p:nvPr/>
        </p:nvCxnSpPr>
        <p:spPr>
          <a:xfrm flipH="1" flipV="1">
            <a:off x="10668000" y="4064000"/>
            <a:ext cx="1524000" cy="2794000"/>
          </a:xfrm>
          <a:prstGeom prst="line">
            <a:avLst/>
          </a:prstGeom>
          <a:ln w="1270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line-corridor-top-1"/>
          <p:cNvCxnSpPr/>
          <p:nvPr/>
        </p:nvCxnSpPr>
        <p:spPr>
          <a:xfrm>
            <a:off x="7823200" y="0"/>
            <a:ext cx="1625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9" name="motif-line-corridor-floor-1"/>
          <p:cNvCxnSpPr/>
          <p:nvPr/>
        </p:nvCxnSpPr>
        <p:spPr>
          <a:xfrm flipV="1">
            <a:off x="7823200" y="4064000"/>
            <a:ext cx="1625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0" name="motif-line-corridor-top-2"/>
          <p:cNvCxnSpPr/>
          <p:nvPr/>
        </p:nvCxnSpPr>
        <p:spPr>
          <a:xfrm>
            <a:off x="8915400" y="0"/>
            <a:ext cx="8382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1" name="motif-line-corridor-floor-2"/>
          <p:cNvCxnSpPr/>
          <p:nvPr/>
        </p:nvCxnSpPr>
        <p:spPr>
          <a:xfrm flipV="1">
            <a:off x="8915400" y="4064000"/>
            <a:ext cx="8382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2" name="motif-line-corridor-top-3"/>
          <p:cNvCxnSpPr/>
          <p:nvPr/>
        </p:nvCxnSpPr>
        <p:spPr>
          <a:xfrm>
            <a:off x="10007600" y="0"/>
            <a:ext cx="508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corridor-floor-3"/>
          <p:cNvCxnSpPr/>
          <p:nvPr/>
        </p:nvCxnSpPr>
        <p:spPr>
          <a:xfrm flipV="1">
            <a:off x="10007600" y="4064000"/>
            <a:ext cx="508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corridor-top-4"/>
          <p:cNvCxnSpPr/>
          <p:nvPr/>
        </p:nvCxnSpPr>
        <p:spPr>
          <a:xfrm flipH="1">
            <a:off x="10363200" y="0"/>
            <a:ext cx="736600" cy="2667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corridor-floor-4"/>
          <p:cNvCxnSpPr/>
          <p:nvPr/>
        </p:nvCxnSpPr>
        <p:spPr>
          <a:xfrm flipH="1" flipV="1">
            <a:off x="10363200" y="4064000"/>
            <a:ext cx="736600" cy="27940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corridor-right-1"/>
          <p:cNvCxnSpPr/>
          <p:nvPr/>
        </p:nvCxnSpPr>
        <p:spPr>
          <a:xfrm flipH="1">
            <a:off x="10668000" y="1714500"/>
            <a:ext cx="1524000" cy="1301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7" name="motif-line-corridor-right-2"/>
          <p:cNvCxnSpPr/>
          <p:nvPr/>
        </p:nvCxnSpPr>
        <p:spPr>
          <a:xfrm flipH="1" flipV="1">
            <a:off x="10668000" y="3365500"/>
            <a:ext cx="1524000" cy="6350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8" name="motif-line-corridor-right-3"/>
          <p:cNvCxnSpPr/>
          <p:nvPr/>
        </p:nvCxnSpPr>
        <p:spPr>
          <a:xfrm flipH="1" flipV="1">
            <a:off x="10668000" y="3714750"/>
            <a:ext cx="1524000" cy="1428750"/>
          </a:xfrm>
          <a:prstGeom prst="line">
            <a:avLst/>
          </a:prstGeom>
          <a:ln w="63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9" name="motif-line-depth-1-t"/>
          <p:cNvCxnSpPr/>
          <p:nvPr/>
        </p:nvCxnSpPr>
        <p:spPr>
          <a:xfrm>
            <a:off x="7937500" y="1333500"/>
            <a:ext cx="349250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0" name="motif-line-depth-1-b"/>
          <p:cNvCxnSpPr/>
          <p:nvPr/>
        </p:nvCxnSpPr>
        <p:spPr>
          <a:xfrm>
            <a:off x="7937500" y="5461000"/>
            <a:ext cx="349250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1" name="motif-line-depth-1-l"/>
          <p:cNvCxnSpPr/>
          <p:nvPr/>
        </p:nvCxnSpPr>
        <p:spPr>
          <a:xfrm>
            <a:off x="7937500" y="1333500"/>
            <a:ext cx="0" cy="412750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2" name="motif-line-depth-1-r"/>
          <p:cNvCxnSpPr/>
          <p:nvPr/>
        </p:nvCxnSpPr>
        <p:spPr>
          <a:xfrm>
            <a:off x="11430000" y="1333500"/>
            <a:ext cx="0" cy="412750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3" name="motif-line-depth-2-t"/>
          <p:cNvCxnSpPr/>
          <p:nvPr/>
        </p:nvCxnSpPr>
        <p:spPr>
          <a:xfrm>
            <a:off x="8540750" y="2000250"/>
            <a:ext cx="250825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4" name="motif-line-depth-2-b"/>
          <p:cNvCxnSpPr/>
          <p:nvPr/>
        </p:nvCxnSpPr>
        <p:spPr>
          <a:xfrm>
            <a:off x="8540750" y="4762500"/>
            <a:ext cx="2508250"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5" name="motif-line-depth-2-l"/>
          <p:cNvCxnSpPr/>
          <p:nvPr/>
        </p:nvCxnSpPr>
        <p:spPr>
          <a:xfrm>
            <a:off x="8540750" y="2000250"/>
            <a:ext cx="0" cy="276225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6" name="motif-line-depth-2-r"/>
          <p:cNvCxnSpPr/>
          <p:nvPr/>
        </p:nvCxnSpPr>
        <p:spPr>
          <a:xfrm>
            <a:off x="11049000" y="2000250"/>
            <a:ext cx="0" cy="276225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7" name="motif-line-depth-3-t"/>
          <p:cNvCxnSpPr/>
          <p:nvPr/>
        </p:nvCxnSpPr>
        <p:spPr>
          <a:xfrm>
            <a:off x="8842375" y="2333625"/>
            <a:ext cx="2016125"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8" name="motif-line-depth-3-b"/>
          <p:cNvCxnSpPr/>
          <p:nvPr/>
        </p:nvCxnSpPr>
        <p:spPr>
          <a:xfrm>
            <a:off x="8842375" y="4413250"/>
            <a:ext cx="2016125" cy="0"/>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29" name="motif-line-depth-3-l"/>
          <p:cNvCxnSpPr/>
          <p:nvPr/>
        </p:nvCxnSpPr>
        <p:spPr>
          <a:xfrm>
            <a:off x="8842375" y="2333625"/>
            <a:ext cx="0" cy="2079625"/>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30" name="motif-line-depth-3-r"/>
          <p:cNvCxnSpPr/>
          <p:nvPr/>
        </p:nvCxnSpPr>
        <p:spPr>
          <a:xfrm>
            <a:off x="10858500" y="2333625"/>
            <a:ext cx="0" cy="2079625"/>
          </a:xfrm>
          <a:prstGeom prst="line">
            <a:avLst/>
          </a:prstGeom>
          <a:ln w="9525">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31" name="motif-line-depth-4-t"/>
          <p:cNvCxnSpPr/>
          <p:nvPr/>
        </p:nvCxnSpPr>
        <p:spPr>
          <a:xfrm>
            <a:off x="8993187" y="2500312"/>
            <a:ext cx="1770063"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2" name="motif-line-depth-4-b"/>
          <p:cNvCxnSpPr/>
          <p:nvPr/>
        </p:nvCxnSpPr>
        <p:spPr>
          <a:xfrm>
            <a:off x="8993187" y="4238625"/>
            <a:ext cx="1770063" cy="0"/>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3" name="motif-line-depth-4-l"/>
          <p:cNvCxnSpPr/>
          <p:nvPr/>
        </p:nvCxnSpPr>
        <p:spPr>
          <a:xfrm>
            <a:off x="8993187" y="2500312"/>
            <a:ext cx="0" cy="1738313"/>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34" name="motif-line-depth-4-r"/>
          <p:cNvCxnSpPr/>
          <p:nvPr/>
        </p:nvCxnSpPr>
        <p:spPr>
          <a:xfrm>
            <a:off x="10763250" y="2500312"/>
            <a:ext cx="0" cy="1738313"/>
          </a:xfrm>
          <a:prstGeom prst="line">
            <a:avLst/>
          </a:prstGeom>
          <a:ln w="19050">
            <a:solidFill>
              <a:srgbClr val="F4F6F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62000" y="1197610"/>
            <a:ext cx="5588000" cy="320040"/>
          </a:xfrm>
          <a:prstGeom prst="rect">
            <a:avLst/>
          </a:prstGeom>
          <a:noFill/>
        </p:spPr>
        <p:txBody>
          <a:bodyPr wrap="square" lIns="0" rIns="0" tIns="0" bIns="0" anchor="t">
            <a:spAutoFit/>
          </a:bodyPr>
          <a:lstStyle/>
          <a:p>
            <a:pPr algn="l">
              <a:lnSpc>
                <a:spcPct val="115000"/>
              </a:lnSpc>
            </a:pPr>
            <a:r>
              <a:rPr sz="1800" b="0">
                <a:solidFill>
                  <a:srgbClr val="AFC0D8"/>
                </a:solidFill>
                <a:latin typeface="Plus Jakarta Sans"/>
              </a:rPr>
              <a:t>Part IV</a:t>
            </a:r>
          </a:p>
        </p:txBody>
      </p:sp>
      <p:cxnSp>
        <p:nvCxnSpPr>
          <p:cNvPr id="36" name="motif-line-card-rule"/>
          <p:cNvCxnSpPr/>
          <p:nvPr/>
        </p:nvCxnSpPr>
        <p:spPr>
          <a:xfrm>
            <a:off x="762000" y="1644650"/>
            <a:ext cx="3048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62000" y="1771650"/>
            <a:ext cx="5588000" cy="2844800"/>
          </a:xfrm>
          <a:prstGeom prst="rect">
            <a:avLst/>
          </a:prstGeom>
          <a:noFill/>
        </p:spPr>
        <p:txBody>
          <a:bodyPr wrap="square" lIns="0" rIns="0" tIns="0" bIns="0" anchor="t">
            <a:spAutoFit/>
          </a:bodyPr>
          <a:lstStyle/>
          <a:p>
            <a:pPr algn="l">
              <a:lnSpc>
                <a:spcPct val="115000"/>
              </a:lnSpc>
            </a:pPr>
            <a:r>
              <a:rPr sz="8000" b="1">
                <a:solidFill>
                  <a:srgbClr val="F4F6FA"/>
                </a:solidFill>
                <a:latin typeface="Plus Jakarta Sans"/>
              </a:rPr>
              <a:t>What it means</a:t>
            </a:r>
          </a:p>
        </p:txBody>
      </p:sp>
      <p:sp>
        <p:nvSpPr>
          <p:cNvPr id="38" name="TextBox 37"/>
          <p:cNvSpPr txBox="1"/>
          <p:nvPr/>
        </p:nvSpPr>
        <p:spPr>
          <a:xfrm>
            <a:off x="762000" y="4806950"/>
            <a:ext cx="5588000" cy="853439"/>
          </a:xfrm>
          <a:prstGeom prst="rect">
            <a:avLst/>
          </a:prstGeom>
          <a:noFill/>
        </p:spPr>
        <p:txBody>
          <a:bodyPr wrap="square" lIns="0" rIns="0" tIns="0" bIns="0" anchor="t">
            <a:spAutoFit/>
          </a:bodyPr>
          <a:lstStyle/>
          <a:p>
            <a:pPr algn="l">
              <a:lnSpc>
                <a:spcPct val="115000"/>
              </a:lnSpc>
            </a:pPr>
            <a:r>
              <a:rPr sz="2400" b="0">
                <a:solidFill>
                  <a:srgbClr val="AFC0D8"/>
                </a:solidFill>
                <a:latin typeface="Plus Jakarta Sans"/>
              </a:rPr>
              <a:t>What the bank's website team can do with this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For the SEO strategist</a:t>
            </a:r>
          </a:p>
        </p:txBody>
      </p:sp>
      <p:sp>
        <p:nvSpPr>
          <p:cNvPr id="3" name="TextBox 2"/>
          <p:cNvSpPr txBox="1"/>
          <p:nvPr/>
        </p:nvSpPr>
        <p:spPr>
          <a:xfrm>
            <a:off x="762000" y="18046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01</a:t>
            </a:r>
          </a:p>
        </p:txBody>
      </p:sp>
      <p:sp>
        <p:nvSpPr>
          <p:cNvPr id="4" name="TextBox 3"/>
          <p:cNvSpPr txBox="1"/>
          <p:nvPr/>
        </p:nvSpPr>
        <p:spPr>
          <a:xfrm>
            <a:off x="1524000" y="1760220"/>
            <a:ext cx="9906000" cy="10668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Measure AI answers as a channel of their own. Google rank is a weak proxy: 12% of URLs cited by AI assistants rank in Google's top 10 for the same query (Ahrefs).</a:t>
            </a:r>
          </a:p>
        </p:txBody>
      </p:sp>
      <p:sp>
        <p:nvSpPr>
          <p:cNvPr id="5" name="TextBox 4"/>
          <p:cNvSpPr txBox="1"/>
          <p:nvPr/>
        </p:nvSpPr>
        <p:spPr>
          <a:xfrm>
            <a:off x="762000" y="29857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02</a:t>
            </a:r>
          </a:p>
        </p:txBody>
      </p:sp>
      <p:sp>
        <p:nvSpPr>
          <p:cNvPr id="6" name="TextBox 5"/>
          <p:cNvSpPr txBox="1"/>
          <p:nvPr/>
        </p:nvSpPr>
        <p:spPr>
          <a:xfrm>
            <a:off x="1524000" y="2941320"/>
            <a:ext cx="9906000" cy="7112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Report ChatGPT and Gemini separately. ChatGPT took 64% of its citations from bank websites, Gemini 29%. A blended figure would hide that gap.</a:t>
            </a:r>
          </a:p>
        </p:txBody>
      </p:sp>
      <p:sp>
        <p:nvSpPr>
          <p:cNvPr id="7" name="TextBox 6"/>
          <p:cNvSpPr txBox="1"/>
          <p:nvPr/>
        </p:nvSpPr>
        <p:spPr>
          <a:xfrm>
            <a:off x="762000" y="38112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03</a:t>
            </a:r>
          </a:p>
        </p:txBody>
      </p:sp>
      <p:sp>
        <p:nvSpPr>
          <p:cNvPr id="8" name="TextBox 7"/>
          <p:cNvSpPr txBox="1"/>
          <p:nvPr/>
        </p:nvSpPr>
        <p:spPr>
          <a:xfrm>
            <a:off x="1524000" y="3766820"/>
            <a:ext cx="9906000" cy="7112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Track pages, not only domains. The engines cited 21 of the same 97 sites but only 11 of the same 243 pages.</a:t>
            </a:r>
          </a:p>
        </p:txBody>
      </p:sp>
      <p:sp>
        <p:nvSpPr>
          <p:cNvPr id="9" name="TextBox 8"/>
          <p:cNvSpPr txBox="1"/>
          <p:nvPr/>
        </p:nvSpPr>
        <p:spPr>
          <a:xfrm>
            <a:off x="762000" y="46367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04</a:t>
            </a:r>
          </a:p>
        </p:txBody>
      </p:sp>
      <p:sp>
        <p:nvSpPr>
          <p:cNvPr id="10" name="TextBox 9"/>
          <p:cNvSpPr txBox="1"/>
          <p:nvPr/>
        </p:nvSpPr>
        <p:spPr>
          <a:xfrm>
            <a:off x="1524000" y="4592320"/>
            <a:ext cx="9906000" cy="7112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Run a fixed set of customer questions in both engines every month, in Bahasa Indonesia. This study is one run of 20 questions, so treat it as the baseline.</a:t>
            </a:r>
          </a:p>
        </p:txBody>
      </p:sp>
      <p:cxnSp>
        <p:nvCxnSpPr>
          <p:cNvPr id="11" name="motif-line-rail"/>
          <p:cNvCxnSpPr/>
          <p:nvPr/>
        </p:nvCxnSpPr>
        <p:spPr>
          <a:xfrm>
            <a:off x="1282700" y="1823720"/>
            <a:ext cx="0" cy="30607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12" name="motif-line-stop-1"/>
          <p:cNvCxnSpPr/>
          <p:nvPr/>
        </p:nvCxnSpPr>
        <p:spPr>
          <a:xfrm>
            <a:off x="1238250" y="19380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stop-2"/>
          <p:cNvCxnSpPr/>
          <p:nvPr/>
        </p:nvCxnSpPr>
        <p:spPr>
          <a:xfrm>
            <a:off x="1238250" y="31191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stop-3"/>
          <p:cNvCxnSpPr/>
          <p:nvPr/>
        </p:nvCxnSpPr>
        <p:spPr>
          <a:xfrm>
            <a:off x="1238250" y="39446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stop-4"/>
          <p:cNvCxnSpPr/>
          <p:nvPr/>
        </p:nvCxnSpPr>
        <p:spPr>
          <a:xfrm>
            <a:off x="1238250" y="47701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7"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IV: What it means</a:t>
            </a:r>
          </a:p>
        </p:txBody>
      </p:sp>
      <p:cxnSp>
        <p:nvCxnSpPr>
          <p:cNvPr id="18"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9"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28 / 33</a:t>
            </a:r>
          </a:p>
        </p:txBody>
      </p:sp>
      <p:sp>
        <p:nvSpPr>
          <p:cNvPr id="20" name="chrome-foot"/>
          <p:cNvSpPr txBox="1"/>
          <p:nvPr/>
        </p:nvSpPr>
        <p:spPr>
          <a:xfrm>
            <a:off x="762000" y="6159500"/>
            <a:ext cx="6604000" cy="1778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data/interim/citations.csv. Ahrefs, AI search overlap with Google results</a:t>
            </a:r>
          </a:p>
        </p:txBody>
      </p:sp>
      <p:cxnSp>
        <p:nvCxnSpPr>
          <p:cNvPr id="21"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3"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4" name="motif-line-tick-24"/>
          <p:cNvCxnSpPr/>
          <p:nvPr/>
        </p:nvCxnSpPr>
        <p:spPr>
          <a:xfrm>
            <a:off x="9810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5" name="motif-line-tick-25"/>
          <p:cNvCxnSpPr/>
          <p:nvPr/>
        </p:nvCxnSpPr>
        <p:spPr>
          <a:xfrm>
            <a:off x="9906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6" name="motif-line-tick-26"/>
          <p:cNvCxnSpPr/>
          <p:nvPr/>
        </p:nvCxnSpPr>
        <p:spPr>
          <a:xfrm>
            <a:off x="10001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7" name="motif-line-tick-27"/>
          <p:cNvCxnSpPr/>
          <p:nvPr/>
        </p:nvCxnSpPr>
        <p:spPr>
          <a:xfrm>
            <a:off x="10096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8" name="motif-line-tick-28"/>
          <p:cNvCxnSpPr/>
          <p:nvPr/>
        </p:nvCxnSpPr>
        <p:spPr>
          <a:xfrm>
            <a:off x="10191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9" name="motif-line-tick-29"/>
          <p:cNvCxnSpPr/>
          <p:nvPr/>
        </p:nvCxnSpPr>
        <p:spPr>
          <a:xfrm>
            <a:off x="10287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0"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3"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For content and marketing</a:t>
            </a:r>
          </a:p>
        </p:txBody>
      </p:sp>
      <p:sp>
        <p:nvSpPr>
          <p:cNvPr id="3" name="TextBox 2"/>
          <p:cNvSpPr txBox="1"/>
          <p:nvPr/>
        </p:nvSpPr>
        <p:spPr>
          <a:xfrm>
            <a:off x="762000" y="1806892"/>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01</a:t>
            </a:r>
          </a:p>
        </p:txBody>
      </p:sp>
      <p:sp>
        <p:nvSpPr>
          <p:cNvPr id="4" name="TextBox 3"/>
          <p:cNvSpPr txBox="1"/>
          <p:nvPr/>
        </p:nvSpPr>
        <p:spPr>
          <a:xfrm>
            <a:off x="1524000" y="1760220"/>
            <a:ext cx="9906000" cy="746760"/>
          </a:xfrm>
          <a:prstGeom prst="rect">
            <a:avLst/>
          </a:prstGeom>
          <a:noFill/>
        </p:spPr>
        <p:txBody>
          <a:bodyPr wrap="square" lIns="0" rIns="0" tIns="0" bIns="0" anchor="t">
            <a:spAutoFit/>
          </a:bodyPr>
          <a:lstStyle/>
          <a:p>
            <a:pPr algn="l">
              <a:lnSpc>
                <a:spcPct val="115000"/>
              </a:lnSpc>
            </a:pPr>
            <a:r>
              <a:rPr sz="2100" b="0">
                <a:solidFill>
                  <a:srgbClr val="F4F6FA"/>
                </a:solidFill>
                <a:latin typeface="Plus Jakarta Sans"/>
              </a:rPr>
              <a:t>Keep fee and rate pages complete and current. ChatGPT cited SeaBank's fees page 5 times and blu's 4 times, by URL.</a:t>
            </a:r>
          </a:p>
        </p:txBody>
      </p:sp>
      <p:sp>
        <p:nvSpPr>
          <p:cNvPr id="5" name="TextBox 4"/>
          <p:cNvSpPr txBox="1"/>
          <p:nvPr/>
        </p:nvSpPr>
        <p:spPr>
          <a:xfrm>
            <a:off x="762000" y="2693352"/>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02</a:t>
            </a:r>
          </a:p>
        </p:txBody>
      </p:sp>
      <p:sp>
        <p:nvSpPr>
          <p:cNvPr id="6" name="TextBox 5"/>
          <p:cNvSpPr txBox="1"/>
          <p:nvPr/>
        </p:nvSpPr>
        <p:spPr>
          <a:xfrm>
            <a:off x="1524000" y="2646679"/>
            <a:ext cx="9906000" cy="746760"/>
          </a:xfrm>
          <a:prstGeom prst="rect">
            <a:avLst/>
          </a:prstGeom>
          <a:noFill/>
        </p:spPr>
        <p:txBody>
          <a:bodyPr wrap="square" lIns="0" rIns="0" tIns="0" bIns="0" anchor="t">
            <a:spAutoFit/>
          </a:bodyPr>
          <a:lstStyle/>
          <a:p>
            <a:pPr algn="l">
              <a:lnSpc>
                <a:spcPct val="115000"/>
              </a:lnSpc>
            </a:pPr>
            <a:r>
              <a:rPr sz="2100" b="0">
                <a:solidFill>
                  <a:srgbClr val="F4F6FA"/>
                </a:solidFill>
                <a:latin typeface="Plus Jakarta Sans"/>
              </a:rPr>
              <a:t>Write explainers for how-to questions on deposit insurance, scams and complaints. Only 1 of 6 how-to answers named a bank.</a:t>
            </a:r>
          </a:p>
        </p:txBody>
      </p:sp>
      <p:sp>
        <p:nvSpPr>
          <p:cNvPr id="7" name="TextBox 6"/>
          <p:cNvSpPr txBox="1"/>
          <p:nvPr/>
        </p:nvSpPr>
        <p:spPr>
          <a:xfrm>
            <a:off x="762000" y="3579812"/>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03</a:t>
            </a:r>
          </a:p>
        </p:txBody>
      </p:sp>
      <p:sp>
        <p:nvSpPr>
          <p:cNvPr id="8" name="TextBox 7"/>
          <p:cNvSpPr txBox="1"/>
          <p:nvPr/>
        </p:nvSpPr>
        <p:spPr>
          <a:xfrm>
            <a:off x="1524000" y="3533140"/>
            <a:ext cx="9906000" cy="1120139"/>
          </a:xfrm>
          <a:prstGeom prst="rect">
            <a:avLst/>
          </a:prstGeom>
          <a:noFill/>
        </p:spPr>
        <p:txBody>
          <a:bodyPr wrap="square" lIns="0" rIns="0" tIns="0" bIns="0" anchor="t">
            <a:spAutoFit/>
          </a:bodyPr>
          <a:lstStyle/>
          <a:p>
            <a:pPr algn="l">
              <a:lnSpc>
                <a:spcPct val="115000"/>
              </a:lnSpc>
            </a:pPr>
            <a:r>
              <a:rPr sz="2100" b="0">
                <a:solidFill>
                  <a:srgbClr val="F4F6FA"/>
                </a:solidFill>
                <a:latin typeface="Plus Jakarta Sans"/>
              </a:rPr>
              <a:t>Read the comparison articles Gemini cites and send their publishers corrections when a fact about your bank is out of date. One Akulaku article appeared in 14 of Gemini's 20 answers.</a:t>
            </a:r>
          </a:p>
        </p:txBody>
      </p:sp>
      <p:sp>
        <p:nvSpPr>
          <p:cNvPr id="9" name="TextBox 8"/>
          <p:cNvSpPr txBox="1"/>
          <p:nvPr/>
        </p:nvSpPr>
        <p:spPr>
          <a:xfrm>
            <a:off x="762000" y="4839652"/>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04</a:t>
            </a:r>
          </a:p>
        </p:txBody>
      </p:sp>
      <p:sp>
        <p:nvSpPr>
          <p:cNvPr id="10" name="TextBox 9"/>
          <p:cNvSpPr txBox="1"/>
          <p:nvPr/>
        </p:nvSpPr>
        <p:spPr>
          <a:xfrm>
            <a:off x="1524000" y="4792980"/>
            <a:ext cx="9906000" cy="746760"/>
          </a:xfrm>
          <a:prstGeom prst="rect">
            <a:avLst/>
          </a:prstGeom>
          <a:noFill/>
        </p:spPr>
        <p:txBody>
          <a:bodyPr wrap="square" lIns="0" rIns="0" tIns="0" bIns="0" anchor="t">
            <a:spAutoFit/>
          </a:bodyPr>
          <a:lstStyle/>
          <a:p>
            <a:pPr algn="l">
              <a:lnSpc>
                <a:spcPct val="115000"/>
              </a:lnSpc>
            </a:pPr>
            <a:r>
              <a:rPr sz="2100" b="0">
                <a:solidFill>
                  <a:srgbClr val="F4F6FA"/>
                </a:solidFill>
                <a:latin typeface="Plus Jakarta Sans"/>
              </a:rPr>
              <a:t>Report how often the bank is named before reporting tone. Of 137 answer and bank pairs, none was negative.</a:t>
            </a:r>
          </a:p>
        </p:txBody>
      </p:sp>
      <p:cxnSp>
        <p:nvCxnSpPr>
          <p:cNvPr id="11" name="motif-line-rail"/>
          <p:cNvCxnSpPr/>
          <p:nvPr/>
        </p:nvCxnSpPr>
        <p:spPr>
          <a:xfrm>
            <a:off x="1282700" y="1832609"/>
            <a:ext cx="0" cy="3261361"/>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12" name="motif-line-stop-1"/>
          <p:cNvCxnSpPr/>
          <p:nvPr/>
        </p:nvCxnSpPr>
        <p:spPr>
          <a:xfrm>
            <a:off x="1238250" y="1946909"/>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stop-2"/>
          <p:cNvCxnSpPr/>
          <p:nvPr/>
        </p:nvCxnSpPr>
        <p:spPr>
          <a:xfrm>
            <a:off x="1238250" y="2833369"/>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stop-3"/>
          <p:cNvCxnSpPr/>
          <p:nvPr/>
        </p:nvCxnSpPr>
        <p:spPr>
          <a:xfrm>
            <a:off x="1238250" y="3719829"/>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stop-4"/>
          <p:cNvCxnSpPr/>
          <p:nvPr/>
        </p:nvCxnSpPr>
        <p:spPr>
          <a:xfrm>
            <a:off x="1238250" y="497967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7"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IV: What it means</a:t>
            </a:r>
          </a:p>
        </p:txBody>
      </p:sp>
      <p:cxnSp>
        <p:nvCxnSpPr>
          <p:cNvPr id="18"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9"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29 / 33</a:t>
            </a:r>
          </a:p>
        </p:txBody>
      </p:sp>
      <p:sp>
        <p:nvSpPr>
          <p:cNvPr id="20"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data/interim/citations.csv, data/processed/no_brand_rate.csv, pages_top.csv, data/labels/sentiment.csv</a:t>
            </a:r>
          </a:p>
        </p:txBody>
      </p:sp>
      <p:cxnSp>
        <p:nvCxnSpPr>
          <p:cNvPr id="21"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3"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4" name="motif-line-tick-24"/>
          <p:cNvCxnSpPr/>
          <p:nvPr/>
        </p:nvCxnSpPr>
        <p:spPr>
          <a:xfrm>
            <a:off x="9810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5" name="motif-line-tick-25"/>
          <p:cNvCxnSpPr/>
          <p:nvPr/>
        </p:nvCxnSpPr>
        <p:spPr>
          <a:xfrm>
            <a:off x="9906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6" name="motif-line-tick-26"/>
          <p:cNvCxnSpPr/>
          <p:nvPr/>
        </p:nvCxnSpPr>
        <p:spPr>
          <a:xfrm>
            <a:off x="10001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7" name="motif-line-tick-27"/>
          <p:cNvCxnSpPr/>
          <p:nvPr/>
        </p:nvCxnSpPr>
        <p:spPr>
          <a:xfrm>
            <a:off x="10096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8" name="motif-line-tick-28"/>
          <p:cNvCxnSpPr/>
          <p:nvPr/>
        </p:nvCxnSpPr>
        <p:spPr>
          <a:xfrm>
            <a:off x="10191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9" name="motif-line-tick-29"/>
          <p:cNvCxnSpPr/>
          <p:nvPr/>
        </p:nvCxnSpPr>
        <p:spPr>
          <a:xfrm>
            <a:off x="102870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50" name="motif-line-tick-30"/>
          <p:cNvCxnSpPr/>
          <p:nvPr/>
        </p:nvCxnSpPr>
        <p:spPr>
          <a:xfrm>
            <a:off x="103822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1"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3"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For the web team</a:t>
            </a:r>
          </a:p>
        </p:txBody>
      </p:sp>
      <p:sp>
        <p:nvSpPr>
          <p:cNvPr id="3" name="TextBox 2"/>
          <p:cNvSpPr txBox="1"/>
          <p:nvPr/>
        </p:nvSpPr>
        <p:spPr>
          <a:xfrm>
            <a:off x="762000" y="18046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01</a:t>
            </a:r>
          </a:p>
        </p:txBody>
      </p:sp>
      <p:sp>
        <p:nvSpPr>
          <p:cNvPr id="4" name="TextBox 3"/>
          <p:cNvSpPr txBox="1"/>
          <p:nvPr/>
        </p:nvSpPr>
        <p:spPr>
          <a:xfrm>
            <a:off x="1524000" y="1760220"/>
            <a:ext cx="9906000" cy="10668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Fix or redirect cited pages that no longer work. Gemini cited 2 broken bank pages 4 times: a 404 on jago.com and a BNI complaints page that loads as an error page.</a:t>
            </a:r>
          </a:p>
        </p:txBody>
      </p:sp>
      <p:sp>
        <p:nvSpPr>
          <p:cNvPr id="5" name="TextBox 4"/>
          <p:cNvSpPr txBox="1"/>
          <p:nvPr/>
        </p:nvSpPr>
        <p:spPr>
          <a:xfrm>
            <a:off x="762000" y="29476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02</a:t>
            </a:r>
          </a:p>
        </p:txBody>
      </p:sp>
      <p:sp>
        <p:nvSpPr>
          <p:cNvPr id="6" name="TextBox 5"/>
          <p:cNvSpPr txBox="1"/>
          <p:nvPr/>
        </p:nvSpPr>
        <p:spPr>
          <a:xfrm>
            <a:off x="1524000" y="2903220"/>
            <a:ext cx="9906000" cy="10668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Send key text in the HTML from the server. 12 cited bank pages, SeaBank's fees and rates page among them, showed their text only after a browser ran JavaScript. A crawler that skips JavaScript may read them as empty.</a:t>
            </a:r>
          </a:p>
        </p:txBody>
      </p:sp>
      <p:sp>
        <p:nvSpPr>
          <p:cNvPr id="7" name="TextBox 6"/>
          <p:cNvSpPr txBox="1"/>
          <p:nvPr/>
        </p:nvSpPr>
        <p:spPr>
          <a:xfrm>
            <a:off x="762000" y="40906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03</a:t>
            </a:r>
          </a:p>
        </p:txBody>
      </p:sp>
      <p:sp>
        <p:nvSpPr>
          <p:cNvPr id="8" name="TextBox 7"/>
          <p:cNvSpPr txBox="1"/>
          <p:nvPr/>
        </p:nvSpPr>
        <p:spPr>
          <a:xfrm>
            <a:off x="1524000" y="4046220"/>
            <a:ext cx="9906000" cy="10668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Check robots.txt on reports and product pages. It blocked our crawler from 2 BNI annual reports, and 3 bank sites returned no robots.txt our crawler could read.</a:t>
            </a:r>
          </a:p>
        </p:txBody>
      </p:sp>
      <p:sp>
        <p:nvSpPr>
          <p:cNvPr id="9" name="TextBox 8"/>
          <p:cNvSpPr txBox="1"/>
          <p:nvPr/>
        </p:nvSpPr>
        <p:spPr>
          <a:xfrm>
            <a:off x="762000" y="5233670"/>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04</a:t>
            </a:r>
          </a:p>
        </p:txBody>
      </p:sp>
      <p:sp>
        <p:nvSpPr>
          <p:cNvPr id="10" name="TextBox 9"/>
          <p:cNvSpPr txBox="1"/>
          <p:nvPr/>
        </p:nvSpPr>
        <p:spPr>
          <a:xfrm>
            <a:off x="1524000" y="5189220"/>
            <a:ext cx="9906000" cy="711200"/>
          </a:xfrm>
          <a:prstGeom prst="rect">
            <a:avLst/>
          </a:prstGeom>
          <a:noFill/>
        </p:spPr>
        <p:txBody>
          <a:bodyPr wrap="square" lIns="0" rIns="0" tIns="0" bIns="0" anchor="t">
            <a:spAutoFit/>
          </a:bodyPr>
          <a:lstStyle/>
          <a:p>
            <a:pPr algn="l">
              <a:lnSpc>
                <a:spcPct val="115000"/>
              </a:lnSpc>
            </a:pPr>
            <a:r>
              <a:rPr sz="2000" b="0">
                <a:solidFill>
                  <a:srgbClr val="F4F6FA"/>
                </a:solidFill>
                <a:latin typeface="Plus Jakarta Sans"/>
              </a:rPr>
              <a:t>Treat schema as optional for AI citations. Bank sites carried schema on 32% of cited pages and were still the most cited type.</a:t>
            </a:r>
          </a:p>
        </p:txBody>
      </p:sp>
      <p:cxnSp>
        <p:nvCxnSpPr>
          <p:cNvPr id="11" name="motif-line-rail"/>
          <p:cNvCxnSpPr/>
          <p:nvPr/>
        </p:nvCxnSpPr>
        <p:spPr>
          <a:xfrm>
            <a:off x="1282700" y="1823720"/>
            <a:ext cx="0" cy="36576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12" name="motif-line-stop-1"/>
          <p:cNvCxnSpPr/>
          <p:nvPr/>
        </p:nvCxnSpPr>
        <p:spPr>
          <a:xfrm>
            <a:off x="1238250" y="19380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stop-2"/>
          <p:cNvCxnSpPr/>
          <p:nvPr/>
        </p:nvCxnSpPr>
        <p:spPr>
          <a:xfrm>
            <a:off x="1238250" y="30810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stop-3"/>
          <p:cNvCxnSpPr/>
          <p:nvPr/>
        </p:nvCxnSpPr>
        <p:spPr>
          <a:xfrm>
            <a:off x="1238250" y="42240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stop-4"/>
          <p:cNvCxnSpPr/>
          <p:nvPr/>
        </p:nvCxnSpPr>
        <p:spPr>
          <a:xfrm>
            <a:off x="1238250" y="536702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7"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IV: What it means</a:t>
            </a:r>
          </a:p>
        </p:txBody>
      </p:sp>
      <p:cxnSp>
        <p:nvCxnSpPr>
          <p:cNvPr id="18"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9"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30 / 33</a:t>
            </a:r>
          </a:p>
        </p:txBody>
      </p:sp>
      <p:sp>
        <p:nvSpPr>
          <p:cNvPr id="20" name="chrome-foot"/>
          <p:cNvSpPr txBox="1"/>
          <p:nvPr/>
        </p:nvSpPr>
        <p:spPr>
          <a:xfrm>
            <a:off x="762000" y="6159500"/>
            <a:ext cx="6604000" cy="355600"/>
          </a:xfrm>
          <a:prstGeom prst="rect">
            <a:avLst/>
          </a:prstGeom>
          <a:noFill/>
        </p:spPr>
        <p:txBody>
          <a:bodyPr wrap="square" lIns="0" rIns="0" tIns="0" bIns="0" anchor="t">
            <a:spAutoFit/>
          </a:bodyPr>
          <a:lstStyle/>
          <a:p>
            <a:pPr algn="l">
              <a:lnSpc>
                <a:spcPct val="115000"/>
              </a:lnSpc>
            </a:pPr>
            <a:r>
              <a:rPr sz="1000" b="0">
                <a:solidFill>
                  <a:srgbClr val="AFC0D8"/>
                </a:solidFill>
                <a:latin typeface="IBM Plex Mono"/>
              </a:rPr>
              <a:t>Source: data/interim/pages.csv, crawled from GitHub's servers on 9 October 2026. Google Search Central</a:t>
            </a:r>
          </a:p>
        </p:txBody>
      </p:sp>
      <p:cxnSp>
        <p:nvCxnSpPr>
          <p:cNvPr id="21"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3"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4" name="motif-line-tick-24"/>
          <p:cNvCxnSpPr/>
          <p:nvPr/>
        </p:nvCxnSpPr>
        <p:spPr>
          <a:xfrm>
            <a:off x="9810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5" name="motif-line-tick-25"/>
          <p:cNvCxnSpPr/>
          <p:nvPr/>
        </p:nvCxnSpPr>
        <p:spPr>
          <a:xfrm>
            <a:off x="9906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6" name="motif-line-tick-26"/>
          <p:cNvCxnSpPr/>
          <p:nvPr/>
        </p:nvCxnSpPr>
        <p:spPr>
          <a:xfrm>
            <a:off x="10001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7" name="motif-line-tick-27"/>
          <p:cNvCxnSpPr/>
          <p:nvPr/>
        </p:nvCxnSpPr>
        <p:spPr>
          <a:xfrm>
            <a:off x="10096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8" name="motif-line-tick-28"/>
          <p:cNvCxnSpPr/>
          <p:nvPr/>
        </p:nvCxnSpPr>
        <p:spPr>
          <a:xfrm>
            <a:off x="10191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9" name="motif-line-tick-29"/>
          <p:cNvCxnSpPr/>
          <p:nvPr/>
        </p:nvCxnSpPr>
        <p:spPr>
          <a:xfrm>
            <a:off x="10287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50" name="motif-line-tick-30"/>
          <p:cNvCxnSpPr/>
          <p:nvPr/>
        </p:nvCxnSpPr>
        <p:spPr>
          <a:xfrm>
            <a:off x="103822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51" name="motif-line-tick-31"/>
          <p:cNvCxnSpPr/>
          <p:nvPr/>
        </p:nvCxnSpPr>
        <p:spPr>
          <a:xfrm>
            <a:off x="104775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2"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53"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These numbers come from one run</a:t>
            </a:r>
          </a:p>
        </p:txBody>
      </p:sp>
      <p:sp>
        <p:nvSpPr>
          <p:cNvPr id="3" name="TextBox 2"/>
          <p:cNvSpPr txBox="1"/>
          <p:nvPr/>
        </p:nvSpPr>
        <p:spPr>
          <a:xfrm>
            <a:off x="1524000" y="1760220"/>
            <a:ext cx="9906000" cy="1280160"/>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SparkToro and Gumshoe ran 12 prompts nearly 3,000 times. The same brand list came back less than 1 in 100 times (Search Engine Land, January 2026).</a:t>
            </a:r>
          </a:p>
        </p:txBody>
      </p:sp>
      <p:sp>
        <p:nvSpPr>
          <p:cNvPr id="4" name="TextBox 3"/>
          <p:cNvSpPr txBox="1"/>
          <p:nvPr/>
        </p:nvSpPr>
        <p:spPr>
          <a:xfrm>
            <a:off x="1524000" y="3256279"/>
            <a:ext cx="9906000" cy="85343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Read gaps of a few points here as ties: BCA and Bank Jago at 55%, SeaBank at 53%.</a:t>
            </a:r>
          </a:p>
        </p:txBody>
      </p:sp>
      <p:cxnSp>
        <p:nvCxnSpPr>
          <p:cNvPr id="5" name="motif-line-rail"/>
          <p:cNvCxnSpPr/>
          <p:nvPr/>
        </p:nvCxnSpPr>
        <p:spPr>
          <a:xfrm>
            <a:off x="1282700" y="1859279"/>
            <a:ext cx="0" cy="1724661"/>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6" name="motif-line-stop-1"/>
          <p:cNvCxnSpPr/>
          <p:nvPr/>
        </p:nvCxnSpPr>
        <p:spPr>
          <a:xfrm>
            <a:off x="1238250" y="1973579"/>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7" name="motif-line-stop-2"/>
          <p:cNvCxnSpPr/>
          <p:nvPr/>
        </p:nvCxnSpPr>
        <p:spPr>
          <a:xfrm>
            <a:off x="1238250" y="346964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8"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9"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IV: What it means</a:t>
            </a:r>
          </a:p>
        </p:txBody>
      </p:sp>
      <p:cxnSp>
        <p:nvCxnSpPr>
          <p:cNvPr id="10"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1"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31 / 33</a:t>
            </a:r>
          </a:p>
        </p:txBody>
      </p:sp>
      <p:cxnSp>
        <p:nvCxnSpPr>
          <p:cNvPr id="12"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3"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4"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5"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6"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7"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8"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19"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0"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24"/>
          <p:cNvCxnSpPr/>
          <p:nvPr/>
        </p:nvCxnSpPr>
        <p:spPr>
          <a:xfrm>
            <a:off x="9810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25"/>
          <p:cNvCxnSpPr/>
          <p:nvPr/>
        </p:nvCxnSpPr>
        <p:spPr>
          <a:xfrm>
            <a:off x="9906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26"/>
          <p:cNvCxnSpPr/>
          <p:nvPr/>
        </p:nvCxnSpPr>
        <p:spPr>
          <a:xfrm>
            <a:off x="10001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27"/>
          <p:cNvCxnSpPr/>
          <p:nvPr/>
        </p:nvCxnSpPr>
        <p:spPr>
          <a:xfrm>
            <a:off x="10096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28"/>
          <p:cNvCxnSpPr/>
          <p:nvPr/>
        </p:nvCxnSpPr>
        <p:spPr>
          <a:xfrm>
            <a:off x="10191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9"/>
          <p:cNvCxnSpPr/>
          <p:nvPr/>
        </p:nvCxnSpPr>
        <p:spPr>
          <a:xfrm>
            <a:off x="10287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30"/>
          <p:cNvCxnSpPr/>
          <p:nvPr/>
        </p:nvCxnSpPr>
        <p:spPr>
          <a:xfrm>
            <a:off x="10382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31"/>
          <p:cNvCxnSpPr/>
          <p:nvPr/>
        </p:nvCxnSpPr>
        <p:spPr>
          <a:xfrm>
            <a:off x="1047750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43" name="motif-line-tick-32"/>
          <p:cNvCxnSpPr/>
          <p:nvPr/>
        </p:nvCxnSpPr>
        <p:spPr>
          <a:xfrm>
            <a:off x="1057275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44"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604519"/>
          </a:xfrm>
          <a:prstGeom prst="rect">
            <a:avLst/>
          </a:prstGeom>
          <a:noFill/>
        </p:spPr>
        <p:txBody>
          <a:bodyPr wrap="square" lIns="0" rIns="0" tIns="0" bIns="0" anchor="t">
            <a:spAutoFit/>
          </a:bodyPr>
          <a:lstStyle/>
          <a:p>
            <a:pPr algn="l">
              <a:lnSpc>
                <a:spcPct val="115000"/>
              </a:lnSpc>
            </a:pPr>
            <a:r>
              <a:rPr sz="3400" b="1">
                <a:solidFill>
                  <a:srgbClr val="F4F6FA"/>
                </a:solidFill>
                <a:latin typeface="Plus Jakarta Sans"/>
              </a:rPr>
              <a:t>Next steps</a:t>
            </a:r>
          </a:p>
        </p:txBody>
      </p:sp>
      <p:sp>
        <p:nvSpPr>
          <p:cNvPr id="3" name="TextBox 2"/>
          <p:cNvSpPr txBox="1"/>
          <p:nvPr/>
        </p:nvSpPr>
        <p:spPr>
          <a:xfrm>
            <a:off x="762000" y="1813559"/>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01</a:t>
            </a:r>
          </a:p>
        </p:txBody>
      </p:sp>
      <p:sp>
        <p:nvSpPr>
          <p:cNvPr id="4" name="TextBox 3"/>
          <p:cNvSpPr txBox="1"/>
          <p:nvPr/>
        </p:nvSpPr>
        <p:spPr>
          <a:xfrm>
            <a:off x="1524000" y="1760220"/>
            <a:ext cx="9906000" cy="85343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Run the same 20 prompts at least four more times, so every number has a range.</a:t>
            </a:r>
          </a:p>
        </p:txBody>
      </p:sp>
      <p:sp>
        <p:nvSpPr>
          <p:cNvPr id="5" name="TextBox 4"/>
          <p:cNvSpPr txBox="1"/>
          <p:nvPr/>
        </p:nvSpPr>
        <p:spPr>
          <a:xfrm>
            <a:off x="762000" y="2882899"/>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02</a:t>
            </a:r>
          </a:p>
        </p:txBody>
      </p:sp>
      <p:sp>
        <p:nvSpPr>
          <p:cNvPr id="6" name="TextBox 5"/>
          <p:cNvSpPr txBox="1"/>
          <p:nvPr/>
        </p:nvSpPr>
        <p:spPr>
          <a:xfrm>
            <a:off x="1524000" y="2829560"/>
            <a:ext cx="9906000" cy="42671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Add Perplexity, Microsoft Copilot and Google AI Mode.</a:t>
            </a:r>
          </a:p>
        </p:txBody>
      </p:sp>
      <p:sp>
        <p:nvSpPr>
          <p:cNvPr id="7" name="TextBox 6"/>
          <p:cNvSpPr txBox="1"/>
          <p:nvPr/>
        </p:nvSpPr>
        <p:spPr>
          <a:xfrm>
            <a:off x="762000" y="3525519"/>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03</a:t>
            </a:r>
          </a:p>
        </p:txBody>
      </p:sp>
      <p:sp>
        <p:nvSpPr>
          <p:cNvPr id="8" name="TextBox 7"/>
          <p:cNvSpPr txBox="1"/>
          <p:nvPr/>
        </p:nvSpPr>
        <p:spPr>
          <a:xfrm>
            <a:off x="1524000" y="3472179"/>
            <a:ext cx="9906000" cy="85343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Read the top Gemini comparison articles and record how each one describes each bank.</a:t>
            </a:r>
          </a:p>
        </p:txBody>
      </p:sp>
      <p:sp>
        <p:nvSpPr>
          <p:cNvPr id="9" name="TextBox 8"/>
          <p:cNvSpPr txBox="1"/>
          <p:nvPr/>
        </p:nvSpPr>
        <p:spPr>
          <a:xfrm>
            <a:off x="762000" y="4594859"/>
            <a:ext cx="381000" cy="266700"/>
          </a:xfrm>
          <a:prstGeom prst="rect">
            <a:avLst/>
          </a:prstGeom>
          <a:noFill/>
        </p:spPr>
        <p:txBody>
          <a:bodyPr wrap="square" lIns="0" rIns="0" tIns="0" bIns="0" anchor="t">
            <a:spAutoFit/>
          </a:bodyPr>
          <a:lstStyle/>
          <a:p>
            <a:pPr algn="l">
              <a:lnSpc>
                <a:spcPct val="115000"/>
              </a:lnSpc>
            </a:pPr>
            <a:r>
              <a:rPr sz="1500" b="0">
                <a:solidFill>
                  <a:srgbClr val="7FC0F5"/>
                </a:solidFill>
                <a:latin typeface="IBM Plex Mono"/>
              </a:rPr>
              <a:t>04</a:t>
            </a:r>
          </a:p>
        </p:txBody>
      </p:sp>
      <p:sp>
        <p:nvSpPr>
          <p:cNvPr id="10" name="TextBox 9"/>
          <p:cNvSpPr txBox="1"/>
          <p:nvPr/>
        </p:nvSpPr>
        <p:spPr>
          <a:xfrm>
            <a:off x="1524000" y="4541520"/>
            <a:ext cx="9906000" cy="426719"/>
          </a:xfrm>
          <a:prstGeom prst="rect">
            <a:avLst/>
          </a:prstGeom>
          <a:noFill/>
        </p:spPr>
        <p:txBody>
          <a:bodyPr wrap="square" lIns="0" rIns="0" tIns="0" bIns="0" anchor="t">
            <a:spAutoFit/>
          </a:bodyPr>
          <a:lstStyle/>
          <a:p>
            <a:pPr algn="l">
              <a:lnSpc>
                <a:spcPct val="115000"/>
              </a:lnSpc>
            </a:pPr>
            <a:r>
              <a:rPr sz="2400" b="0">
                <a:solidFill>
                  <a:srgbClr val="F4F6FA"/>
                </a:solidFill>
                <a:latin typeface="Plus Jakarta Sans"/>
              </a:rPr>
              <a:t>Put the tables in a public dashboard that refreshes after each run.</a:t>
            </a:r>
          </a:p>
        </p:txBody>
      </p:sp>
      <p:cxnSp>
        <p:nvCxnSpPr>
          <p:cNvPr id="11" name="motif-line-rail"/>
          <p:cNvCxnSpPr/>
          <p:nvPr/>
        </p:nvCxnSpPr>
        <p:spPr>
          <a:xfrm>
            <a:off x="1282700" y="1859279"/>
            <a:ext cx="0" cy="3009901"/>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cxnSp>
        <p:nvCxnSpPr>
          <p:cNvPr id="12" name="motif-line-stop-1"/>
          <p:cNvCxnSpPr/>
          <p:nvPr/>
        </p:nvCxnSpPr>
        <p:spPr>
          <a:xfrm>
            <a:off x="1238250" y="1973579"/>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3" name="motif-line-stop-2"/>
          <p:cNvCxnSpPr/>
          <p:nvPr/>
        </p:nvCxnSpPr>
        <p:spPr>
          <a:xfrm>
            <a:off x="1238250" y="3042919"/>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4" name="motif-line-stop-3"/>
          <p:cNvCxnSpPr/>
          <p:nvPr/>
        </p:nvCxnSpPr>
        <p:spPr>
          <a:xfrm>
            <a:off x="1238250" y="368554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5" name="motif-line-stop-4"/>
          <p:cNvCxnSpPr/>
          <p:nvPr/>
        </p:nvCxnSpPr>
        <p:spPr>
          <a:xfrm>
            <a:off x="1238250" y="4754880"/>
            <a:ext cx="88900" cy="0"/>
          </a:xfrm>
          <a:prstGeom prst="line">
            <a:avLst/>
          </a:prstGeom>
          <a:ln w="19050">
            <a:solidFill>
              <a:srgbClr val="7FC0F5"/>
            </a:solidFill>
          </a:ln>
        </p:spPr>
        <p:style>
          <a:lnRef idx="2">
            <a:schemeClr val="accent1"/>
          </a:lnRef>
          <a:fillRef idx="0">
            <a:schemeClr val="accent1"/>
          </a:fillRef>
          <a:effectRef idx="1">
            <a:schemeClr val="accent1"/>
          </a:effectRef>
          <a:fontRef idx="minor">
            <a:schemeClr val="tx1"/>
          </a:fontRef>
        </p:style>
      </p:cxnSp>
      <p:cxnSp>
        <p:nvCxnSpPr>
          <p:cNvPr id="16" name="motif-line-mark"/>
          <p:cNvCxnSpPr/>
          <p:nvPr/>
        </p:nvCxnSpPr>
        <p:spPr>
          <a:xfrm>
            <a:off x="762000" y="546100"/>
            <a:ext cx="203200" cy="0"/>
          </a:xfrm>
          <a:prstGeom prst="line">
            <a:avLst/>
          </a:prstGeom>
          <a:ln w="25400">
            <a:solidFill>
              <a:srgbClr val="7FC0F5"/>
            </a:solidFill>
          </a:ln>
        </p:spPr>
        <p:style>
          <a:lnRef idx="2">
            <a:schemeClr val="accent1"/>
          </a:lnRef>
          <a:fillRef idx="0">
            <a:schemeClr val="accent1"/>
          </a:fillRef>
          <a:effectRef idx="1">
            <a:schemeClr val="accent1"/>
          </a:effectRef>
          <a:fontRef idx="minor">
            <a:schemeClr val="tx1"/>
          </a:fontRef>
        </p:style>
      </p:cxnSp>
      <p:sp>
        <p:nvSpPr>
          <p:cNvPr id="17" name="chrome-part"/>
          <p:cNvSpPr txBox="1"/>
          <p:nvPr/>
        </p:nvSpPr>
        <p:spPr>
          <a:xfrm>
            <a:off x="1066800" y="457200"/>
            <a:ext cx="5715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Part IV: What it means</a:t>
            </a:r>
          </a:p>
        </p:txBody>
      </p:sp>
      <p:cxnSp>
        <p:nvCxnSpPr>
          <p:cNvPr id="18" name="motif-line-footer"/>
          <p:cNvCxnSpPr/>
          <p:nvPr/>
        </p:nvCxnSpPr>
        <p:spPr>
          <a:xfrm>
            <a:off x="762000" y="6045200"/>
            <a:ext cx="10668000" cy="0"/>
          </a:xfrm>
          <a:prstGeom prst="line">
            <a:avLst/>
          </a:prstGeom>
          <a:ln w="9525">
            <a:solidFill>
              <a:srgbClr val="3B5A85"/>
            </a:solidFill>
          </a:ln>
        </p:spPr>
        <p:style>
          <a:lnRef idx="2">
            <a:schemeClr val="accent1"/>
          </a:lnRef>
          <a:fillRef idx="0">
            <a:schemeClr val="accent1"/>
          </a:fillRef>
          <a:effectRef idx="1">
            <a:schemeClr val="accent1"/>
          </a:effectRef>
          <a:fontRef idx="minor">
            <a:schemeClr val="tx1"/>
          </a:fontRef>
        </p:style>
      </p:cxnSp>
      <p:sp>
        <p:nvSpPr>
          <p:cNvPr id="19" name="chrome-page"/>
          <p:cNvSpPr txBox="1"/>
          <p:nvPr/>
        </p:nvSpPr>
        <p:spPr>
          <a:xfrm>
            <a:off x="10795000" y="6223000"/>
            <a:ext cx="635000" cy="177800"/>
          </a:xfrm>
          <a:prstGeom prst="rect">
            <a:avLst/>
          </a:prstGeom>
          <a:noFill/>
        </p:spPr>
        <p:txBody>
          <a:bodyPr wrap="square" lIns="0" rIns="0" tIns="0" bIns="0" anchor="t">
            <a:spAutoFit/>
          </a:bodyPr>
          <a:lstStyle/>
          <a:p>
            <a:pPr algn="r">
              <a:lnSpc>
                <a:spcPct val="115000"/>
              </a:lnSpc>
            </a:pPr>
            <a:r>
              <a:rPr sz="1000" b="0">
                <a:solidFill>
                  <a:srgbClr val="AFC0D8"/>
                </a:solidFill>
                <a:latin typeface="IBM Plex Mono"/>
              </a:rPr>
              <a:t>32 / 33</a:t>
            </a:r>
          </a:p>
        </p:txBody>
      </p:sp>
      <p:cxnSp>
        <p:nvCxnSpPr>
          <p:cNvPr id="20" name="motif-line-tick-01"/>
          <p:cNvCxnSpPr/>
          <p:nvPr/>
        </p:nvCxnSpPr>
        <p:spPr>
          <a:xfrm>
            <a:off x="7620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1" name="motif-line-tick-02"/>
          <p:cNvCxnSpPr/>
          <p:nvPr/>
        </p:nvCxnSpPr>
        <p:spPr>
          <a:xfrm>
            <a:off x="7715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2" name="motif-line-tick-03"/>
          <p:cNvCxnSpPr/>
          <p:nvPr/>
        </p:nvCxnSpPr>
        <p:spPr>
          <a:xfrm>
            <a:off x="7810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3" name="motif-line-tick-04"/>
          <p:cNvCxnSpPr/>
          <p:nvPr/>
        </p:nvCxnSpPr>
        <p:spPr>
          <a:xfrm>
            <a:off x="7905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4" name="motif-line-tick-05"/>
          <p:cNvCxnSpPr/>
          <p:nvPr/>
        </p:nvCxnSpPr>
        <p:spPr>
          <a:xfrm>
            <a:off x="8001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5" name="motif-line-tick-06"/>
          <p:cNvCxnSpPr/>
          <p:nvPr/>
        </p:nvCxnSpPr>
        <p:spPr>
          <a:xfrm>
            <a:off x="8096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6" name="motif-line-tick-07"/>
          <p:cNvCxnSpPr/>
          <p:nvPr/>
        </p:nvCxnSpPr>
        <p:spPr>
          <a:xfrm>
            <a:off x="8191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7" name="motif-line-tick-08"/>
          <p:cNvCxnSpPr/>
          <p:nvPr/>
        </p:nvCxnSpPr>
        <p:spPr>
          <a:xfrm>
            <a:off x="8286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8" name="motif-line-tick-09"/>
          <p:cNvCxnSpPr/>
          <p:nvPr/>
        </p:nvCxnSpPr>
        <p:spPr>
          <a:xfrm>
            <a:off x="8382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29" name="motif-line-tick-10"/>
          <p:cNvCxnSpPr/>
          <p:nvPr/>
        </p:nvCxnSpPr>
        <p:spPr>
          <a:xfrm>
            <a:off x="8477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0" name="motif-line-tick-11"/>
          <p:cNvCxnSpPr/>
          <p:nvPr/>
        </p:nvCxnSpPr>
        <p:spPr>
          <a:xfrm>
            <a:off x="8572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1" name="motif-line-tick-12"/>
          <p:cNvCxnSpPr/>
          <p:nvPr/>
        </p:nvCxnSpPr>
        <p:spPr>
          <a:xfrm>
            <a:off x="8667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2" name="motif-line-tick-13"/>
          <p:cNvCxnSpPr/>
          <p:nvPr/>
        </p:nvCxnSpPr>
        <p:spPr>
          <a:xfrm>
            <a:off x="8763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3" name="motif-line-tick-14"/>
          <p:cNvCxnSpPr/>
          <p:nvPr/>
        </p:nvCxnSpPr>
        <p:spPr>
          <a:xfrm>
            <a:off x="8858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4" name="motif-line-tick-15"/>
          <p:cNvCxnSpPr/>
          <p:nvPr/>
        </p:nvCxnSpPr>
        <p:spPr>
          <a:xfrm>
            <a:off x="8953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5" name="motif-line-tick-16"/>
          <p:cNvCxnSpPr/>
          <p:nvPr/>
        </p:nvCxnSpPr>
        <p:spPr>
          <a:xfrm>
            <a:off x="9048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6" name="motif-line-tick-17"/>
          <p:cNvCxnSpPr/>
          <p:nvPr/>
        </p:nvCxnSpPr>
        <p:spPr>
          <a:xfrm>
            <a:off x="9144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7" name="motif-line-tick-18"/>
          <p:cNvCxnSpPr/>
          <p:nvPr/>
        </p:nvCxnSpPr>
        <p:spPr>
          <a:xfrm>
            <a:off x="9239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8" name="motif-line-tick-19"/>
          <p:cNvCxnSpPr/>
          <p:nvPr/>
        </p:nvCxnSpPr>
        <p:spPr>
          <a:xfrm>
            <a:off x="9334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39" name="motif-line-tick-20"/>
          <p:cNvCxnSpPr/>
          <p:nvPr/>
        </p:nvCxnSpPr>
        <p:spPr>
          <a:xfrm>
            <a:off x="9429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0" name="motif-line-tick-21"/>
          <p:cNvCxnSpPr/>
          <p:nvPr/>
        </p:nvCxnSpPr>
        <p:spPr>
          <a:xfrm>
            <a:off x="9525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1" name="motif-line-tick-22"/>
          <p:cNvCxnSpPr/>
          <p:nvPr/>
        </p:nvCxnSpPr>
        <p:spPr>
          <a:xfrm>
            <a:off x="9620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2" name="motif-line-tick-23"/>
          <p:cNvCxnSpPr/>
          <p:nvPr/>
        </p:nvCxnSpPr>
        <p:spPr>
          <a:xfrm>
            <a:off x="9715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3" name="motif-line-tick-24"/>
          <p:cNvCxnSpPr/>
          <p:nvPr/>
        </p:nvCxnSpPr>
        <p:spPr>
          <a:xfrm>
            <a:off x="9810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4" name="motif-line-tick-25"/>
          <p:cNvCxnSpPr/>
          <p:nvPr/>
        </p:nvCxnSpPr>
        <p:spPr>
          <a:xfrm>
            <a:off x="9906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5" name="motif-line-tick-26"/>
          <p:cNvCxnSpPr/>
          <p:nvPr/>
        </p:nvCxnSpPr>
        <p:spPr>
          <a:xfrm>
            <a:off x="10001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6" name="motif-line-tick-27"/>
          <p:cNvCxnSpPr/>
          <p:nvPr/>
        </p:nvCxnSpPr>
        <p:spPr>
          <a:xfrm>
            <a:off x="10096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7" name="motif-line-tick-28"/>
          <p:cNvCxnSpPr/>
          <p:nvPr/>
        </p:nvCxnSpPr>
        <p:spPr>
          <a:xfrm>
            <a:off x="101917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8" name="motif-line-tick-29"/>
          <p:cNvCxnSpPr/>
          <p:nvPr/>
        </p:nvCxnSpPr>
        <p:spPr>
          <a:xfrm>
            <a:off x="102870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49" name="motif-line-tick-30"/>
          <p:cNvCxnSpPr/>
          <p:nvPr/>
        </p:nvCxnSpPr>
        <p:spPr>
          <a:xfrm>
            <a:off x="1038225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50" name="motif-line-tick-31"/>
          <p:cNvCxnSpPr/>
          <p:nvPr/>
        </p:nvCxnSpPr>
        <p:spPr>
          <a:xfrm>
            <a:off x="10477500" y="6273800"/>
            <a:ext cx="0" cy="76200"/>
          </a:xfrm>
          <a:prstGeom prst="line">
            <a:avLst/>
          </a:prstGeom>
          <a:ln w="12700">
            <a:solidFill>
              <a:srgbClr val="AFC0D8"/>
            </a:solidFill>
          </a:ln>
        </p:spPr>
        <p:style>
          <a:lnRef idx="2">
            <a:schemeClr val="accent1"/>
          </a:lnRef>
          <a:fillRef idx="0">
            <a:schemeClr val="accent1"/>
          </a:fillRef>
          <a:effectRef idx="1">
            <a:schemeClr val="accent1"/>
          </a:effectRef>
          <a:fontRef idx="minor">
            <a:schemeClr val="tx1"/>
          </a:fontRef>
        </p:style>
      </p:cxnSp>
      <p:cxnSp>
        <p:nvCxnSpPr>
          <p:cNvPr id="51" name="motif-line-tick-32"/>
          <p:cNvCxnSpPr/>
          <p:nvPr/>
        </p:nvCxnSpPr>
        <p:spPr>
          <a:xfrm>
            <a:off x="10572750" y="6223000"/>
            <a:ext cx="0" cy="177800"/>
          </a:xfrm>
          <a:prstGeom prst="line">
            <a:avLst/>
          </a:prstGeom>
          <a:ln w="25400">
            <a:solidFill>
              <a:srgbClr val="F4F6FA"/>
            </a:solidFill>
          </a:ln>
        </p:spPr>
        <p:style>
          <a:lnRef idx="2">
            <a:schemeClr val="accent1"/>
          </a:lnRef>
          <a:fillRef idx="0">
            <a:schemeClr val="accent1"/>
          </a:fillRef>
          <a:effectRef idx="1">
            <a:schemeClr val="accent1"/>
          </a:effectRef>
          <a:fontRef idx="minor">
            <a:schemeClr val="tx1"/>
          </a:fontRef>
        </p:style>
      </p:cxnSp>
      <p:cxnSp>
        <p:nvCxnSpPr>
          <p:cNvPr id="52" name="motif-line-tick-33"/>
          <p:cNvCxnSpPr/>
          <p:nvPr/>
        </p:nvCxnSpPr>
        <p:spPr>
          <a:xfrm>
            <a:off x="10668000" y="6273800"/>
            <a:ext cx="0" cy="76200"/>
          </a:xfrm>
          <a:prstGeom prst="line">
            <a:avLst/>
          </a:prstGeom>
          <a:ln w="12700">
            <a:solidFill>
              <a:srgbClr val="3B5A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2747"/>
        </a:solidFill>
        <a:effectLst/>
      </p:bgPr>
    </p:bg>
    <p:spTree>
      <p:nvGrpSpPr>
        <p:cNvPr id="1" name=""/>
        <p:cNvGrpSpPr/>
        <p:nvPr/>
      </p:nvGrpSpPr>
      <p:grpSpPr/>
      <p:sp>
        <p:nvSpPr>
          <p:cNvPr id="2" name="TextBox 1"/>
          <p:cNvSpPr txBox="1"/>
          <p:nvPr/>
        </p:nvSpPr>
        <p:spPr>
          <a:xfrm>
            <a:off x="762000" y="952500"/>
            <a:ext cx="10668000" cy="711200"/>
          </a:xfrm>
          <a:prstGeom prst="rect">
            <a:avLst/>
          </a:prstGeom>
          <a:noFill/>
        </p:spPr>
        <p:txBody>
          <a:bodyPr wrap="square" lIns="0" rIns="0" tIns="0" bIns="0" anchor="t">
            <a:spAutoFit/>
          </a:bodyPr>
          <a:lstStyle/>
          <a:p>
            <a:pPr algn="l">
              <a:lnSpc>
                <a:spcPct val="115000"/>
              </a:lnSpc>
            </a:pPr>
            <a:r>
              <a:rPr sz="4000" b="1">
                <a:solidFill>
                  <a:srgbClr val="F4F6FA"/>
                </a:solidFill>
                <a:latin typeface="Plus Jakarta Sans"/>
              </a:rPr>
              <a:t>Favoured Banks in ChatGPT and Gemini</a:t>
            </a:r>
          </a:p>
        </p:txBody>
      </p:sp>
      <p:sp>
        <p:nvSpPr>
          <p:cNvPr id="3" name="TextBox 2"/>
          <p:cNvSpPr txBox="1"/>
          <p:nvPr/>
        </p:nvSpPr>
        <p:spPr>
          <a:xfrm>
            <a:off x="762000" y="1752600"/>
            <a:ext cx="10160000" cy="302259"/>
          </a:xfrm>
          <a:prstGeom prst="rect">
            <a:avLst/>
          </a:prstGeom>
          <a:noFill/>
        </p:spPr>
        <p:txBody>
          <a:bodyPr wrap="square" lIns="0" rIns="0" tIns="0" bIns="0" anchor="t">
            <a:spAutoFit/>
          </a:bodyPr>
          <a:lstStyle/>
          <a:p>
            <a:pPr algn="l">
              <a:lnSpc>
                <a:spcPct val="115000"/>
              </a:lnSpc>
            </a:pPr>
            <a:r>
              <a:rPr sz="1700" b="0">
                <a:solidFill>
                  <a:srgbClr val="F4F6FA"/>
                </a:solidFill>
                <a:latin typeface="IBM Plex Mono"/>
              </a:rPr>
              <a:t>Data, code and method: github.com/rgmwnn/geo-bank-visibility</a:t>
            </a:r>
          </a:p>
        </p:txBody>
      </p:sp>
      <p:sp>
        <p:nvSpPr>
          <p:cNvPr id="4" name="TextBox 3"/>
          <p:cNvSpPr txBox="1"/>
          <p:nvPr/>
        </p:nvSpPr>
        <p:spPr>
          <a:xfrm>
            <a:off x="762000" y="2476500"/>
            <a:ext cx="2540000" cy="266700"/>
          </a:xfrm>
          <a:prstGeom prst="rect">
            <a:avLst/>
          </a:prstGeom>
          <a:noFill/>
        </p:spPr>
        <p:txBody>
          <a:bodyPr wrap="square" lIns="0" rIns="0" tIns="0" bIns="0" anchor="t">
            <a:spAutoFit/>
          </a:bodyPr>
          <a:lstStyle/>
          <a:p>
            <a:pPr algn="l">
              <a:lnSpc>
                <a:spcPct val="115000"/>
              </a:lnSpc>
            </a:pPr>
            <a:r>
              <a:rPr sz="1500" b="0">
                <a:solidFill>
                  <a:srgbClr val="AFC0D8"/>
                </a:solidFill>
                <a:latin typeface="Plus Jakarta Sans"/>
              </a:rPr>
              <a:t>Sources</a:t>
            </a:r>
          </a:p>
        </p:txBody>
      </p:sp>
      <p:sp>
        <p:nvSpPr>
          <p:cNvPr id="5" name="TextBox 4"/>
          <p:cNvSpPr txBox="1"/>
          <p:nvPr/>
        </p:nvSpPr>
        <p:spPr>
          <a:xfrm>
            <a:off x="762000" y="27686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Aggarwal et al. (2024). GEO: Generative Engine Optimization. KDD 2024. arXiv 2311.09735</a:t>
            </a:r>
          </a:p>
        </p:txBody>
      </p:sp>
      <p:sp>
        <p:nvSpPr>
          <p:cNvPr id="6" name="TextBox 5"/>
          <p:cNvSpPr txBox="1"/>
          <p:nvPr/>
        </p:nvSpPr>
        <p:spPr>
          <a:xfrm>
            <a:off x="762000" y="30099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Writesonic. AI citation source overlap study</a:t>
            </a:r>
          </a:p>
        </p:txBody>
      </p:sp>
      <p:sp>
        <p:nvSpPr>
          <p:cNvPr id="7" name="TextBox 6"/>
          <p:cNvSpPr txBox="1"/>
          <p:nvPr/>
        </p:nvSpPr>
        <p:spPr>
          <a:xfrm>
            <a:off x="762000" y="32512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Ahrefs. AI search overlap with Google results</a:t>
            </a:r>
          </a:p>
        </p:txBody>
      </p:sp>
      <p:sp>
        <p:nvSpPr>
          <p:cNvPr id="8" name="TextBox 7"/>
          <p:cNvSpPr txBox="1"/>
          <p:nvPr/>
        </p:nvSpPr>
        <p:spPr>
          <a:xfrm>
            <a:off x="762000" y="34925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Search Engine Land. AI recommendation lists rarely repeat (SparkToro and Gumshoe)</a:t>
            </a:r>
          </a:p>
        </p:txBody>
      </p:sp>
      <p:sp>
        <p:nvSpPr>
          <p:cNvPr id="9" name="TextBox 8"/>
          <p:cNvSpPr txBox="1"/>
          <p:nvPr/>
        </p:nvSpPr>
        <p:spPr>
          <a:xfrm>
            <a:off x="762000" y="37338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Nieman Lab (2025). Tow Center study of AI search citations</a:t>
            </a:r>
          </a:p>
        </p:txBody>
      </p:sp>
      <p:sp>
        <p:nvSpPr>
          <p:cNvPr id="10" name="TextBox 9"/>
          <p:cNvSpPr txBox="1"/>
          <p:nvPr/>
        </p:nvSpPr>
        <p:spPr>
          <a:xfrm>
            <a:off x="762000" y="39751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Google Search Central. AI features and your website</a:t>
            </a:r>
          </a:p>
        </p:txBody>
      </p:sp>
      <p:sp>
        <p:nvSpPr>
          <p:cNvPr id="11" name="TextBox 10"/>
          <p:cNvSpPr txBox="1"/>
          <p:nvPr/>
        </p:nvSpPr>
        <p:spPr>
          <a:xfrm>
            <a:off x="762000" y="42164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Search Engine Journal. OpenAI usage study</a:t>
            </a:r>
          </a:p>
        </p:txBody>
      </p:sp>
      <p:sp>
        <p:nvSpPr>
          <p:cNvPr id="12" name="TextBox 11"/>
          <p:cNvSpPr txBox="1"/>
          <p:nvPr/>
        </p:nvSpPr>
        <p:spPr>
          <a:xfrm>
            <a:off x="762000" y="4457700"/>
            <a:ext cx="10160000" cy="213359"/>
          </a:xfrm>
          <a:prstGeom prst="rect">
            <a:avLst/>
          </a:prstGeom>
          <a:noFill/>
        </p:spPr>
        <p:txBody>
          <a:bodyPr wrap="square" lIns="0" rIns="0" tIns="0" bIns="0" anchor="t">
            <a:spAutoFit/>
          </a:bodyPr>
          <a:lstStyle/>
          <a:p>
            <a:pPr algn="l">
              <a:lnSpc>
                <a:spcPct val="115000"/>
              </a:lnSpc>
            </a:pPr>
            <a:r>
              <a:rPr sz="1200" b="0">
                <a:solidFill>
                  <a:srgbClr val="AFC0D8"/>
                </a:solidFill>
                <a:latin typeface="IBM Plex Mono"/>
              </a:rPr>
              <a:t>Bisnis (2023). Akulaku stake in Bank Neo Commerce</a:t>
            </a:r>
          </a:p>
        </p:txBody>
      </p:sp>
      <p:sp>
        <p:nvSpPr>
          <p:cNvPr id="13" name="TextBox 12"/>
          <p:cNvSpPr txBox="1"/>
          <p:nvPr/>
        </p:nvSpPr>
        <p:spPr>
          <a:xfrm>
            <a:off x="762000" y="5080000"/>
            <a:ext cx="8255000" cy="248919"/>
          </a:xfrm>
          <a:prstGeom prst="rect">
            <a:avLst/>
          </a:prstGeom>
          <a:noFill/>
        </p:spPr>
        <p:txBody>
          <a:bodyPr wrap="square" lIns="0" rIns="0" tIns="0" bIns="0" anchor="t">
            <a:spAutoFit/>
          </a:bodyPr>
          <a:lstStyle/>
          <a:p>
            <a:pPr algn="l">
              <a:lnSpc>
                <a:spcPct val="115000"/>
              </a:lnSpc>
            </a:pPr>
            <a:r>
              <a:rPr sz="1400" b="0">
                <a:solidFill>
                  <a:srgbClr val="F4F6FA"/>
                </a:solidFill>
                <a:latin typeface="IBM Plex Mono"/>
              </a:rPr>
              <a:t>Rahmananda Ridho Gamawan, data analyst, Indonesia</a:t>
            </a:r>
          </a:p>
        </p:txBody>
      </p:sp>
      <p:pic>
        <p:nvPicPr>
          <p:cNvPr id="14" name="motif-horizon" descr="motif-horizon.png"/>
          <p:cNvPicPr>
            <a:picLocks noChangeAspect="1"/>
          </p:cNvPicPr>
          <p:nvPr/>
        </p:nvPicPr>
        <p:blipFill>
          <a:blip r:embed="rId2"/>
          <a:stretch>
            <a:fillRect/>
          </a:stretch>
        </p:blipFill>
        <p:spPr>
          <a:xfrm>
            <a:off x="0" y="5715000"/>
            <a:ext cx="12192000" cy="1143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