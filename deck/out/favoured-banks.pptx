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study of how two AI engines answer everyday banking questions in Indonesia, and which sources they cite. Everything here is built from public code and data in the repo named on the last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freelancer asks which bank fits irregular income. Both engines answer with a short list of three banks, and two of the three are the same.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Information-seeking grew from 14% to 24% of ChatGPT conversations in a year. Ahrefs found that 12% of the URLs AI assistants cite rank in Google's top 10 for the same query.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rest of the deck answers these three questions in order.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set is written to be unbranded so share of voice is fair. Only the head-to-head comparisons name banks.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Parse the answers, split them into sentences, match bank names, extract the listed sources, deduplicate the pages, then crawl them from GitHub's servers while respecting robots.txt.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uses the position-adjusted word count from the GEO paper, applied to banks instead of sources. The chart shows the weight each sentence gets in a ten-sentence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funnel shows how many of the cited pages the crawler could read and that name a bank.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dot per engine. The line between the dots is the gap between the engines for that bank.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VIS combines prominence in the answer, the authority of the pages cited alongside the bank, sentiment and whether both engines name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Apps and subsidiaries credit their parent bank, so Jenius counts for Bank BTPN and blu for BCA.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comparison prompts name banks, which puts those banks in the answer, so they are left out here. Outlined cells lead their row, ties together. Every lead is a tie or one answer, so read the rows as close.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Brand PAWC rises when a bank is named early and talked about at length.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mark is one bank in one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about how something works get general answers without bank names.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Site types were labelled per domain. Percentages are rounded.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bank that wants to appear in both engines cannot rely on one set of pages.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ChatGPT's citations are on the left, Gemini's on the right, for the same twelve sites.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Gemini keeps citing the same few articles, a bank's place in them could carry into many answers.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Higher concentration means a few sites carry more of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positive gap means the engines talk about the bank more than the cited pages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redirect wrapper is where Gemini's broken links concentrate in this data.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suggests schema did not decide which pages got cited. One run cannot test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likely levers based on one snapshot, not tested interventions.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of these came from a bug or a check during the build. The fixes and tests are in the repo history.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runs would turn each number into a range.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motif-ring-orbit-wide"/>
          <p:cNvSpPr/>
          <p:nvPr/>
        </p:nvSpPr>
        <p:spPr>
          <a:xfrm>
            <a:off x="8064500" y="2400300"/>
            <a:ext cx="3683000" cy="787400"/>
          </a:xfrm>
          <a:prstGeom prst="ellipse">
            <a:avLst/>
          </a:prstGeom>
          <a:noFill/>
          <a:ln w="12700">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otif-ring-orbit-near"/>
          <p:cNvSpPr/>
          <p:nvPr/>
        </p:nvSpPr>
        <p:spPr>
          <a:xfrm>
            <a:off x="8445500" y="2514600"/>
            <a:ext cx="2920999" cy="558800"/>
          </a:xfrm>
          <a:prstGeom prst="ellipse">
            <a:avLst/>
          </a:prstGeom>
          <a:noFill/>
          <a:ln w="12700">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motif-ring-halo"/>
          <p:cNvSpPr/>
          <p:nvPr/>
        </p:nvSpPr>
        <p:spPr>
          <a:xfrm>
            <a:off x="8159750" y="1047750"/>
            <a:ext cx="3492500" cy="3492500"/>
          </a:xfrm>
          <a:prstGeom prst="ellipse">
            <a:avLst/>
          </a:prstGeom>
          <a:noFill/>
          <a:ln w="9525">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motif-ring-photon"/>
          <p:cNvSpPr/>
          <p:nvPr/>
        </p:nvSpPr>
        <p:spPr>
          <a:xfrm>
            <a:off x="8636000" y="1524000"/>
            <a:ext cx="2540000" cy="2540000"/>
          </a:xfrm>
          <a:prstGeom prst="ellipse">
            <a:avLst/>
          </a:prstGeom>
          <a:solidFill>
            <a:srgbClr val="000000"/>
          </a:solidFill>
          <a:ln w="19050">
            <a:solidFill>
              <a:srgbClr val="ECE7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otif-ring-inner"/>
          <p:cNvSpPr/>
          <p:nvPr/>
        </p:nvSpPr>
        <p:spPr>
          <a:xfrm>
            <a:off x="8724900" y="1612900"/>
            <a:ext cx="2362200" cy="2362200"/>
          </a:xfrm>
          <a:prstGeom prst="ellipse">
            <a:avLst/>
          </a:prstGeom>
          <a:noFill/>
          <a:ln w="9525">
            <a:solidFill>
              <a:srgbClr val="3A3D4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motif-line-disk-gpt"/>
          <p:cNvCxnSpPr/>
          <p:nvPr/>
        </p:nvCxnSpPr>
        <p:spPr>
          <a:xfrm>
            <a:off x="7874000" y="2755900"/>
            <a:ext cx="4064000" cy="0"/>
          </a:xfrm>
          <a:prstGeom prst="line">
            <a:avLst/>
          </a:prstGeom>
          <a:ln w="19050">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8" name="motif-line-disk-gem"/>
          <p:cNvCxnSpPr/>
          <p:nvPr/>
        </p:nvCxnSpPr>
        <p:spPr>
          <a:xfrm>
            <a:off x="7874000" y="2832100"/>
            <a:ext cx="4064000" cy="0"/>
          </a:xfrm>
          <a:prstGeom prst="line">
            <a:avLst/>
          </a:prstGeom>
          <a:ln w="19050">
            <a:solidFill>
              <a:srgbClr val="4790D8"/>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62000" y="2159000"/>
            <a:ext cx="7048500" cy="1209039"/>
          </a:xfrm>
          <a:prstGeom prst="rect">
            <a:avLst/>
          </a:prstGeom>
          <a:noFill/>
        </p:spPr>
        <p:txBody>
          <a:bodyPr wrap="square" lIns="0" rIns="0" tIns="0" bIns="0" anchor="t">
            <a:spAutoFit/>
          </a:bodyPr>
          <a:lstStyle/>
          <a:p>
            <a:pPr algn="l">
              <a:lnSpc>
                <a:spcPct val="115000"/>
              </a:lnSpc>
            </a:pPr>
            <a:r>
              <a:rPr sz="6800" b="0">
                <a:solidFill>
                  <a:srgbClr val="ECE7DD"/>
                </a:solidFill>
                <a:latin typeface="Work Sans"/>
              </a:rPr>
              <a:t>Favoured Banks</a:t>
            </a:r>
          </a:p>
        </p:txBody>
      </p:sp>
      <p:sp>
        <p:nvSpPr>
          <p:cNvPr id="10" name="TextBox 9"/>
          <p:cNvSpPr txBox="1"/>
          <p:nvPr/>
        </p:nvSpPr>
        <p:spPr>
          <a:xfrm>
            <a:off x="762000" y="3495040"/>
            <a:ext cx="6731000" cy="711200"/>
          </a:xfrm>
          <a:prstGeom prst="rect">
            <a:avLst/>
          </a:prstGeom>
          <a:noFill/>
        </p:spPr>
        <p:txBody>
          <a:bodyPr wrap="square" lIns="0" rIns="0" tIns="0" bIns="0" anchor="t">
            <a:spAutoFit/>
          </a:bodyPr>
          <a:lstStyle/>
          <a:p>
            <a:pPr algn="l">
              <a:lnSpc>
                <a:spcPct val="115000"/>
              </a:lnSpc>
            </a:pPr>
            <a:r>
              <a:rPr sz="2000" b="0">
                <a:solidFill>
                  <a:srgbClr val="9A9EA6"/>
                </a:solidFill>
                <a:latin typeface="Work Sans"/>
              </a:rPr>
              <a:t>Which Indonesian banks ChatGPT and Gemini recommend, and which web pages they cite</a:t>
            </a:r>
          </a:p>
        </p:txBody>
      </p:sp>
      <p:sp>
        <p:nvSpPr>
          <p:cNvPr id="11" name="TextBox 10"/>
          <p:cNvSpPr txBox="1"/>
          <p:nvPr/>
        </p:nvSpPr>
        <p:spPr>
          <a:xfrm>
            <a:off x="762000" y="4358640"/>
            <a:ext cx="67310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IBM Plex Mono"/>
              </a:rPr>
              <a:t>40 answers, collected on 9 October 2026</a:t>
            </a:r>
          </a:p>
        </p:txBody>
      </p:sp>
      <p:sp>
        <p:nvSpPr>
          <p:cNvPr id="12" name="TextBox 11"/>
          <p:cNvSpPr txBox="1"/>
          <p:nvPr/>
        </p:nvSpPr>
        <p:spPr>
          <a:xfrm>
            <a:off x="762000" y="5461000"/>
            <a:ext cx="5969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Same question, different banks</a:t>
            </a:r>
          </a:p>
        </p:txBody>
      </p:sp>
      <p:sp>
        <p:nvSpPr>
          <p:cNvPr id="7" name="TextBox 6"/>
          <p:cNvSpPr txBox="1"/>
          <p:nvPr/>
        </p:nvSpPr>
        <p:spPr>
          <a:xfrm>
            <a:off x="762000" y="1859280"/>
            <a:ext cx="9525000" cy="1173480"/>
          </a:xfrm>
          <a:prstGeom prst="rect">
            <a:avLst/>
          </a:prstGeom>
          <a:noFill/>
        </p:spPr>
        <p:txBody>
          <a:bodyPr wrap="square" lIns="0" rIns="0" tIns="0" bIns="0" anchor="t">
            <a:spAutoFit/>
          </a:bodyPr>
          <a:lstStyle/>
          <a:p>
            <a:pPr algn="l">
              <a:lnSpc>
                <a:spcPct val="115000"/>
              </a:lnSpc>
            </a:pPr>
            <a:r>
              <a:rPr sz="2200" b="0">
                <a:solidFill>
                  <a:srgbClr val="ECE7DD"/>
                </a:solidFill>
                <a:latin typeface="Work Sans"/>
              </a:rPr>
              <a:t>“Saya freelancer dengan penghasilan tidak tetap, butuh rekening tanpa saldo minimum dan bisa pisah kantong. Bank apa yang cocok?”</a:t>
            </a:r>
          </a:p>
        </p:txBody>
      </p:sp>
      <p:sp>
        <p:nvSpPr>
          <p:cNvPr id="8" name="TextBox 7"/>
          <p:cNvSpPr txBox="1"/>
          <p:nvPr/>
        </p:nvSpPr>
        <p:spPr>
          <a:xfrm>
            <a:off x="762000" y="3185160"/>
            <a:ext cx="9525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I'm a freelancer with irregular income. I need an account with no minimum balance that lets me split money into pockets. Which bank fits?</a:t>
            </a:r>
          </a:p>
        </p:txBody>
      </p:sp>
      <p:sp>
        <p:nvSpPr>
          <p:cNvPr id="9" name="Rectangle 8"/>
          <p:cNvSpPr/>
          <p:nvPr/>
        </p:nvSpPr>
        <p:spPr>
          <a:xfrm>
            <a:off x="762000" y="4114800"/>
            <a:ext cx="88900" cy="88900"/>
          </a:xfrm>
          <a:prstGeom prst="rect">
            <a:avLst/>
          </a:prstGeom>
          <a:solidFill>
            <a:srgbClr val="D07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2500" y="4051300"/>
            <a:ext cx="38100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ChatGPT named</a:t>
            </a:r>
          </a:p>
        </p:txBody>
      </p:sp>
      <p:sp>
        <p:nvSpPr>
          <p:cNvPr id="11" name="TextBox 10"/>
          <p:cNvSpPr txBox="1"/>
          <p:nvPr/>
        </p:nvSpPr>
        <p:spPr>
          <a:xfrm>
            <a:off x="762000" y="4381500"/>
            <a:ext cx="4318000" cy="1280159"/>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Jago</a:t>
            </a:r>
          </a:p>
          <a:p>
            <a:pPr algn="l">
              <a:lnSpc>
                <a:spcPct val="115000"/>
              </a:lnSpc>
            </a:pPr>
            <a:r>
              <a:rPr sz="2400" b="0">
                <a:solidFill>
                  <a:srgbClr val="ECE7DD"/>
                </a:solidFill>
                <a:latin typeface="Work Sans"/>
              </a:rPr>
              <a:t>SeaBank</a:t>
            </a:r>
          </a:p>
        </p:txBody>
      </p:sp>
      <p:sp>
        <p:nvSpPr>
          <p:cNvPr id="12" name="Rectangle 11"/>
          <p:cNvSpPr/>
          <p:nvPr/>
        </p:nvSpPr>
        <p:spPr>
          <a:xfrm>
            <a:off x="5588000" y="4114800"/>
            <a:ext cx="88900" cy="88900"/>
          </a:xfrm>
          <a:prstGeom prst="rect">
            <a:avLst/>
          </a:prstGeom>
          <a:solidFill>
            <a:srgbClr val="4790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78500" y="4051300"/>
            <a:ext cx="38100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Gemini named</a:t>
            </a:r>
          </a:p>
        </p:txBody>
      </p:sp>
      <p:sp>
        <p:nvSpPr>
          <p:cNvPr id="14" name="TextBox 13"/>
          <p:cNvSpPr txBox="1"/>
          <p:nvPr/>
        </p:nvSpPr>
        <p:spPr>
          <a:xfrm>
            <a:off x="5588000" y="4381500"/>
            <a:ext cx="4318000" cy="1280159"/>
          </a:xfrm>
          <a:prstGeom prst="rect">
            <a:avLst/>
          </a:prstGeom>
          <a:noFill/>
        </p:spPr>
        <p:txBody>
          <a:bodyPr wrap="square" lIns="0" rIns="0" tIns="0" bIns="0" anchor="t">
            <a:spAutoFit/>
          </a:bodyPr>
          <a:lstStyle/>
          <a:p>
            <a:pPr algn="l">
              <a:lnSpc>
                <a:spcPct val="115000"/>
              </a:lnSpc>
            </a:pPr>
            <a:r>
              <a:rPr sz="2400" b="0">
                <a:solidFill>
                  <a:srgbClr val="ECE7DD"/>
                </a:solidFill>
                <a:latin typeface="Work Sans"/>
              </a:rPr>
              <a:t>BCA</a:t>
            </a:r>
          </a:p>
          <a:p>
            <a:pPr algn="l">
              <a:lnSpc>
                <a:spcPct val="115000"/>
              </a:lnSpc>
            </a:pPr>
            <a:r>
              <a:rPr sz="2400" b="0">
                <a:solidFill>
                  <a:srgbClr val="ECE7DD"/>
                </a:solidFill>
                <a:latin typeface="Work Sans"/>
              </a:rPr>
              <a:t>Bank BTPN (Jenius)</a:t>
            </a:r>
          </a:p>
          <a:p>
            <a:pPr algn="l">
              <a:lnSpc>
                <a:spcPct val="115000"/>
              </a:lnSpc>
            </a:pPr>
            <a:r>
              <a:rPr sz="2400" b="0">
                <a:solidFill>
                  <a:srgbClr val="ECE7DD"/>
                </a:solidFill>
                <a:latin typeface="Work Sans"/>
              </a:rPr>
              <a:t>Bank Jago</a:t>
            </a:r>
          </a:p>
        </p:txBody>
      </p:sp>
      <p:sp>
        <p:nvSpPr>
          <p:cNvPr id="15" name="TextBox 14"/>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Introduction</a:t>
            </a:r>
          </a:p>
        </p:txBody>
      </p:sp>
      <p:sp>
        <p:nvSpPr>
          <p:cNvPr id="16" name="TextBox 15"/>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 / 32</a:t>
            </a:r>
          </a:p>
        </p:txBody>
      </p:sp>
      <p:sp>
        <p:nvSpPr>
          <p:cNvPr id="17" name="TextBox 16"/>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Prompt 13 of 20, run on 9 October 2026. Source: data/interim/mentions.csv</a:t>
            </a:r>
          </a:p>
        </p:txBody>
      </p:sp>
      <p:cxnSp>
        <p:nvCxnSpPr>
          <p:cNvPr id="18"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2"/>
          <p:cNvCxnSpPr/>
          <p:nvPr/>
        </p:nvCxnSpPr>
        <p:spPr>
          <a:xfrm>
            <a:off x="79883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0" name="motif-line-tick-03"/>
          <p:cNvCxnSpPr/>
          <p:nvPr/>
        </p:nvCxnSpPr>
        <p:spPr>
          <a:xfrm>
            <a:off x="8102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tick-04"/>
          <p:cNvCxnSpPr/>
          <p:nvPr/>
        </p:nvCxnSpPr>
        <p:spPr>
          <a:xfrm>
            <a:off x="8216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tick-05"/>
          <p:cNvCxnSpPr/>
          <p:nvPr/>
        </p:nvCxnSpPr>
        <p:spPr>
          <a:xfrm>
            <a:off x="8331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tick-06"/>
          <p:cNvCxnSpPr/>
          <p:nvPr/>
        </p:nvCxnSpPr>
        <p:spPr>
          <a:xfrm>
            <a:off x="8445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07"/>
          <p:cNvCxnSpPr/>
          <p:nvPr/>
        </p:nvCxnSpPr>
        <p:spPr>
          <a:xfrm>
            <a:off x="8559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9525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A growing share of ChatGPT use is looking things up, and most pages AI assistants cite are not in Google's top 10</a:t>
            </a:r>
          </a:p>
        </p:txBody>
      </p:sp>
      <p:sp>
        <p:nvSpPr>
          <p:cNvPr id="3" name="TextBox 2"/>
          <p:cNvSpPr txBox="1"/>
          <p:nvPr/>
        </p:nvSpPr>
        <p:spPr>
          <a:xfrm>
            <a:off x="762000" y="2847340"/>
            <a:ext cx="5207000" cy="128016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24%</a:t>
            </a:r>
          </a:p>
        </p:txBody>
      </p:sp>
      <p:sp>
        <p:nvSpPr>
          <p:cNvPr id="4" name="TextBox 3"/>
          <p:cNvSpPr txBox="1"/>
          <p:nvPr/>
        </p:nvSpPr>
        <p:spPr>
          <a:xfrm>
            <a:off x="762000" y="4191000"/>
            <a:ext cx="4572000" cy="56896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of ChatGPT conversations seek information, up from 14% a year earlier</a:t>
            </a:r>
          </a:p>
        </p:txBody>
      </p:sp>
      <p:sp>
        <p:nvSpPr>
          <p:cNvPr id="5" name="TextBox 4"/>
          <p:cNvSpPr txBox="1"/>
          <p:nvPr/>
        </p:nvSpPr>
        <p:spPr>
          <a:xfrm>
            <a:off x="762000" y="486156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OpenAI usage study, via Search Engine Journal</a:t>
            </a:r>
          </a:p>
        </p:txBody>
      </p:sp>
      <p:sp>
        <p:nvSpPr>
          <p:cNvPr id="6" name="TextBox 5"/>
          <p:cNvSpPr txBox="1"/>
          <p:nvPr/>
        </p:nvSpPr>
        <p:spPr>
          <a:xfrm>
            <a:off x="6223000" y="2847340"/>
            <a:ext cx="5207000" cy="1280160"/>
          </a:xfrm>
          <a:prstGeom prst="rect">
            <a:avLst/>
          </a:prstGeom>
          <a:noFill/>
        </p:spPr>
        <p:txBody>
          <a:bodyPr wrap="square" lIns="0" rIns="0" tIns="0" bIns="0" anchor="t">
            <a:spAutoFit/>
          </a:bodyPr>
          <a:lstStyle/>
          <a:p>
            <a:pPr algn="l">
              <a:lnSpc>
                <a:spcPct val="115000"/>
              </a:lnSpc>
            </a:pPr>
            <a:r>
              <a:rPr sz="7200" b="0">
                <a:solidFill>
                  <a:srgbClr val="ECE7DD"/>
                </a:solidFill>
                <a:latin typeface="Work Sans"/>
              </a:rPr>
              <a:t>12%</a:t>
            </a:r>
          </a:p>
        </p:txBody>
      </p:sp>
      <p:sp>
        <p:nvSpPr>
          <p:cNvPr id="7" name="TextBox 6"/>
          <p:cNvSpPr txBox="1"/>
          <p:nvPr/>
        </p:nvSpPr>
        <p:spPr>
          <a:xfrm>
            <a:off x="6223000" y="4191000"/>
            <a:ext cx="4572000" cy="568960"/>
          </a:xfrm>
          <a:prstGeom prst="rect">
            <a:avLst/>
          </a:prstGeom>
          <a:noFill/>
        </p:spPr>
        <p:txBody>
          <a:bodyPr wrap="square" lIns="0" rIns="0" tIns="0" bIns="0" anchor="t">
            <a:spAutoFit/>
          </a:bodyPr>
          <a:lstStyle/>
          <a:p>
            <a:pPr algn="l">
              <a:lnSpc>
                <a:spcPct val="115000"/>
              </a:lnSpc>
            </a:pPr>
            <a:r>
              <a:rPr sz="1600" b="0">
                <a:solidFill>
                  <a:srgbClr val="9A9EA6"/>
                </a:solidFill>
                <a:latin typeface="Work Sans"/>
              </a:rPr>
              <a:t>of URLs cited by AI assistants rank in Google's top 10 for the same query</a:t>
            </a:r>
          </a:p>
        </p:txBody>
      </p:sp>
      <p:sp>
        <p:nvSpPr>
          <p:cNvPr id="8" name="TextBox 7"/>
          <p:cNvSpPr txBox="1"/>
          <p:nvPr/>
        </p:nvSpPr>
        <p:spPr>
          <a:xfrm>
            <a:off x="6223000" y="4861560"/>
            <a:ext cx="4572000" cy="1905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Ahrefs, 15,000 prompts</a:t>
            </a:r>
          </a:p>
        </p:txBody>
      </p:sp>
      <p:pic>
        <p:nvPicPr>
          <p:cNvPr id="9" name="motif-horizon" descr="motif-horizon.png"/>
          <p:cNvPicPr>
            <a:picLocks noChangeAspect="1"/>
          </p:cNvPicPr>
          <p:nvPr/>
        </p:nvPicPr>
        <p:blipFill>
          <a:blip r:embed="rId2"/>
          <a:stretch>
            <a:fillRect/>
          </a:stretch>
        </p:blipFill>
        <p:spPr>
          <a:xfrm>
            <a:off x="0" y="5511800"/>
            <a:ext cx="12192000" cy="13462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What this study asks</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banks does each engine name, how early, and in what tone?</a:t>
            </a:r>
          </a:p>
        </p:txBody>
      </p:sp>
      <p:sp>
        <p:nvSpPr>
          <p:cNvPr id="9" name="TextBox 8"/>
          <p:cNvSpPr txBox="1"/>
          <p:nvPr/>
        </p:nvSpPr>
        <p:spPr>
          <a:xfrm>
            <a:off x="762000" y="248666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46126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Which sources does each engine cite, and do the two engines agree?</a:t>
            </a:r>
          </a:p>
        </p:txBody>
      </p:sp>
      <p:sp>
        <p:nvSpPr>
          <p:cNvPr id="11" name="TextBox 10"/>
          <p:cNvSpPr txBox="1"/>
          <p:nvPr/>
        </p:nvSpPr>
        <p:spPr>
          <a:xfrm>
            <a:off x="762000" y="29286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29032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Where does a bank's share of the answers differ from its share of the cited pages?</a:t>
            </a:r>
          </a:p>
        </p:txBody>
      </p:sp>
      <p:cxnSp>
        <p:nvCxnSpPr>
          <p:cNvPr id="13" name="motif-line-rail"/>
          <p:cNvCxnSpPr/>
          <p:nvPr/>
        </p:nvCxnSpPr>
        <p:spPr>
          <a:xfrm>
            <a:off x="1282700" y="2056130"/>
            <a:ext cx="0" cy="111252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stop-2"/>
          <p:cNvCxnSpPr/>
          <p:nvPr/>
        </p:nvCxnSpPr>
        <p:spPr>
          <a:xfrm>
            <a:off x="1238250" y="261239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stop-3"/>
          <p:cNvCxnSpPr/>
          <p:nvPr/>
        </p:nvCxnSpPr>
        <p:spPr>
          <a:xfrm>
            <a:off x="1238250" y="30543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Introduction</a:t>
            </a:r>
          </a:p>
        </p:txBody>
      </p:sp>
      <p:sp>
        <p:nvSpPr>
          <p:cNvPr id="18" name="TextBox 17"/>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4 / 32</a:t>
            </a:r>
          </a:p>
        </p:txBody>
      </p:sp>
      <p:cxnSp>
        <p:nvCxnSpPr>
          <p:cNvPr id="19"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4"/>
          <p:cNvCxnSpPr/>
          <p:nvPr/>
        </p:nvCxnSpPr>
        <p:spPr>
          <a:xfrm>
            <a:off x="82169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3" name="motif-line-tick-05"/>
          <p:cNvCxnSpPr/>
          <p:nvPr/>
        </p:nvCxnSpPr>
        <p:spPr>
          <a:xfrm>
            <a:off x="8331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06"/>
          <p:cNvCxnSpPr/>
          <p:nvPr/>
        </p:nvCxnSpPr>
        <p:spPr>
          <a:xfrm>
            <a:off x="8445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07"/>
          <p:cNvCxnSpPr/>
          <p:nvPr/>
        </p:nvCxnSpPr>
        <p:spPr>
          <a:xfrm>
            <a:off x="8559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0"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984500" y="2438400"/>
            <a:ext cx="6223000" cy="292100"/>
          </a:xfrm>
          <a:prstGeom prst="rect">
            <a:avLst/>
          </a:prstGeom>
          <a:noFill/>
        </p:spPr>
        <p:txBody>
          <a:bodyPr wrap="square" lIns="0" rIns="0" tIns="0" bIns="0" anchor="t">
            <a:spAutoFit/>
          </a:bodyPr>
          <a:lstStyle/>
          <a:p>
            <a:pPr algn="ctr">
              <a:lnSpc>
                <a:spcPct val="115000"/>
              </a:lnSpc>
            </a:pPr>
            <a:r>
              <a:rPr sz="1600" b="0">
                <a:solidFill>
                  <a:srgbClr val="9A9EA6"/>
                </a:solidFill>
                <a:latin typeface="Work Sans"/>
              </a:rPr>
              <a:t>Part I</a:t>
            </a:r>
          </a:p>
        </p:txBody>
      </p:sp>
      <p:sp>
        <p:nvSpPr>
          <p:cNvPr id="27" name="TextBox 26"/>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Method</a:t>
            </a:r>
          </a:p>
        </p:txBody>
      </p:sp>
      <p:sp>
        <p:nvSpPr>
          <p:cNvPr id="28" name="TextBox 27"/>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20 prompts, 2 engines, one day</a:t>
            </a:r>
          </a:p>
        </p:txBody>
      </p:sp>
      <p:cxnSp>
        <p:nvCxnSpPr>
          <p:cNvPr id="29" name="Connector 28"/>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20 everyday banking questions, asked in Bahasa Indonesia</a:t>
            </a:r>
          </a:p>
        </p:txBody>
      </p:sp>
      <p:sp>
        <p:nvSpPr>
          <p:cNvPr id="7" name="TextBox 6"/>
          <p:cNvSpPr txBox="1"/>
          <p:nvPr/>
        </p:nvSpPr>
        <p:spPr>
          <a:xfrm>
            <a:off x="762000" y="1732280"/>
            <a:ext cx="85725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5 customer needs by 5 question types. Only 3 prompts name a bank, all of them comparisons. Each prompt was asked once in ChatGPT and once in Gemini, with a request for 10 sources.</a:t>
            </a:r>
          </a:p>
        </p:txBody>
      </p:sp>
      <p:pic>
        <p:nvPicPr>
          <p:cNvPr id="8" name="chart-prompt_grid" descr="prompt_grid.png"/>
          <p:cNvPicPr>
            <a:picLocks noChangeAspect="1"/>
          </p:cNvPicPr>
          <p:nvPr/>
        </p:nvPicPr>
        <p:blipFill>
          <a:blip r:embed="rId2"/>
          <a:stretch>
            <a:fillRect/>
          </a:stretch>
        </p:blipFill>
        <p:spPr>
          <a:xfrm>
            <a:off x="1417884" y="2593340"/>
            <a:ext cx="9356231" cy="3007360"/>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 Method</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6 / 32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data/interim/answers.csv. n = 20 prompts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From 40 answers to 195 readable source pages</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Each step is code in the public repo, covered by tests. Only links under each answer's source list count as citations.</a:t>
            </a:r>
          </a:p>
        </p:txBody>
      </p:sp>
      <p:pic>
        <p:nvPicPr>
          <p:cNvPr id="8" name="chart-pipeline" descr="pipeline.png"/>
          <p:cNvPicPr>
            <a:picLocks noChangeAspect="1"/>
          </p:cNvPicPr>
          <p:nvPr/>
        </p:nvPicPr>
        <p:blipFill>
          <a:blip r:embed="rId2"/>
          <a:stretch>
            <a:fillRect/>
          </a:stretch>
        </p:blipFill>
        <p:spPr>
          <a:xfrm>
            <a:off x="1537208" y="2344420"/>
            <a:ext cx="9117584" cy="3256279"/>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 Method</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7 / 32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Code and data: github.com/rgmwnn/geo-bank-visibility. n = 40 answers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What is measured</a:t>
            </a:r>
          </a:p>
        </p:txBody>
      </p:sp>
      <p:sp>
        <p:nvSpPr>
          <p:cNvPr id="7" name="TextBox 6"/>
          <p:cNvSpPr txBox="1"/>
          <p:nvPr/>
        </p:nvSpPr>
        <p:spPr>
          <a:xfrm>
            <a:off x="762000" y="175768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Mention rate</a:t>
            </a:r>
          </a:p>
        </p:txBody>
      </p:sp>
      <p:sp>
        <p:nvSpPr>
          <p:cNvPr id="8" name="TextBox 7"/>
          <p:cNvSpPr txBox="1"/>
          <p:nvPr/>
        </p:nvSpPr>
        <p:spPr>
          <a:xfrm>
            <a:off x="762000" y="201930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share of answers that name the bank</a:t>
            </a:r>
          </a:p>
        </p:txBody>
      </p:sp>
      <p:sp>
        <p:nvSpPr>
          <p:cNvPr id="9" name="TextBox 8"/>
          <p:cNvSpPr txBox="1"/>
          <p:nvPr/>
        </p:nvSpPr>
        <p:spPr>
          <a:xfrm>
            <a:off x="762000" y="229616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AI share of voice</a:t>
            </a:r>
          </a:p>
        </p:txBody>
      </p:sp>
      <p:sp>
        <p:nvSpPr>
          <p:cNvPr id="10" name="TextBox 9"/>
          <p:cNvSpPr txBox="1"/>
          <p:nvPr/>
        </p:nvSpPr>
        <p:spPr>
          <a:xfrm>
            <a:off x="762000" y="255778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each answer weighted equally</a:t>
            </a:r>
          </a:p>
        </p:txBody>
      </p:sp>
      <p:sp>
        <p:nvSpPr>
          <p:cNvPr id="11" name="TextBox 10"/>
          <p:cNvSpPr txBox="1"/>
          <p:nvPr/>
        </p:nvSpPr>
        <p:spPr>
          <a:xfrm>
            <a:off x="762000" y="2834640"/>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Brand PAWC</a:t>
            </a:r>
          </a:p>
        </p:txBody>
      </p:sp>
      <p:sp>
        <p:nvSpPr>
          <p:cNvPr id="12" name="TextBox 11"/>
          <p:cNvSpPr txBox="1"/>
          <p:nvPr/>
        </p:nvSpPr>
        <p:spPr>
          <a:xfrm>
            <a:off x="762000" y="3096260"/>
            <a:ext cx="5207000" cy="42671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how much of an answer is about the bank, earlier sentences weighted more</a:t>
            </a:r>
          </a:p>
        </p:txBody>
      </p:sp>
      <p:sp>
        <p:nvSpPr>
          <p:cNvPr id="13" name="TextBox 12"/>
          <p:cNvSpPr txBox="1"/>
          <p:nvPr/>
        </p:nvSpPr>
        <p:spPr>
          <a:xfrm>
            <a:off x="762000" y="3586479"/>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Source share of voice</a:t>
            </a:r>
          </a:p>
        </p:txBody>
      </p:sp>
      <p:sp>
        <p:nvSpPr>
          <p:cNvPr id="14" name="TextBox 13"/>
          <p:cNvSpPr txBox="1"/>
          <p:nvPr/>
        </p:nvSpPr>
        <p:spPr>
          <a:xfrm>
            <a:off x="762000" y="384810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the bank's share of bank mentions in the readable cited pages</a:t>
            </a:r>
          </a:p>
        </p:txBody>
      </p:sp>
      <p:sp>
        <p:nvSpPr>
          <p:cNvPr id="15" name="TextBox 14"/>
          <p:cNvSpPr txBox="1"/>
          <p:nvPr/>
        </p:nvSpPr>
        <p:spPr>
          <a:xfrm>
            <a:off x="762000" y="4124959"/>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SOV gap</a:t>
            </a:r>
          </a:p>
        </p:txBody>
      </p:sp>
      <p:sp>
        <p:nvSpPr>
          <p:cNvPr id="16" name="TextBox 15"/>
          <p:cNvSpPr txBox="1"/>
          <p:nvPr/>
        </p:nvSpPr>
        <p:spPr>
          <a:xfrm>
            <a:off x="762000" y="4386580"/>
            <a:ext cx="5207000" cy="21335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AI share of voice minus source share of voice</a:t>
            </a:r>
          </a:p>
        </p:txBody>
      </p:sp>
      <p:sp>
        <p:nvSpPr>
          <p:cNvPr id="17" name="TextBox 16"/>
          <p:cNvSpPr txBox="1"/>
          <p:nvPr/>
        </p:nvSpPr>
        <p:spPr>
          <a:xfrm>
            <a:off x="762000" y="4663439"/>
            <a:ext cx="5207000" cy="248919"/>
          </a:xfrm>
          <a:prstGeom prst="rect">
            <a:avLst/>
          </a:prstGeom>
          <a:noFill/>
        </p:spPr>
        <p:txBody>
          <a:bodyPr wrap="square" lIns="0" rIns="0" tIns="0" bIns="0" anchor="t">
            <a:spAutoFit/>
          </a:bodyPr>
          <a:lstStyle/>
          <a:p>
            <a:pPr algn="l">
              <a:lnSpc>
                <a:spcPct val="115000"/>
              </a:lnSpc>
            </a:pPr>
            <a:r>
              <a:rPr sz="1400" b="0">
                <a:solidFill>
                  <a:srgbClr val="ECE7DD"/>
                </a:solidFill>
                <a:latin typeface="Work Sans"/>
              </a:rPr>
              <a:t>VIS</a:t>
            </a:r>
          </a:p>
        </p:txBody>
      </p:sp>
      <p:sp>
        <p:nvSpPr>
          <p:cNvPr id="18" name="TextBox 17"/>
          <p:cNvSpPr txBox="1"/>
          <p:nvPr/>
        </p:nvSpPr>
        <p:spPr>
          <a:xfrm>
            <a:off x="762000" y="4925059"/>
            <a:ext cx="5207000" cy="426719"/>
          </a:xfrm>
          <a:prstGeom prst="rect">
            <a:avLst/>
          </a:prstGeom>
          <a:noFill/>
        </p:spPr>
        <p:txBody>
          <a:bodyPr wrap="square" lIns="0" rIns="0" tIns="0" bIns="0" anchor="t">
            <a:spAutoFit/>
          </a:bodyPr>
          <a:lstStyle/>
          <a:p>
            <a:pPr algn="l">
              <a:lnSpc>
                <a:spcPct val="115000"/>
              </a:lnSpc>
            </a:pPr>
            <a:r>
              <a:rPr sz="1200" b="0">
                <a:solidFill>
                  <a:srgbClr val="9A9EA6"/>
                </a:solidFill>
                <a:latin typeface="Work Sans"/>
              </a:rPr>
              <a:t>0 to 100: equal mix of PAWC, source authority, sentiment and coverage of both engines</a:t>
            </a:r>
          </a:p>
        </p:txBody>
      </p:sp>
      <p:pic>
        <p:nvPicPr>
          <p:cNvPr id="19" name="chart-pawc_curve" descr="pawc_curve.png"/>
          <p:cNvPicPr>
            <a:picLocks noChangeAspect="1"/>
          </p:cNvPicPr>
          <p:nvPr/>
        </p:nvPicPr>
        <p:blipFill>
          <a:blip r:embed="rId2"/>
          <a:stretch>
            <a:fillRect/>
          </a:stretch>
        </p:blipFill>
        <p:spPr>
          <a:xfrm>
            <a:off x="6350000" y="1905000"/>
            <a:ext cx="5080000" cy="2540000"/>
          </a:xfrm>
          <a:prstGeom prst="rect">
            <a:avLst/>
          </a:prstGeom>
        </p:spPr>
      </p:pic>
      <p:sp>
        <p:nvSpPr>
          <p:cNvPr id="20" name="TextBox 1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 Method</a:t>
            </a:r>
          </a:p>
        </p:txBody>
      </p:sp>
      <p:sp>
        <p:nvSpPr>
          <p:cNvPr id="21" name="TextBox 2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8 / 32</a:t>
            </a:r>
          </a:p>
        </p:txBody>
      </p:sp>
      <p:sp>
        <p:nvSpPr>
          <p:cNvPr id="22" name="TextBox 2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PAWC adapted from Aggarwal et al., GEO: Generative Engine Optimization, KDD 2024</a:t>
            </a:r>
          </a:p>
        </p:txBody>
      </p:sp>
      <p:cxnSp>
        <p:nvCxnSpPr>
          <p:cNvPr id="2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8"/>
          <p:cNvCxnSpPr/>
          <p:nvPr/>
        </p:nvCxnSpPr>
        <p:spPr>
          <a:xfrm>
            <a:off x="86741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1" name="motif-line-tick-09"/>
          <p:cNvCxnSpPr/>
          <p:nvPr/>
        </p:nvCxnSpPr>
        <p:spPr>
          <a:xfrm>
            <a:off x="8788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What this data cannot tell you</a:t>
            </a:r>
          </a:p>
        </p:txBody>
      </p:sp>
      <p:sp>
        <p:nvSpPr>
          <p:cNvPr id="7" name="TextBox 6"/>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One run per prompt per engine: a snapshot.</a:t>
            </a:r>
          </a:p>
        </p:txBody>
      </p:sp>
      <p:sp>
        <p:nvSpPr>
          <p:cNvPr id="8" name="TextBox 7"/>
          <p:cNvSpPr txBox="1"/>
          <p:nvPr/>
        </p:nvSpPr>
        <p:spPr>
          <a:xfrm>
            <a:off x="762000" y="285750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Asking for 10 sources makes both engines cite more than usual.</a:t>
            </a:r>
          </a:p>
        </p:txBody>
      </p:sp>
      <p:sp>
        <p:nvSpPr>
          <p:cNvPr id="9" name="TextBox 8"/>
          <p:cNvSpPr txBox="1"/>
          <p:nvPr/>
        </p:nvSpPr>
        <p:spPr>
          <a:xfrm>
            <a:off x="762000" y="34188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10 of 20 prompts lean digital: they name digital banks or ask about apps.</a:t>
            </a:r>
          </a:p>
        </p:txBody>
      </p:sp>
      <p:sp>
        <p:nvSpPr>
          <p:cNvPr id="10" name="TextBox 9"/>
          <p:cNvSpPr txBox="1"/>
          <p:nvPr/>
        </p:nvSpPr>
        <p:spPr>
          <a:xfrm>
            <a:off x="762000" y="3980179"/>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Claude labelled sentiment and site types; RG spot-checked a sample.</a:t>
            </a:r>
          </a:p>
        </p:txBody>
      </p:sp>
      <p:sp>
        <p:nvSpPr>
          <p:cNvPr id="11" name="TextBox 10"/>
          <p:cNvSpPr txBox="1"/>
          <p:nvPr/>
        </p:nvSpPr>
        <p:spPr>
          <a:xfrm>
            <a:off x="762000" y="45415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Pages that blocked the crawler drop out of page-level measures.</a:t>
            </a:r>
          </a:p>
        </p:txBody>
      </p:sp>
      <p:sp>
        <p:nvSpPr>
          <p:cNvPr id="12" name="TextBox 11"/>
          <p:cNvSpPr txBox="1"/>
          <p:nvPr/>
        </p:nvSpPr>
        <p:spPr>
          <a:xfrm>
            <a:off x="762000" y="5102859"/>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  Banks named in fewer than 3 answers are not ranked.</a:t>
            </a:r>
          </a:p>
        </p:txBody>
      </p:sp>
      <p:pic>
        <p:nvPicPr>
          <p:cNvPr id="13" name="chart-funnel" descr="funnel.png"/>
          <p:cNvPicPr>
            <a:picLocks noChangeAspect="1"/>
          </p:cNvPicPr>
          <p:nvPr/>
        </p:nvPicPr>
        <p:blipFill>
          <a:blip r:embed="rId2"/>
          <a:stretch>
            <a:fillRect/>
          </a:stretch>
        </p:blipFill>
        <p:spPr>
          <a:xfrm>
            <a:off x="4889500" y="1750060"/>
            <a:ext cx="6731000" cy="3230880"/>
          </a:xfrm>
          <a:prstGeom prst="rect">
            <a:avLst/>
          </a:prstGeom>
        </p:spPr>
      </p:pic>
      <p:sp>
        <p:nvSpPr>
          <p:cNvPr id="14" name="TextBox 13"/>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 Method</a:t>
            </a:r>
          </a:p>
        </p:txBody>
      </p:sp>
      <p:sp>
        <p:nvSpPr>
          <p:cNvPr id="15" name="TextBox 14"/>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9 / 32</a:t>
            </a:r>
          </a:p>
        </p:txBody>
      </p:sp>
      <p:sp>
        <p:nvSpPr>
          <p:cNvPr id="16" name="TextBox 15"/>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data/interim/pages.csv, page_brand_counts.csv. n = 243 pages</a:t>
            </a:r>
          </a:p>
        </p:txBody>
      </p:sp>
      <p:cxnSp>
        <p:nvCxnSpPr>
          <p:cNvPr id="17"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9"/>
          <p:cNvCxnSpPr/>
          <p:nvPr/>
        </p:nvCxnSpPr>
        <p:spPr>
          <a:xfrm>
            <a:off x="87884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6" name="motif-line-tick-10"/>
          <p:cNvCxnSpPr/>
          <p:nvPr/>
        </p:nvCxnSpPr>
        <p:spPr>
          <a:xfrm>
            <a:off x="8902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1"/>
          <p:cNvCxnSpPr/>
          <p:nvPr/>
        </p:nvCxnSpPr>
        <p:spPr>
          <a:xfrm>
            <a:off x="9017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6"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7"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8"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depth-2-t"/>
          <p:cNvCxnSpPr/>
          <p:nvPr/>
        </p:nvCxnSpPr>
        <p:spPr>
          <a:xfrm>
            <a:off x="2095500" y="1571625"/>
            <a:ext cx="8001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depth-2-b"/>
          <p:cNvCxnSpPr/>
          <p:nvPr/>
        </p:nvCxnSpPr>
        <p:spPr>
          <a:xfrm>
            <a:off x="2095500" y="5476875"/>
            <a:ext cx="80010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depth-2-l"/>
          <p:cNvCxnSpPr/>
          <p:nvPr/>
        </p:nvCxnSpPr>
        <p:spPr>
          <a:xfrm>
            <a:off x="2095500" y="1571625"/>
            <a:ext cx="0" cy="390525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depth-2-r"/>
          <p:cNvCxnSpPr/>
          <p:nvPr/>
        </p:nvCxnSpPr>
        <p:spPr>
          <a:xfrm>
            <a:off x="10096500" y="1571625"/>
            <a:ext cx="0" cy="390525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984500" y="2438400"/>
            <a:ext cx="6223000" cy="292100"/>
          </a:xfrm>
          <a:prstGeom prst="rect">
            <a:avLst/>
          </a:prstGeom>
          <a:noFill/>
        </p:spPr>
        <p:txBody>
          <a:bodyPr wrap="square" lIns="0" rIns="0" tIns="0" bIns="0" anchor="t">
            <a:spAutoFit/>
          </a:bodyPr>
          <a:lstStyle/>
          <a:p>
            <a:pPr algn="ctr">
              <a:lnSpc>
                <a:spcPct val="115000"/>
              </a:lnSpc>
            </a:pPr>
            <a:r>
              <a:rPr sz="1600" b="0">
                <a:solidFill>
                  <a:srgbClr val="9A9EA6"/>
                </a:solidFill>
                <a:latin typeface="Work Sans"/>
              </a:rPr>
              <a:t>Part II</a:t>
            </a:r>
          </a:p>
        </p:txBody>
      </p:sp>
      <p:sp>
        <p:nvSpPr>
          <p:cNvPr id="31" name="TextBox 30"/>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answers</a:t>
            </a:r>
          </a:p>
        </p:txBody>
      </p:sp>
      <p:sp>
        <p:nvSpPr>
          <p:cNvPr id="32" name="TextBox 31"/>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Which banks the answers name</a:t>
            </a:r>
          </a:p>
        </p:txBody>
      </p:sp>
      <p:cxnSp>
        <p:nvCxnSpPr>
          <p:cNvPr id="33" name="Connector 32"/>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8491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Bank Jago and SeaBank are each named in more than half of all answers</a:t>
            </a:r>
          </a:p>
        </p:txBody>
      </p:sp>
      <p:sp>
        <p:nvSpPr>
          <p:cNvPr id="7" name="TextBox 6"/>
          <p:cNvSpPr txBox="1"/>
          <p:nvPr/>
        </p:nvSpPr>
        <p:spPr>
          <a:xfrm>
            <a:off x="762000" y="32207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appear in 22 of 40 answers, SeaBank in 21, BRI in 12.</a:t>
            </a:r>
          </a:p>
        </p:txBody>
      </p:sp>
      <p:pic>
        <p:nvPicPr>
          <p:cNvPr id="8" name="chart-mention_dots" descr="mention_dots.png"/>
          <p:cNvPicPr>
            <a:picLocks noChangeAspect="1"/>
          </p:cNvPicPr>
          <p:nvPr/>
        </p:nvPicPr>
        <p:blipFill>
          <a:blip r:embed="rId2"/>
          <a:stretch>
            <a:fillRect/>
          </a:stretch>
        </p:blipFill>
        <p:spPr>
          <a:xfrm>
            <a:off x="4892756" y="1143000"/>
            <a:ext cx="6724487" cy="4445000"/>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11 / 32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Top 10 banks. n = 20 answers per engine</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BCA scores highest, with Bank Jago and BRI close behind</a:t>
            </a:r>
          </a:p>
        </p:txBody>
      </p:sp>
      <p:sp>
        <p:nvSpPr>
          <p:cNvPr id="7" name="TextBox 6"/>
          <p:cNvSpPr txBox="1"/>
          <p:nvPr/>
        </p:nvSpPr>
        <p:spPr>
          <a:xfrm>
            <a:off x="762000" y="27584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VIS 93.2 for BCA, then Bank Jago 89.6, BRI 89.5 and SeaBank 85.7.</a:t>
            </a:r>
          </a:p>
        </p:txBody>
      </p:sp>
      <p:sp>
        <p:nvSpPr>
          <p:cNvPr id="8" name="TextBox 7"/>
          <p:cNvSpPr txBox="1"/>
          <p:nvPr/>
        </p:nvSpPr>
        <p:spPr>
          <a:xfrm>
            <a:off x="762000" y="3345179"/>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7 banks named in fewer than 3 answers are left off the chart: one or two answers is too few to rank.</a:t>
            </a:r>
          </a:p>
        </p:txBody>
      </p:sp>
      <p:pic>
        <p:nvPicPr>
          <p:cNvPr id="9" name="chart-vis_rank" descr="vis_rank.png"/>
          <p:cNvPicPr>
            <a:picLocks noChangeAspect="1"/>
          </p:cNvPicPr>
          <p:nvPr/>
        </p:nvPicPr>
        <p:blipFill>
          <a:blip r:embed="rId2"/>
          <a:stretch>
            <a:fillRect/>
          </a:stretch>
        </p:blipFill>
        <p:spPr>
          <a:xfrm>
            <a:off x="4889500" y="1369016"/>
            <a:ext cx="6731000" cy="3992966"/>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12 / 32</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data/processed/vis.csv. n = 40 answers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 names a wider field: 18 banks against ChatGPT's 11</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Full-colour circles are banks only one engine named. Gemini alone named Bank BTPN (Jenius) in 5 answers and Superbank in 4.</a:t>
            </a:r>
          </a:p>
        </p:txBody>
      </p:sp>
      <p:pic>
        <p:nvPicPr>
          <p:cNvPr id="8" name="chart-wider_field" descr="wider_field.png"/>
          <p:cNvPicPr>
            <a:picLocks noChangeAspect="1"/>
          </p:cNvPicPr>
          <p:nvPr/>
        </p:nvPicPr>
        <p:blipFill>
          <a:blip r:embed="rId2"/>
          <a:stretch>
            <a:fillRect/>
          </a:stretch>
        </p:blipFill>
        <p:spPr>
          <a:xfrm>
            <a:off x="1030675" y="2344420"/>
            <a:ext cx="10130648" cy="3256279"/>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13 / 32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n = 20 answers per engine</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No bank leads every customer need, and no lead is more than one answer</a:t>
            </a:r>
          </a:p>
        </p:txBody>
      </p:sp>
      <p:sp>
        <p:nvSpPr>
          <p:cNvPr id="7" name="TextBox 6"/>
          <p:cNvSpPr txBox="1"/>
          <p:nvPr/>
        </p:nvSpPr>
        <p:spPr>
          <a:xfrm>
            <a:off x="762000" y="2194560"/>
            <a:ext cx="85725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Counted on the 17 prompts that name no bank. Fees and rates: Bank Jago, Krom Bank and SeaBank, 6 of 8. Digital experience: Bank Jago and SeaBank, 6 of 6. Safety: Bank Jago, 5 of 8. Service: BCA, 4 of 6. Trust: BCA, 3 of 6.</a:t>
            </a:r>
          </a:p>
        </p:txBody>
      </p:sp>
      <p:pic>
        <p:nvPicPr>
          <p:cNvPr id="8" name="chart-pillar_heatmap" descr="pillar_heatmap.png"/>
          <p:cNvPicPr>
            <a:picLocks noChangeAspect="1"/>
          </p:cNvPicPr>
          <p:nvPr/>
        </p:nvPicPr>
        <p:blipFill>
          <a:blip r:embed="rId2"/>
          <a:stretch>
            <a:fillRect/>
          </a:stretch>
        </p:blipFill>
        <p:spPr>
          <a:xfrm>
            <a:off x="2278380" y="3055620"/>
            <a:ext cx="7635239" cy="2545079"/>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14 / 32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data/interim/answers.csv, mentions.csv. Share of a need's answers that name the bank. n = 34 answers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Banks named in more answers also get named earlier</a:t>
            </a:r>
          </a:p>
        </p:txBody>
      </p:sp>
      <p:sp>
        <p:nvSpPr>
          <p:cNvPr id="7" name="TextBox 6"/>
          <p:cNvSpPr txBox="1"/>
          <p:nvPr/>
        </p:nvSpPr>
        <p:spPr>
          <a:xfrm>
            <a:off x="762000" y="275844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BCA and Bank Jago lead on both measures.</a:t>
            </a:r>
          </a:p>
        </p:txBody>
      </p:sp>
      <p:sp>
        <p:nvSpPr>
          <p:cNvPr id="8" name="TextBox 7"/>
          <p:cNvSpPr txBox="1"/>
          <p:nvPr/>
        </p:nvSpPr>
        <p:spPr>
          <a:xfrm>
            <a:off x="762000" y="3345179"/>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BRI scores higher on PAWC than SeaBank while appearing in fewer answers: when BRI is named, it takes up more of the answer.</a:t>
            </a:r>
          </a:p>
        </p:txBody>
      </p:sp>
      <p:pic>
        <p:nvPicPr>
          <p:cNvPr id="9" name="chart-often_vs_early" descr="often_vs_early.png"/>
          <p:cNvPicPr>
            <a:picLocks noChangeAspect="1"/>
          </p:cNvPicPr>
          <p:nvPr/>
        </p:nvPicPr>
        <p:blipFill>
          <a:blip r:embed="rId2"/>
          <a:stretch>
            <a:fillRect/>
          </a:stretch>
        </p:blipFill>
        <p:spPr>
          <a:xfrm>
            <a:off x="4889500" y="1540144"/>
            <a:ext cx="6731000" cy="3650711"/>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15 / 32</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data/processed/brand_engine.csv. Banks named in at least 3 answers. n = 40 answers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No answer was negative about a bank</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Of 137 answer and bank pairs, 117 are positive. The 6 mixed labels attach a condition, such as a minimum balance for free transfers.</a:t>
            </a:r>
          </a:p>
        </p:txBody>
      </p:sp>
      <p:pic>
        <p:nvPicPr>
          <p:cNvPr id="8" name="chart-sentiment_marks" descr="sentiment_marks.png"/>
          <p:cNvPicPr>
            <a:picLocks noChangeAspect="1"/>
          </p:cNvPicPr>
          <p:nvPr/>
        </p:nvPicPr>
        <p:blipFill>
          <a:blip r:embed="rId2"/>
          <a:stretch>
            <a:fillRect/>
          </a:stretch>
        </p:blipFill>
        <p:spPr>
          <a:xfrm>
            <a:off x="762000" y="2344420"/>
            <a:ext cx="10668000" cy="2413000"/>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16 / 32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data/labels/sentiment.csv. Labelled by Claude, spot-checked by RG. n = 137 pairs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How-to answers rarely name a bank</a:t>
            </a:r>
          </a:p>
        </p:txBody>
      </p:sp>
      <p:sp>
        <p:nvSpPr>
          <p:cNvPr id="7" name="TextBox 6"/>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Every best and decision-brief answer named at least one bank.</a:t>
            </a:r>
          </a:p>
        </p:txBody>
      </p:sp>
      <p:sp>
        <p:nvSpPr>
          <p:cNvPr id="8" name="TextBox 7"/>
          <p:cNvSpPr txBox="1"/>
          <p:nvPr/>
        </p:nvSpPr>
        <p:spPr>
          <a:xfrm>
            <a:off x="762000" y="28829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 of 6 how-to answers did. Explainers on deposit insurance, scams and complaints look like a gap for banks.</a:t>
            </a:r>
          </a:p>
        </p:txBody>
      </p:sp>
      <p:pic>
        <p:nvPicPr>
          <p:cNvPr id="9" name="chart-intent_named" descr="intent_named.png"/>
          <p:cNvPicPr>
            <a:picLocks noChangeAspect="1"/>
          </p:cNvPicPr>
          <p:nvPr/>
        </p:nvPicPr>
        <p:blipFill>
          <a:blip r:embed="rId2"/>
          <a:stretch>
            <a:fillRect/>
          </a:stretch>
        </p:blipFill>
        <p:spPr>
          <a:xfrm>
            <a:off x="4889500" y="1896918"/>
            <a:ext cx="6731000" cy="2937163"/>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 The answers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17 / 32</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data/processed/no_brand_rate.csv. n = 40 answers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depth-2-t"/>
          <p:cNvCxnSpPr/>
          <p:nvPr/>
        </p:nvCxnSpPr>
        <p:spPr>
          <a:xfrm>
            <a:off x="2095500" y="157162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depth-2-b"/>
          <p:cNvCxnSpPr/>
          <p:nvPr/>
        </p:nvCxnSpPr>
        <p:spPr>
          <a:xfrm>
            <a:off x="2095500" y="547687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depth-2-l"/>
          <p:cNvCxnSpPr/>
          <p:nvPr/>
        </p:nvCxnSpPr>
        <p:spPr>
          <a:xfrm>
            <a:off x="2095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depth-2-r"/>
          <p:cNvCxnSpPr/>
          <p:nvPr/>
        </p:nvCxnSpPr>
        <p:spPr>
          <a:xfrm>
            <a:off x="10096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depth-3-t"/>
          <p:cNvCxnSpPr/>
          <p:nvPr/>
        </p:nvCxnSpPr>
        <p:spPr>
          <a:xfrm>
            <a:off x="2444750" y="1833562"/>
            <a:ext cx="73025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depth-3-b"/>
          <p:cNvCxnSpPr/>
          <p:nvPr/>
        </p:nvCxnSpPr>
        <p:spPr>
          <a:xfrm>
            <a:off x="2444750" y="5246687"/>
            <a:ext cx="730250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depth-3-l"/>
          <p:cNvCxnSpPr/>
          <p:nvPr/>
        </p:nvCxnSpPr>
        <p:spPr>
          <a:xfrm>
            <a:off x="2444750" y="1833562"/>
            <a:ext cx="0" cy="3413125"/>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depth-3-r"/>
          <p:cNvCxnSpPr/>
          <p:nvPr/>
        </p:nvCxnSpPr>
        <p:spPr>
          <a:xfrm>
            <a:off x="9747250" y="1833562"/>
            <a:ext cx="0" cy="3413125"/>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2984500" y="2438400"/>
            <a:ext cx="6223000" cy="292100"/>
          </a:xfrm>
          <a:prstGeom prst="rect">
            <a:avLst/>
          </a:prstGeom>
          <a:noFill/>
        </p:spPr>
        <p:txBody>
          <a:bodyPr wrap="square" lIns="0" rIns="0" tIns="0" bIns="0" anchor="t">
            <a:spAutoFit/>
          </a:bodyPr>
          <a:lstStyle/>
          <a:p>
            <a:pPr algn="ctr">
              <a:lnSpc>
                <a:spcPct val="115000"/>
              </a:lnSpc>
            </a:pPr>
            <a:r>
              <a:rPr sz="1600" b="0">
                <a:solidFill>
                  <a:srgbClr val="9A9EA6"/>
                </a:solidFill>
                <a:latin typeface="Work Sans"/>
              </a:rPr>
              <a:t>Part III</a:t>
            </a:r>
          </a:p>
        </p:txBody>
      </p:sp>
      <p:sp>
        <p:nvSpPr>
          <p:cNvPr id="35" name="TextBox 34"/>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The sources</a:t>
            </a:r>
          </a:p>
        </p:txBody>
      </p:sp>
      <p:sp>
        <p:nvSpPr>
          <p:cNvPr id="36" name="TextBox 35"/>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Which pages each engine cites</a:t>
            </a:r>
          </a:p>
        </p:txBody>
      </p:sp>
      <p:cxnSp>
        <p:nvCxnSpPr>
          <p:cNvPr id="37" name="Connector 36"/>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 cites banks and regulators. Gemini cites fintech, blog and news sites.</a:t>
            </a:r>
          </a:p>
        </p:txBody>
      </p:sp>
      <p:sp>
        <p:nvSpPr>
          <p:cNvPr id="7" name="TextBox 6"/>
          <p:cNvSpPr txBox="1"/>
          <p:nvPr/>
        </p:nvSpPr>
        <p:spPr>
          <a:xfrm>
            <a:off x="762000" y="219456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89% of ChatGPT's citations go to bank and regulator sites. 61% of Gemini's go to fintech platforms, blogs and news.</a:t>
            </a:r>
          </a:p>
        </p:txBody>
      </p:sp>
      <p:pic>
        <p:nvPicPr>
          <p:cNvPr id="8" name="chart-source_mix" descr="source_mix.png"/>
          <p:cNvPicPr>
            <a:picLocks noChangeAspect="1"/>
          </p:cNvPicPr>
          <p:nvPr/>
        </p:nvPicPr>
        <p:blipFill>
          <a:blip r:embed="rId2"/>
          <a:stretch>
            <a:fillRect/>
          </a:stretch>
        </p:blipFill>
        <p:spPr>
          <a:xfrm>
            <a:off x="993913" y="2806700"/>
            <a:ext cx="10204173" cy="2794000"/>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19 / 32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data/processed/domain_type_mix.csv. Shares rounded on their own, sums can differ by 1 point. n = 199 and 200 citations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84912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The engines share sites more than pages: 21 of 97 sites, 11 of 243 pages</a:t>
            </a:r>
          </a:p>
        </p:txBody>
      </p:sp>
      <p:sp>
        <p:nvSpPr>
          <p:cNvPr id="7" name="TextBox 6"/>
          <p:cNvSpPr txBox="1"/>
          <p:nvPr/>
        </p:nvSpPr>
        <p:spPr>
          <a:xfrm>
            <a:off x="762000" y="322072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21 of ChatGPT's 46 sites are also cited by Gemini, but rarely the same page. The Jaccard overlap is 0.22 for sites and 0.05 for pages.</a:t>
            </a:r>
          </a:p>
        </p:txBody>
      </p:sp>
      <p:sp>
        <p:nvSpPr>
          <p:cNvPr id="8" name="TextBox 7"/>
          <p:cNvSpPr txBox="1"/>
          <p:nvPr/>
        </p:nvSpPr>
        <p:spPr>
          <a:xfrm>
            <a:off x="762000" y="430530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Writesonic found 0.119 between ChatGPT and Gemini across 88,969 prompts, without saying whether it compared pages or sites.</a:t>
            </a:r>
          </a:p>
        </p:txBody>
      </p:sp>
      <p:pic>
        <p:nvPicPr>
          <p:cNvPr id="9" name="chart-overlap" descr="overlap.png"/>
          <p:cNvPicPr>
            <a:picLocks noChangeAspect="1"/>
          </p:cNvPicPr>
          <p:nvPr/>
        </p:nvPicPr>
        <p:blipFill>
          <a:blip r:embed="rId2"/>
          <a:stretch>
            <a:fillRect/>
          </a:stretch>
        </p:blipFill>
        <p:spPr>
          <a:xfrm>
            <a:off x="4889500" y="1652154"/>
            <a:ext cx="6731000" cy="3426690"/>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20 / 32</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Writesonic, AI citation source overlap study. n = 97 sites, 243 pages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Most cited sites: ChatGPT on the left, Gemini on the right</a:t>
            </a:r>
          </a:p>
        </p:txBody>
      </p:sp>
      <p:sp>
        <p:nvSpPr>
          <p:cNvPr id="7" name="TextBox 6"/>
          <p:cNvSpPr txBox="1"/>
          <p:nvPr/>
        </p:nvSpPr>
        <p:spPr>
          <a:xfrm>
            <a:off x="762000" y="1732280"/>
            <a:ext cx="8572500" cy="24891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and regulator sites lead for ChatGPT. Fazz, Akulaku and Zaipad are cited only by Gemini.</a:t>
            </a:r>
          </a:p>
        </p:txBody>
      </p:sp>
      <p:pic>
        <p:nvPicPr>
          <p:cNvPr id="8" name="chart-mirror_sites" descr="mirror_sites.png"/>
          <p:cNvPicPr>
            <a:picLocks noChangeAspect="1"/>
          </p:cNvPicPr>
          <p:nvPr/>
        </p:nvPicPr>
        <p:blipFill>
          <a:blip r:embed="rId2"/>
          <a:stretch>
            <a:fillRect/>
          </a:stretch>
        </p:blipFill>
        <p:spPr>
          <a:xfrm>
            <a:off x="1634836" y="2095500"/>
            <a:ext cx="8922327" cy="3505200"/>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21 / 32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data/processed/domains.csv. Top sites by citations. n = 399 citations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181100"/>
            <a:ext cx="10668000" cy="46228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A few comparison articles appear across Gemini's answers</a:t>
            </a:r>
          </a:p>
        </p:txBody>
      </p:sp>
      <p:sp>
        <p:nvSpPr>
          <p:cNvPr id="7" name="TextBox 6"/>
          <p:cNvSpPr txBox="1"/>
          <p:nvPr/>
        </p:nvSpPr>
        <p:spPr>
          <a:xfrm>
            <a:off x="762000" y="173228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One Akulaku article is cited in 14 of Gemini's 20 answers, one Zaipad article in 12, and Fazz articles 20 times across 15 answers. ChatGPT cites none of them.</a:t>
            </a:r>
          </a:p>
        </p:txBody>
      </p:sp>
      <p:sp>
        <p:nvSpPr>
          <p:cNvPr id="8" name="TextBox 7"/>
          <p:cNvSpPr txBox="1"/>
          <p:nvPr/>
        </p:nvSpPr>
        <p:spPr>
          <a:xfrm>
            <a:off x="762000" y="2280920"/>
            <a:ext cx="85725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Akulaku held 27.24% of Bank Neo Commerce in May 2023 (Bisnis). The article has not been checked for bias.</a:t>
            </a:r>
          </a:p>
        </p:txBody>
      </p:sp>
      <p:pic>
        <p:nvPicPr>
          <p:cNvPr id="9" name="chart-top_pages" descr="top_pages.png"/>
          <p:cNvPicPr>
            <a:picLocks noChangeAspect="1"/>
          </p:cNvPicPr>
          <p:nvPr/>
        </p:nvPicPr>
        <p:blipFill>
          <a:blip r:embed="rId2"/>
          <a:stretch>
            <a:fillRect/>
          </a:stretch>
        </p:blipFill>
        <p:spPr>
          <a:xfrm>
            <a:off x="2305304" y="2893060"/>
            <a:ext cx="7581392" cy="2707640"/>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22 / 32</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data/processed/pages_top.csv. Most cited pages. n = 399 citations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ChatGPT's citations sit on fewer sites</a:t>
            </a:r>
          </a:p>
        </p:txBody>
      </p:sp>
      <p:sp>
        <p:nvSpPr>
          <p:cNvPr id="7" name="TextBox 6"/>
          <p:cNvSpPr txBox="1"/>
          <p:nvPr/>
        </p:nvSpPr>
        <p:spPr>
          <a:xfrm>
            <a:off x="762000" y="229616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Its top five sites hold 50% of its citations. Gemini's top five hold 36%.</a:t>
            </a:r>
          </a:p>
        </p:txBody>
      </p:sp>
      <p:pic>
        <p:nvPicPr>
          <p:cNvPr id="8" name="chart-concentration" descr="concentration.png"/>
          <p:cNvPicPr>
            <a:picLocks noChangeAspect="1"/>
          </p:cNvPicPr>
          <p:nvPr/>
        </p:nvPicPr>
        <p:blipFill>
          <a:blip r:embed="rId2"/>
          <a:stretch>
            <a:fillRect/>
          </a:stretch>
        </p:blipFill>
        <p:spPr>
          <a:xfrm>
            <a:off x="4889500" y="2264063"/>
            <a:ext cx="6731000" cy="2202872"/>
          </a:xfrm>
          <a:prstGeom prst="rect">
            <a:avLst/>
          </a:prstGeom>
        </p:spPr>
      </p:pic>
      <p:sp>
        <p:nvSpPr>
          <p:cNvPr id="9" name="TextBox 8"/>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0" name="TextBox 9"/>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23 / 32</a:t>
            </a:r>
          </a:p>
        </p:txBody>
      </p:sp>
      <p:sp>
        <p:nvSpPr>
          <p:cNvPr id="11" name="TextBox 10"/>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data/processed/concentration.csv. n = 199 and 200 citations</a:t>
            </a:r>
          </a:p>
        </p:txBody>
      </p:sp>
      <p:cxnSp>
        <p:nvCxnSpPr>
          <p:cNvPr id="1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3"/>
          <p:cNvCxnSpPr/>
          <p:nvPr/>
        </p:nvCxnSpPr>
        <p:spPr>
          <a:xfrm>
            <a:off x="103886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5" name="motif-line-tick-24"/>
          <p:cNvCxnSpPr/>
          <p:nvPr/>
        </p:nvCxnSpPr>
        <p:spPr>
          <a:xfrm>
            <a:off x="105029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6"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7"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8"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Bank Mandiri gets less of the answers than its sources give it</a:t>
            </a:r>
          </a:p>
        </p:txBody>
      </p:sp>
      <p:sp>
        <p:nvSpPr>
          <p:cNvPr id="7" name="TextBox 6"/>
          <p:cNvSpPr txBox="1"/>
          <p:nvPr/>
        </p:nvSpPr>
        <p:spPr>
          <a:xfrm>
            <a:off x="762000" y="275844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Mandiri holds 11.5% of bank mentions in the cited pages and 5.9% in the answers.</a:t>
            </a:r>
          </a:p>
        </p:txBody>
      </p:sp>
      <p:sp>
        <p:nvSpPr>
          <p:cNvPr id="8" name="TextBox 7"/>
          <p:cNvSpPr txBox="1"/>
          <p:nvPr/>
        </p:nvSpPr>
        <p:spPr>
          <a:xfrm>
            <a:off x="762000" y="35941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Jago and BCA lean the other way. Bank Jago holds 20.2% of mentions in the answers and 13.6% in the pages.</a:t>
            </a:r>
          </a:p>
        </p:txBody>
      </p:sp>
      <p:sp>
        <p:nvSpPr>
          <p:cNvPr id="9" name="TextBox 8"/>
          <p:cNvSpPr txBox="1"/>
          <p:nvPr/>
        </p:nvSpPr>
        <p:spPr>
          <a:xfrm>
            <a:off x="762000" y="4429760"/>
            <a:ext cx="3810000" cy="99567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Pages were counted without a bare “Jago” or “blu”, so these two banks' source share may be low and their gaps too wide.</a:t>
            </a:r>
          </a:p>
        </p:txBody>
      </p:sp>
      <p:pic>
        <p:nvPicPr>
          <p:cNvPr id="10" name="chart-sov_gap" descr="sov_gap.png"/>
          <p:cNvPicPr>
            <a:picLocks noChangeAspect="1"/>
          </p:cNvPicPr>
          <p:nvPr/>
        </p:nvPicPr>
        <p:blipFill>
          <a:blip r:embed="rId2"/>
          <a:stretch>
            <a:fillRect/>
          </a:stretch>
        </p:blipFill>
        <p:spPr>
          <a:xfrm>
            <a:off x="4889500" y="1654228"/>
            <a:ext cx="6731000" cy="3422542"/>
          </a:xfrm>
          <a:prstGeom prst="rect">
            <a:avLst/>
          </a:prstGeom>
        </p:spPr>
      </p:pic>
      <p:sp>
        <p:nvSpPr>
          <p:cNvPr id="11" name="TextBox 10"/>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2" name="TextBox 11"/>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24 / 32</a:t>
            </a:r>
          </a:p>
        </p:txBody>
      </p:sp>
      <p:sp>
        <p:nvSpPr>
          <p:cNvPr id="13" name="TextBox 1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data/processed/source_sov.csv. Answers and pages weighted equally. n = 40 answers, 148 pages</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1386839"/>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Gemini's dead links all sit behind a Google redirect</a:t>
            </a:r>
          </a:p>
        </p:txBody>
      </p:sp>
      <p:sp>
        <p:nvSpPr>
          <p:cNvPr id="7" name="TextBox 6"/>
          <p:cNvSpPr txBox="1"/>
          <p:nvPr/>
        </p:nvSpPr>
        <p:spPr>
          <a:xfrm>
            <a:off x="762000" y="275844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13 of its 21 links wrapped in google.com/search were dead. None of its 179 direct links were.</a:t>
            </a:r>
          </a:p>
        </p:txBody>
      </p:sp>
      <p:sp>
        <p:nvSpPr>
          <p:cNvPr id="8" name="TextBox 7"/>
          <p:cNvSpPr txBox="1"/>
          <p:nvPr/>
        </p:nvSpPr>
        <p:spPr>
          <a:xfrm>
            <a:off x="762000" y="359410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The Tow Center found Gemini gave more fabricated links than correct ones in its 2025 tests (Nieman Lab).</a:t>
            </a:r>
          </a:p>
        </p:txBody>
      </p:sp>
      <p:pic>
        <p:nvPicPr>
          <p:cNvPr id="9" name="chart-dead_links" descr="dead_links.png"/>
          <p:cNvPicPr>
            <a:picLocks noChangeAspect="1"/>
          </p:cNvPicPr>
          <p:nvPr/>
        </p:nvPicPr>
        <p:blipFill>
          <a:blip r:embed="rId2"/>
          <a:stretch>
            <a:fillRect/>
          </a:stretch>
        </p:blipFill>
        <p:spPr>
          <a:xfrm>
            <a:off x="4889500" y="2281694"/>
            <a:ext cx="6731000" cy="2167610"/>
          </a:xfrm>
          <a:prstGeom prst="rect">
            <a:avLst/>
          </a:prstGeom>
        </p:spPr>
      </p:pic>
      <p:sp>
        <p:nvSpPr>
          <p:cNvPr id="10" name="TextBox 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1" name="TextBox 1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25 / 32</a:t>
            </a:r>
          </a:p>
        </p:txBody>
      </p:sp>
      <p:sp>
        <p:nvSpPr>
          <p:cNvPr id="12" name="TextBox 11"/>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data/interim/citations.csv, pages.csv. n = 200 Gemini citations</a:t>
            </a:r>
          </a:p>
        </p:txBody>
      </p:sp>
      <p:cxnSp>
        <p:nvCxnSpPr>
          <p:cNvPr id="13"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4"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5"/>
          <p:cNvCxnSpPr/>
          <p:nvPr/>
        </p:nvCxnSpPr>
        <p:spPr>
          <a:xfrm>
            <a:off x="106172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38" name="motif-line-tick-26"/>
          <p:cNvCxnSpPr/>
          <p:nvPr/>
        </p:nvCxnSpPr>
        <p:spPr>
          <a:xfrm>
            <a:off x="107315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9"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0"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06500"/>
            <a:ext cx="3810000" cy="924560"/>
          </a:xfrm>
          <a:prstGeom prst="rect">
            <a:avLst/>
          </a:prstGeom>
          <a:noFill/>
        </p:spPr>
        <p:txBody>
          <a:bodyPr wrap="square" lIns="0" rIns="0" tIns="0" bIns="0" anchor="t">
            <a:spAutoFit/>
          </a:bodyPr>
          <a:lstStyle/>
          <a:p>
            <a:pPr algn="l">
              <a:lnSpc>
                <a:spcPct val="115000"/>
              </a:lnSpc>
            </a:pPr>
            <a:r>
              <a:rPr sz="2600" b="0">
                <a:solidFill>
                  <a:srgbClr val="ECE7DD"/>
                </a:solidFill>
                <a:latin typeface="Work Sans"/>
              </a:rPr>
              <a:t>Pages without schema still get cited</a:t>
            </a:r>
          </a:p>
        </p:txBody>
      </p:sp>
      <p:sp>
        <p:nvSpPr>
          <p:cNvPr id="7" name="TextBox 6"/>
          <p:cNvSpPr txBox="1"/>
          <p:nvPr/>
        </p:nvSpPr>
        <p:spPr>
          <a:xfrm>
            <a:off x="762000" y="229616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Bank sites carry schema on 32% of cited pages, against 95% for news and 86% for blogs, yet they are the most cited type.</a:t>
            </a:r>
          </a:p>
        </p:txBody>
      </p:sp>
      <p:sp>
        <p:nvSpPr>
          <p:cNvPr id="8" name="TextBox 7"/>
          <p:cNvSpPr txBox="1"/>
          <p:nvPr/>
        </p:nvSpPr>
        <p:spPr>
          <a:xfrm>
            <a:off x="762000" y="3131820"/>
            <a:ext cx="3810000" cy="497839"/>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Only 133 of 333 readable citations point to a page with a structured publish date.</a:t>
            </a:r>
          </a:p>
        </p:txBody>
      </p:sp>
      <p:sp>
        <p:nvSpPr>
          <p:cNvPr id="9" name="TextBox 8"/>
          <p:cNvSpPr txBox="1"/>
          <p:nvPr/>
        </p:nvSpPr>
        <p:spPr>
          <a:xfrm>
            <a:off x="762000" y="3718560"/>
            <a:ext cx="3810000" cy="746760"/>
          </a:xfrm>
          <a:prstGeom prst="rect">
            <a:avLst/>
          </a:prstGeom>
          <a:noFill/>
        </p:spPr>
        <p:txBody>
          <a:bodyPr wrap="square" lIns="0" rIns="0" tIns="0" bIns="0" anchor="t">
            <a:spAutoFit/>
          </a:bodyPr>
          <a:lstStyle/>
          <a:p>
            <a:pPr algn="l">
              <a:lnSpc>
                <a:spcPct val="115000"/>
              </a:lnSpc>
            </a:pPr>
            <a:r>
              <a:rPr sz="1400" b="0">
                <a:solidFill>
                  <a:srgbClr val="9A9EA6"/>
                </a:solidFill>
                <a:latin typeface="Work Sans"/>
              </a:rPr>
              <a:t>Google: “there's also no special schema.org structured data that you need to add.”</a:t>
            </a:r>
          </a:p>
        </p:txBody>
      </p:sp>
      <p:pic>
        <p:nvPicPr>
          <p:cNvPr id="10" name="chart-schema" descr="schema.png"/>
          <p:cNvPicPr>
            <a:picLocks noChangeAspect="1"/>
          </p:cNvPicPr>
          <p:nvPr/>
        </p:nvPicPr>
        <p:blipFill>
          <a:blip r:embed="rId2"/>
          <a:stretch>
            <a:fillRect/>
          </a:stretch>
        </p:blipFill>
        <p:spPr>
          <a:xfrm>
            <a:off x="4889500" y="1711271"/>
            <a:ext cx="6731000" cy="3308457"/>
          </a:xfrm>
          <a:prstGeom prst="rect">
            <a:avLst/>
          </a:prstGeom>
        </p:spPr>
      </p:pic>
      <p:sp>
        <p:nvSpPr>
          <p:cNvPr id="11" name="TextBox 10"/>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III: The sources</a:t>
            </a:r>
          </a:p>
        </p:txBody>
      </p:sp>
      <p:sp>
        <p:nvSpPr>
          <p:cNvPr id="12" name="TextBox 11"/>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26 / 32</a:t>
            </a:r>
          </a:p>
        </p:txBody>
      </p:sp>
      <p:sp>
        <p:nvSpPr>
          <p:cNvPr id="13" name="TextBox 12"/>
          <p:cNvSpPr txBox="1"/>
          <p:nvPr/>
        </p:nvSpPr>
        <p:spPr>
          <a:xfrm>
            <a:off x="762000" y="5727700"/>
            <a:ext cx="10668000" cy="165100"/>
          </a:xfrm>
          <a:prstGeom prst="rect">
            <a:avLst/>
          </a:prstGeom>
          <a:noFill/>
        </p:spPr>
        <p:txBody>
          <a:bodyPr wrap="square" lIns="0" rIns="0" tIns="0" bIns="0" anchor="t">
            <a:spAutoFit/>
          </a:bodyPr>
          <a:lstStyle/>
          <a:p>
            <a:pPr algn="l">
              <a:lnSpc>
                <a:spcPct val="115000"/>
              </a:lnSpc>
            </a:pPr>
            <a:r>
              <a:rPr sz="900" b="0">
                <a:solidFill>
                  <a:srgbClr val="9A9EA6"/>
                </a:solidFill>
                <a:latin typeface="IBM Plex Mono"/>
              </a:rPr>
              <a:t>Source: data/processed/schema.csv, recency.csv. Google Search Central. n = 191 pages, 333 citations</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cxnSp>
        <p:nvCxnSpPr>
          <p:cNvPr id="2" name="motif-line-corridor-corner-0"/>
          <p:cNvCxnSpPr/>
          <p:nvPr/>
        </p:nvCxnSpPr>
        <p:spPr>
          <a:xfrm>
            <a:off x="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 name="motif-line-corridor-corner-1"/>
          <p:cNvCxnSpPr/>
          <p:nvPr/>
        </p:nvCxnSpPr>
        <p:spPr>
          <a:xfrm flipH="1">
            <a:off x="9398000" y="0"/>
            <a:ext cx="2794000" cy="2095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 name="motif-line-corridor-corner-2"/>
          <p:cNvCxnSpPr/>
          <p:nvPr/>
        </p:nvCxnSpPr>
        <p:spPr>
          <a:xfrm flipV="1">
            <a:off x="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corridor-corner-3"/>
          <p:cNvCxnSpPr/>
          <p:nvPr/>
        </p:nvCxnSpPr>
        <p:spPr>
          <a:xfrm flipH="1" flipV="1">
            <a:off x="9398000" y="5016500"/>
            <a:ext cx="2794000" cy="1841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6" name="motif-line-corridor-top-1"/>
          <p:cNvCxnSpPr/>
          <p:nvPr/>
        </p:nvCxnSpPr>
        <p:spPr>
          <a:xfrm>
            <a:off x="2032000" y="0"/>
            <a:ext cx="1862666"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7" name="motif-line-corridor-floor-1"/>
          <p:cNvCxnSpPr/>
          <p:nvPr/>
        </p:nvCxnSpPr>
        <p:spPr>
          <a:xfrm flipV="1">
            <a:off x="2032000" y="5016500"/>
            <a:ext cx="1862666"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8" name="motif-line-corridor-top-2"/>
          <p:cNvCxnSpPr/>
          <p:nvPr/>
        </p:nvCxnSpPr>
        <p:spPr>
          <a:xfrm>
            <a:off x="4064000" y="0"/>
            <a:ext cx="931333"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9" name="motif-line-corridor-floor-2"/>
          <p:cNvCxnSpPr/>
          <p:nvPr/>
        </p:nvCxnSpPr>
        <p:spPr>
          <a:xfrm flipV="1">
            <a:off x="4064000" y="5016500"/>
            <a:ext cx="931333"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corridor-top-3"/>
          <p:cNvCxnSpPr/>
          <p:nvPr/>
        </p:nvCxnSpPr>
        <p:spPr>
          <a:xfrm>
            <a:off x="6096000" y="0"/>
            <a:ext cx="0"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1" name="motif-line-corridor-floor-3"/>
          <p:cNvCxnSpPr/>
          <p:nvPr/>
        </p:nvCxnSpPr>
        <p:spPr>
          <a:xfrm flipV="1">
            <a:off x="6096000" y="5016500"/>
            <a:ext cx="0"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2" name="motif-line-corridor-top-4"/>
          <p:cNvCxnSpPr/>
          <p:nvPr/>
        </p:nvCxnSpPr>
        <p:spPr>
          <a:xfrm flipH="1">
            <a:off x="7196666" y="0"/>
            <a:ext cx="931334"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3" name="motif-line-corridor-floor-4"/>
          <p:cNvCxnSpPr/>
          <p:nvPr/>
        </p:nvCxnSpPr>
        <p:spPr>
          <a:xfrm flipH="1" flipV="1">
            <a:off x="7196666" y="5016500"/>
            <a:ext cx="931334"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4" name="motif-line-corridor-top-5"/>
          <p:cNvCxnSpPr/>
          <p:nvPr/>
        </p:nvCxnSpPr>
        <p:spPr>
          <a:xfrm flipH="1">
            <a:off x="8297333" y="0"/>
            <a:ext cx="1862667" cy="2095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5" name="motif-line-corridor-floor-5"/>
          <p:cNvCxnSpPr/>
          <p:nvPr/>
        </p:nvCxnSpPr>
        <p:spPr>
          <a:xfrm flipH="1" flipV="1">
            <a:off x="8297333" y="5016500"/>
            <a:ext cx="1862667" cy="18415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corridor-left-1"/>
          <p:cNvCxnSpPr/>
          <p:nvPr/>
        </p:nvCxnSpPr>
        <p:spPr>
          <a:xfrm>
            <a:off x="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7" name="motif-line-corridor-right-1"/>
          <p:cNvCxnSpPr/>
          <p:nvPr/>
        </p:nvCxnSpPr>
        <p:spPr>
          <a:xfrm flipH="1">
            <a:off x="9398000" y="1714500"/>
            <a:ext cx="2794000" cy="1111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corridor-left-2"/>
          <p:cNvCxnSpPr/>
          <p:nvPr/>
        </p:nvCxnSpPr>
        <p:spPr>
          <a:xfrm>
            <a:off x="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9" name="motif-line-corridor-right-2"/>
          <p:cNvCxnSpPr/>
          <p:nvPr/>
        </p:nvCxnSpPr>
        <p:spPr>
          <a:xfrm flipH="1">
            <a:off x="9398000" y="3429000"/>
            <a:ext cx="2794000" cy="12700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corridor-left-3"/>
          <p:cNvCxnSpPr/>
          <p:nvPr/>
        </p:nvCxnSpPr>
        <p:spPr>
          <a:xfrm flipV="1">
            <a:off x="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1" name="motif-line-corridor-right-3"/>
          <p:cNvCxnSpPr/>
          <p:nvPr/>
        </p:nvCxnSpPr>
        <p:spPr>
          <a:xfrm flipH="1" flipV="1">
            <a:off x="9398000" y="4286250"/>
            <a:ext cx="2794000" cy="85725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2" name="motif-line-depth-1-t"/>
          <p:cNvCxnSpPr/>
          <p:nvPr/>
        </p:nvCxnSpPr>
        <p:spPr>
          <a:xfrm>
            <a:off x="1397000" y="10477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3" name="motif-line-depth-1-b"/>
          <p:cNvCxnSpPr/>
          <p:nvPr/>
        </p:nvCxnSpPr>
        <p:spPr>
          <a:xfrm>
            <a:off x="1397000" y="5937250"/>
            <a:ext cx="9398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4" name="motif-line-depth-1-l"/>
          <p:cNvCxnSpPr/>
          <p:nvPr/>
        </p:nvCxnSpPr>
        <p:spPr>
          <a:xfrm>
            <a:off x="1397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5" name="motif-line-depth-1-r"/>
          <p:cNvCxnSpPr/>
          <p:nvPr/>
        </p:nvCxnSpPr>
        <p:spPr>
          <a:xfrm>
            <a:off x="10795000" y="1047750"/>
            <a:ext cx="0" cy="48895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6" name="motif-line-depth-2-t"/>
          <p:cNvCxnSpPr/>
          <p:nvPr/>
        </p:nvCxnSpPr>
        <p:spPr>
          <a:xfrm>
            <a:off x="2095500" y="157162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7" name="motif-line-depth-2-b"/>
          <p:cNvCxnSpPr/>
          <p:nvPr/>
        </p:nvCxnSpPr>
        <p:spPr>
          <a:xfrm>
            <a:off x="2095500" y="5476875"/>
            <a:ext cx="80010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8" name="motif-line-depth-2-l"/>
          <p:cNvCxnSpPr/>
          <p:nvPr/>
        </p:nvCxnSpPr>
        <p:spPr>
          <a:xfrm>
            <a:off x="2095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9" name="motif-line-depth-2-r"/>
          <p:cNvCxnSpPr/>
          <p:nvPr/>
        </p:nvCxnSpPr>
        <p:spPr>
          <a:xfrm>
            <a:off x="10096500" y="1571625"/>
            <a:ext cx="0" cy="390525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0" name="motif-line-depth-3-t"/>
          <p:cNvCxnSpPr/>
          <p:nvPr/>
        </p:nvCxnSpPr>
        <p:spPr>
          <a:xfrm>
            <a:off x="2444750" y="1833562"/>
            <a:ext cx="73025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1" name="motif-line-depth-3-b"/>
          <p:cNvCxnSpPr/>
          <p:nvPr/>
        </p:nvCxnSpPr>
        <p:spPr>
          <a:xfrm>
            <a:off x="2444750" y="5246687"/>
            <a:ext cx="7302500" cy="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2" name="motif-line-depth-3-l"/>
          <p:cNvCxnSpPr/>
          <p:nvPr/>
        </p:nvCxnSpPr>
        <p:spPr>
          <a:xfrm>
            <a:off x="2444750" y="1833562"/>
            <a:ext cx="0" cy="3413125"/>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3" name="motif-line-depth-3-r"/>
          <p:cNvCxnSpPr/>
          <p:nvPr/>
        </p:nvCxnSpPr>
        <p:spPr>
          <a:xfrm>
            <a:off x="9747250" y="1833562"/>
            <a:ext cx="0" cy="3413125"/>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34" name="motif-line-depth-4-t"/>
          <p:cNvCxnSpPr/>
          <p:nvPr/>
        </p:nvCxnSpPr>
        <p:spPr>
          <a:xfrm>
            <a:off x="2619375" y="1964531"/>
            <a:ext cx="695325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depth-4-b"/>
          <p:cNvCxnSpPr/>
          <p:nvPr/>
        </p:nvCxnSpPr>
        <p:spPr>
          <a:xfrm>
            <a:off x="2619375" y="5131593"/>
            <a:ext cx="6953250" cy="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depth-4-l"/>
          <p:cNvCxnSpPr/>
          <p:nvPr/>
        </p:nvCxnSpPr>
        <p:spPr>
          <a:xfrm>
            <a:off x="2619375" y="1964531"/>
            <a:ext cx="0" cy="3167062"/>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depth-4-r"/>
          <p:cNvCxnSpPr/>
          <p:nvPr/>
        </p:nvCxnSpPr>
        <p:spPr>
          <a:xfrm>
            <a:off x="9572625" y="1964531"/>
            <a:ext cx="0" cy="3167062"/>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2984500" y="2438400"/>
            <a:ext cx="6223000" cy="292100"/>
          </a:xfrm>
          <a:prstGeom prst="rect">
            <a:avLst/>
          </a:prstGeom>
          <a:noFill/>
        </p:spPr>
        <p:txBody>
          <a:bodyPr wrap="square" lIns="0" rIns="0" tIns="0" bIns="0" anchor="t">
            <a:spAutoFit/>
          </a:bodyPr>
          <a:lstStyle/>
          <a:p>
            <a:pPr algn="ctr">
              <a:lnSpc>
                <a:spcPct val="115000"/>
              </a:lnSpc>
            </a:pPr>
            <a:r>
              <a:rPr sz="1600" b="0">
                <a:solidFill>
                  <a:srgbClr val="9A9EA6"/>
                </a:solidFill>
                <a:latin typeface="Work Sans"/>
              </a:rPr>
              <a:t>Part IV</a:t>
            </a:r>
          </a:p>
        </p:txBody>
      </p:sp>
      <p:sp>
        <p:nvSpPr>
          <p:cNvPr id="39" name="TextBox 38"/>
          <p:cNvSpPr txBox="1"/>
          <p:nvPr/>
        </p:nvSpPr>
        <p:spPr>
          <a:xfrm>
            <a:off x="2984500" y="2794000"/>
            <a:ext cx="6223000" cy="1066800"/>
          </a:xfrm>
          <a:prstGeom prst="rect">
            <a:avLst/>
          </a:prstGeom>
          <a:noFill/>
        </p:spPr>
        <p:txBody>
          <a:bodyPr wrap="square" lIns="0" rIns="0" tIns="0" bIns="0" anchor="t">
            <a:spAutoFit/>
          </a:bodyPr>
          <a:lstStyle/>
          <a:p>
            <a:pPr algn="ctr">
              <a:lnSpc>
                <a:spcPct val="115000"/>
              </a:lnSpc>
            </a:pPr>
            <a:r>
              <a:rPr sz="6000" b="0">
                <a:solidFill>
                  <a:srgbClr val="ECE7DD"/>
                </a:solidFill>
                <a:latin typeface="Work Sans"/>
              </a:rPr>
              <a:t>What it means</a:t>
            </a:r>
          </a:p>
        </p:txBody>
      </p:sp>
      <p:sp>
        <p:nvSpPr>
          <p:cNvPr id="40" name="TextBox 39"/>
          <p:cNvSpPr txBox="1"/>
          <p:nvPr/>
        </p:nvSpPr>
        <p:spPr>
          <a:xfrm>
            <a:off x="2984500" y="3937000"/>
            <a:ext cx="6223000" cy="320040"/>
          </a:xfrm>
          <a:prstGeom prst="rect">
            <a:avLst/>
          </a:prstGeom>
          <a:noFill/>
        </p:spPr>
        <p:txBody>
          <a:bodyPr wrap="square" lIns="0" rIns="0" tIns="0" bIns="0" anchor="t">
            <a:spAutoFit/>
          </a:bodyPr>
          <a:lstStyle/>
          <a:p>
            <a:pPr algn="ctr">
              <a:lnSpc>
                <a:spcPct val="115000"/>
              </a:lnSpc>
            </a:pPr>
            <a:r>
              <a:rPr sz="1800" b="0">
                <a:solidFill>
                  <a:srgbClr val="9A9EA6"/>
                </a:solidFill>
                <a:latin typeface="Work Sans"/>
              </a:rPr>
              <a:t>For banks, and for people who measure AI search</a:t>
            </a:r>
          </a:p>
        </p:txBody>
      </p:sp>
      <p:cxnSp>
        <p:nvCxnSpPr>
          <p:cNvPr id="41" name="Connector 40"/>
          <p:cNvCxnSpPr/>
          <p:nvPr/>
        </p:nvCxnSpPr>
        <p:spPr>
          <a:xfrm>
            <a:off x="5588000" y="4572000"/>
            <a:ext cx="1016000" cy="0"/>
          </a:xfrm>
          <a:prstGeom prst="line">
            <a:avLst/>
          </a:prstGeom>
          <a:ln w="15875">
            <a:solidFill>
              <a:srgbClr val="D07A2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588000" y="4648200"/>
            <a:ext cx="1016000" cy="0"/>
          </a:xfrm>
          <a:prstGeom prst="line">
            <a:avLst/>
          </a:prstGeom>
          <a:ln w="15875">
            <a:solidFill>
              <a:srgbClr val="4790D8"/>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banks</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Plan for each engine. ChatGPT cites bank and regulator pages; Gemini cites comparison sites, blogs and news.</a:t>
            </a:r>
          </a:p>
        </p:txBody>
      </p:sp>
      <p:sp>
        <p:nvSpPr>
          <p:cNvPr id="9" name="TextBox 8"/>
          <p:cNvSpPr txBox="1"/>
          <p:nvPr/>
        </p:nvSpPr>
        <p:spPr>
          <a:xfrm>
            <a:off x="762000" y="27889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7635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Fee and rate pages get cited directly. ChatGPT cites SeaBank's and blu's fee pages by name.</a:t>
            </a:r>
          </a:p>
        </p:txBody>
      </p:sp>
      <p:sp>
        <p:nvSpPr>
          <p:cNvPr id="11" name="TextBox 10"/>
          <p:cNvSpPr txBox="1"/>
          <p:nvPr/>
        </p:nvSpPr>
        <p:spPr>
          <a:xfrm>
            <a:off x="762000" y="353314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350774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Know what the comparison sites say about you. Gemini cites Akulaku's, Zaipad's and Fazz's sites in 13 to 15 of its 20 answers.</a:t>
            </a:r>
          </a:p>
        </p:txBody>
      </p:sp>
      <p:sp>
        <p:nvSpPr>
          <p:cNvPr id="13" name="TextBox 12"/>
          <p:cNvSpPr txBox="1"/>
          <p:nvPr/>
        </p:nvSpPr>
        <p:spPr>
          <a:xfrm>
            <a:off x="762000" y="4277359"/>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4" name="TextBox 13"/>
          <p:cNvSpPr txBox="1"/>
          <p:nvPr/>
        </p:nvSpPr>
        <p:spPr>
          <a:xfrm>
            <a:off x="1524000" y="4251959"/>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Track how often you are named. No answer in this run was negative about any bank.</a:t>
            </a:r>
          </a:p>
        </p:txBody>
      </p:sp>
      <p:sp>
        <p:nvSpPr>
          <p:cNvPr id="15" name="TextBox 14"/>
          <p:cNvSpPr txBox="1"/>
          <p:nvPr/>
        </p:nvSpPr>
        <p:spPr>
          <a:xfrm>
            <a:off x="762000" y="502158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05</a:t>
            </a:r>
          </a:p>
        </p:txBody>
      </p:sp>
      <p:sp>
        <p:nvSpPr>
          <p:cNvPr id="16" name="TextBox 15"/>
          <p:cNvSpPr txBox="1"/>
          <p:nvPr/>
        </p:nvSpPr>
        <p:spPr>
          <a:xfrm>
            <a:off x="1524000" y="499618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Write the explainers. Only 1 of 6 how-to answers named a bank.</a:t>
            </a:r>
          </a:p>
        </p:txBody>
      </p:sp>
      <p:cxnSp>
        <p:nvCxnSpPr>
          <p:cNvPr id="17" name="motif-line-rail"/>
          <p:cNvCxnSpPr/>
          <p:nvPr/>
        </p:nvCxnSpPr>
        <p:spPr>
          <a:xfrm>
            <a:off x="1282700" y="2056130"/>
            <a:ext cx="0" cy="3205479"/>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8"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stop-2"/>
          <p:cNvCxnSpPr/>
          <p:nvPr/>
        </p:nvCxnSpPr>
        <p:spPr>
          <a:xfrm>
            <a:off x="1238250" y="29146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stop-3"/>
          <p:cNvCxnSpPr/>
          <p:nvPr/>
        </p:nvCxnSpPr>
        <p:spPr>
          <a:xfrm>
            <a:off x="1238250" y="365886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stop-4"/>
          <p:cNvCxnSpPr/>
          <p:nvPr/>
        </p:nvCxnSpPr>
        <p:spPr>
          <a:xfrm>
            <a:off x="1238250" y="440308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stop-5"/>
          <p:cNvCxnSpPr/>
          <p:nvPr/>
        </p:nvCxnSpPr>
        <p:spPr>
          <a:xfrm>
            <a:off x="1238250" y="514730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IV: What it means</a:t>
            </a:r>
          </a:p>
        </p:txBody>
      </p:sp>
      <p:sp>
        <p:nvSpPr>
          <p:cNvPr id="24" name="TextBox 23"/>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28 / 32</a:t>
            </a:r>
          </a:p>
        </p:txBody>
      </p:sp>
      <p:cxnSp>
        <p:nvCxnSpPr>
          <p:cNvPr id="25"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5"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6"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7"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8"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9"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0"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1"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2" name="motif-line-tick-28"/>
          <p:cNvCxnSpPr/>
          <p:nvPr/>
        </p:nvCxnSpPr>
        <p:spPr>
          <a:xfrm>
            <a:off x="109601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53" name="motif-line-tick-29"/>
          <p:cNvCxnSpPr/>
          <p:nvPr/>
        </p:nvCxnSpPr>
        <p:spPr>
          <a:xfrm>
            <a:off x="110744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4"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5"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6"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For GEO practitioners: what building this taught me</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Count only the listed sources. Inline links and source chips inflate citation counts.</a:t>
            </a:r>
          </a:p>
        </p:txBody>
      </p:sp>
      <p:sp>
        <p:nvSpPr>
          <p:cNvPr id="9" name="TextBox 8"/>
          <p:cNvSpPr txBox="1"/>
          <p:nvPr/>
        </p:nvSpPr>
        <p:spPr>
          <a:xfrm>
            <a:off x="762000" y="245618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430780"/>
            <a:ext cx="8636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Unwrap redirects and normalise URLs before counting pages.</a:t>
            </a:r>
          </a:p>
        </p:txBody>
      </p:sp>
      <p:sp>
        <p:nvSpPr>
          <p:cNvPr id="11" name="TextBox 10"/>
          <p:cNvSpPr txBox="1"/>
          <p:nvPr/>
        </p:nvSpPr>
        <p:spPr>
          <a:xfrm>
            <a:off x="762000" y="286766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284226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Render pages built with JavaScript. 19 cited pages needed a headless browser to be read.</a:t>
            </a:r>
          </a:p>
        </p:txBody>
      </p:sp>
      <p:sp>
        <p:nvSpPr>
          <p:cNvPr id="13" name="TextBox 12"/>
          <p:cNvSpPr txBox="1"/>
          <p:nvPr/>
        </p:nvSpPr>
        <p:spPr>
          <a:xfrm>
            <a:off x="762000" y="35636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4" name="TextBox 13"/>
          <p:cNvSpPr txBox="1"/>
          <p:nvPr/>
        </p:nvSpPr>
        <p:spPr>
          <a:xfrm>
            <a:off x="1524000" y="3538220"/>
            <a:ext cx="8636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Weight pages equally in source share, or one long annual report can dominate it.</a:t>
            </a:r>
          </a:p>
        </p:txBody>
      </p:sp>
      <p:sp>
        <p:nvSpPr>
          <p:cNvPr id="15" name="TextBox 14"/>
          <p:cNvSpPr txBox="1"/>
          <p:nvPr/>
        </p:nvSpPr>
        <p:spPr>
          <a:xfrm>
            <a:off x="762000" y="39751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05</a:t>
            </a:r>
          </a:p>
        </p:txBody>
      </p:sp>
      <p:sp>
        <p:nvSpPr>
          <p:cNvPr id="16" name="TextBox 15"/>
          <p:cNvSpPr txBox="1"/>
          <p:nvPr/>
        </p:nvSpPr>
        <p:spPr>
          <a:xfrm>
            <a:off x="1524000" y="394970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Weight answers equally in answer share, so one long answer does not count many times.</a:t>
            </a:r>
          </a:p>
        </p:txBody>
      </p:sp>
      <p:sp>
        <p:nvSpPr>
          <p:cNvPr id="17" name="TextBox 16"/>
          <p:cNvSpPr txBox="1"/>
          <p:nvPr/>
        </p:nvSpPr>
        <p:spPr>
          <a:xfrm>
            <a:off x="762000" y="467106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06</a:t>
            </a:r>
          </a:p>
        </p:txBody>
      </p:sp>
      <p:sp>
        <p:nvSpPr>
          <p:cNvPr id="18" name="TextBox 17"/>
          <p:cNvSpPr txBox="1"/>
          <p:nvPr/>
        </p:nvSpPr>
        <p:spPr>
          <a:xfrm>
            <a:off x="1524000" y="4645660"/>
            <a:ext cx="8636000" cy="568960"/>
          </a:xfrm>
          <a:prstGeom prst="rect">
            <a:avLst/>
          </a:prstGeom>
          <a:noFill/>
        </p:spPr>
        <p:txBody>
          <a:bodyPr wrap="square" lIns="0" rIns="0" tIns="0" bIns="0" anchor="t">
            <a:spAutoFit/>
          </a:bodyPr>
          <a:lstStyle/>
          <a:p>
            <a:pPr algn="l">
              <a:lnSpc>
                <a:spcPct val="115000"/>
              </a:lnSpc>
            </a:pPr>
            <a:r>
              <a:rPr sz="1600" b="0">
                <a:solidFill>
                  <a:srgbClr val="ECE7DD"/>
                </a:solidFill>
                <a:latin typeface="Work Sans"/>
              </a:rPr>
              <a:t>Per-source PAWC needs inline citation markers. Neither engine gave them, so only brand PAWC is reported.</a:t>
            </a:r>
          </a:p>
        </p:txBody>
      </p:sp>
      <p:cxnSp>
        <p:nvCxnSpPr>
          <p:cNvPr id="19" name="motif-line-rail"/>
          <p:cNvCxnSpPr/>
          <p:nvPr/>
        </p:nvCxnSpPr>
        <p:spPr>
          <a:xfrm>
            <a:off x="1282700" y="2047239"/>
            <a:ext cx="0" cy="2854961"/>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20" name="motif-line-stop-1"/>
          <p:cNvCxnSpPr/>
          <p:nvPr/>
        </p:nvCxnSpPr>
        <p:spPr>
          <a:xfrm>
            <a:off x="1238250" y="216154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stop-2"/>
          <p:cNvCxnSpPr/>
          <p:nvPr/>
        </p:nvCxnSpPr>
        <p:spPr>
          <a:xfrm>
            <a:off x="1238250" y="257302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stop-3"/>
          <p:cNvCxnSpPr/>
          <p:nvPr/>
        </p:nvCxnSpPr>
        <p:spPr>
          <a:xfrm>
            <a:off x="1238250" y="298450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stop-4"/>
          <p:cNvCxnSpPr/>
          <p:nvPr/>
        </p:nvCxnSpPr>
        <p:spPr>
          <a:xfrm>
            <a:off x="1238250" y="368046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stop-5"/>
          <p:cNvCxnSpPr/>
          <p:nvPr/>
        </p:nvCxnSpPr>
        <p:spPr>
          <a:xfrm>
            <a:off x="1238250" y="409194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stop-6"/>
          <p:cNvCxnSpPr/>
          <p:nvPr/>
        </p:nvCxnSpPr>
        <p:spPr>
          <a:xfrm>
            <a:off x="1238250" y="478790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IV: What it means</a:t>
            </a:r>
          </a:p>
        </p:txBody>
      </p:sp>
      <p:sp>
        <p:nvSpPr>
          <p:cNvPr id="27" name="TextBox 26"/>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29 / 32</a:t>
            </a:r>
          </a:p>
        </p:txBody>
      </p:sp>
      <p:cxnSp>
        <p:nvCxnSpPr>
          <p:cNvPr id="28"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5"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6"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7"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8"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9"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0"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1"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2"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3"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4"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5" name="motif-line-tick-28"/>
          <p:cNvCxnSpPr/>
          <p:nvPr/>
        </p:nvCxnSpPr>
        <p:spPr>
          <a:xfrm>
            <a:off x="10960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6" name="motif-line-tick-29"/>
          <p:cNvCxnSpPr/>
          <p:nvPr/>
        </p:nvCxnSpPr>
        <p:spPr>
          <a:xfrm>
            <a:off x="110744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57" name="motif-line-tick-30"/>
          <p:cNvCxnSpPr/>
          <p:nvPr/>
        </p:nvCxnSpPr>
        <p:spPr>
          <a:xfrm>
            <a:off x="111887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8"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9"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These numbers come from one run</a:t>
            </a:r>
          </a:p>
        </p:txBody>
      </p:sp>
      <p:sp>
        <p:nvSpPr>
          <p:cNvPr id="7" name="TextBox 6"/>
          <p:cNvSpPr txBox="1"/>
          <p:nvPr/>
        </p:nvSpPr>
        <p:spPr>
          <a:xfrm>
            <a:off x="15240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SparkToro and Gumshoe ran 12 prompts nearly 3,000 times. The same brand list came back less than 1 in 100 times (Search Engine Land, January 2026).</a:t>
            </a:r>
          </a:p>
        </p:txBody>
      </p:sp>
      <p:sp>
        <p:nvSpPr>
          <p:cNvPr id="8" name="TextBox 7"/>
          <p:cNvSpPr txBox="1"/>
          <p:nvPr/>
        </p:nvSpPr>
        <p:spPr>
          <a:xfrm>
            <a:off x="1524000" y="276352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gaps of a few points here as ties: BCA and Bank Jago at 55%, SeaBank at 53%.</a:t>
            </a:r>
          </a:p>
        </p:txBody>
      </p:sp>
      <p:cxnSp>
        <p:nvCxnSpPr>
          <p:cNvPr id="9" name="motif-line-rail"/>
          <p:cNvCxnSpPr/>
          <p:nvPr/>
        </p:nvCxnSpPr>
        <p:spPr>
          <a:xfrm>
            <a:off x="1282700" y="2056130"/>
            <a:ext cx="0" cy="97282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0"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1" name="motif-line-stop-2"/>
          <p:cNvCxnSpPr/>
          <p:nvPr/>
        </p:nvCxnSpPr>
        <p:spPr>
          <a:xfrm>
            <a:off x="1238250" y="29146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IV: What it means</a:t>
            </a:r>
          </a:p>
        </p:txBody>
      </p:sp>
      <p:sp>
        <p:nvSpPr>
          <p:cNvPr id="13" name="TextBox 12"/>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30 / 32</a:t>
            </a:r>
          </a:p>
        </p:txBody>
      </p:sp>
      <p:cxnSp>
        <p:nvCxnSpPr>
          <p:cNvPr id="14"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5"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6"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0"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1"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2"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28"/>
          <p:cNvCxnSpPr/>
          <p:nvPr/>
        </p:nvCxnSpPr>
        <p:spPr>
          <a:xfrm>
            <a:off x="10960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29"/>
          <p:cNvCxnSpPr/>
          <p:nvPr/>
        </p:nvCxnSpPr>
        <p:spPr>
          <a:xfrm>
            <a:off x="11074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30"/>
          <p:cNvCxnSpPr/>
          <p:nvPr/>
        </p:nvCxnSpPr>
        <p:spPr>
          <a:xfrm>
            <a:off x="111887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44" name="motif-line-tick-31"/>
          <p:cNvCxnSpPr/>
          <p:nvPr/>
        </p:nvCxnSpPr>
        <p:spPr>
          <a:xfrm>
            <a:off x="113030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45"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Rectangle 1"/>
          <p:cNvSpPr/>
          <p:nvPr/>
        </p:nvSpPr>
        <p:spPr>
          <a:xfrm>
            <a:off x="0" y="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981700"/>
            <a:ext cx="12192000" cy="8763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motif-line-edge-top"/>
          <p:cNvCxnSpPr/>
          <p:nvPr/>
        </p:nvCxnSpPr>
        <p:spPr>
          <a:xfrm>
            <a:off x="0" y="8763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5" name="motif-line-edge-bottom"/>
          <p:cNvCxnSpPr/>
          <p:nvPr/>
        </p:nvCxnSpPr>
        <p:spPr>
          <a:xfrm>
            <a:off x="0" y="5981700"/>
            <a:ext cx="12192000" cy="0"/>
          </a:xfrm>
          <a:prstGeom prst="line">
            <a:avLst/>
          </a:prstGeom>
          <a:ln w="9525">
            <a:solidFill>
              <a:srgbClr val="3A3D43"/>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762000" y="1270000"/>
            <a:ext cx="10668000" cy="533400"/>
          </a:xfrm>
          <a:prstGeom prst="rect">
            <a:avLst/>
          </a:prstGeom>
          <a:noFill/>
        </p:spPr>
        <p:txBody>
          <a:bodyPr wrap="square" lIns="0" rIns="0" tIns="0" bIns="0" anchor="t">
            <a:spAutoFit/>
          </a:bodyPr>
          <a:lstStyle/>
          <a:p>
            <a:pPr algn="l">
              <a:lnSpc>
                <a:spcPct val="115000"/>
              </a:lnSpc>
            </a:pPr>
            <a:r>
              <a:rPr sz="3000" b="0">
                <a:solidFill>
                  <a:srgbClr val="ECE7DD"/>
                </a:solidFill>
                <a:latin typeface="Work Sans"/>
              </a:rPr>
              <a:t>Next steps</a:t>
            </a:r>
          </a:p>
        </p:txBody>
      </p:sp>
      <p:sp>
        <p:nvSpPr>
          <p:cNvPr id="7" name="TextBox 6"/>
          <p:cNvSpPr txBox="1"/>
          <p:nvPr/>
        </p:nvSpPr>
        <p:spPr>
          <a:xfrm>
            <a:off x="762000" y="20447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01</a:t>
            </a:r>
          </a:p>
        </p:txBody>
      </p:sp>
      <p:sp>
        <p:nvSpPr>
          <p:cNvPr id="8" name="TextBox 7"/>
          <p:cNvSpPr txBox="1"/>
          <p:nvPr/>
        </p:nvSpPr>
        <p:spPr>
          <a:xfrm>
            <a:off x="1524000" y="2019300"/>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Run the same 20 prompts at least four more times, so every number has a range.</a:t>
            </a:r>
          </a:p>
        </p:txBody>
      </p:sp>
      <p:sp>
        <p:nvSpPr>
          <p:cNvPr id="9" name="TextBox 8"/>
          <p:cNvSpPr txBox="1"/>
          <p:nvPr/>
        </p:nvSpPr>
        <p:spPr>
          <a:xfrm>
            <a:off x="762000" y="278892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02</a:t>
            </a:r>
          </a:p>
        </p:txBody>
      </p:sp>
      <p:sp>
        <p:nvSpPr>
          <p:cNvPr id="10" name="TextBox 9"/>
          <p:cNvSpPr txBox="1"/>
          <p:nvPr/>
        </p:nvSpPr>
        <p:spPr>
          <a:xfrm>
            <a:off x="1524000" y="276352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Add Perplexity, Microsoft Copilot and Google AI Mode.</a:t>
            </a:r>
          </a:p>
        </p:txBody>
      </p:sp>
      <p:sp>
        <p:nvSpPr>
          <p:cNvPr id="11" name="TextBox 10"/>
          <p:cNvSpPr txBox="1"/>
          <p:nvPr/>
        </p:nvSpPr>
        <p:spPr>
          <a:xfrm>
            <a:off x="762000" y="3230879"/>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03</a:t>
            </a:r>
          </a:p>
        </p:txBody>
      </p:sp>
      <p:sp>
        <p:nvSpPr>
          <p:cNvPr id="12" name="TextBox 11"/>
          <p:cNvSpPr txBox="1"/>
          <p:nvPr/>
        </p:nvSpPr>
        <p:spPr>
          <a:xfrm>
            <a:off x="1524000" y="3205479"/>
            <a:ext cx="8636000" cy="60451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Read the top Gemini comparison articles and record how each one describes each bank.</a:t>
            </a:r>
          </a:p>
        </p:txBody>
      </p:sp>
      <p:sp>
        <p:nvSpPr>
          <p:cNvPr id="13" name="TextBox 12"/>
          <p:cNvSpPr txBox="1"/>
          <p:nvPr/>
        </p:nvSpPr>
        <p:spPr>
          <a:xfrm>
            <a:off x="762000" y="3975100"/>
            <a:ext cx="3175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IBM Plex Mono"/>
              </a:rPr>
              <a:t>04</a:t>
            </a:r>
          </a:p>
        </p:txBody>
      </p:sp>
      <p:sp>
        <p:nvSpPr>
          <p:cNvPr id="14" name="TextBox 13"/>
          <p:cNvSpPr txBox="1"/>
          <p:nvPr/>
        </p:nvSpPr>
        <p:spPr>
          <a:xfrm>
            <a:off x="1524000" y="3949700"/>
            <a:ext cx="8636000" cy="302259"/>
          </a:xfrm>
          <a:prstGeom prst="rect">
            <a:avLst/>
          </a:prstGeom>
          <a:noFill/>
        </p:spPr>
        <p:txBody>
          <a:bodyPr wrap="square" lIns="0" rIns="0" tIns="0" bIns="0" anchor="t">
            <a:spAutoFit/>
          </a:bodyPr>
          <a:lstStyle/>
          <a:p>
            <a:pPr algn="l">
              <a:lnSpc>
                <a:spcPct val="115000"/>
              </a:lnSpc>
            </a:pPr>
            <a:r>
              <a:rPr sz="1700" b="0">
                <a:solidFill>
                  <a:srgbClr val="ECE7DD"/>
                </a:solidFill>
                <a:latin typeface="Work Sans"/>
              </a:rPr>
              <a:t>Put the tables in a public dashboard that refreshes after each run.</a:t>
            </a:r>
          </a:p>
        </p:txBody>
      </p:sp>
      <p:cxnSp>
        <p:nvCxnSpPr>
          <p:cNvPr id="15" name="motif-line-rail"/>
          <p:cNvCxnSpPr/>
          <p:nvPr/>
        </p:nvCxnSpPr>
        <p:spPr>
          <a:xfrm>
            <a:off x="1282700" y="2056130"/>
            <a:ext cx="0" cy="21590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cxnSp>
        <p:nvCxnSpPr>
          <p:cNvPr id="16" name="motif-line-stop-1"/>
          <p:cNvCxnSpPr/>
          <p:nvPr/>
        </p:nvCxnSpPr>
        <p:spPr>
          <a:xfrm>
            <a:off x="1238250" y="217043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7" name="motif-line-stop-2"/>
          <p:cNvCxnSpPr/>
          <p:nvPr/>
        </p:nvCxnSpPr>
        <p:spPr>
          <a:xfrm>
            <a:off x="1238250" y="2914650"/>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8" name="motif-line-stop-3"/>
          <p:cNvCxnSpPr/>
          <p:nvPr/>
        </p:nvCxnSpPr>
        <p:spPr>
          <a:xfrm>
            <a:off x="1238250" y="335660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19" name="motif-line-stop-4"/>
          <p:cNvCxnSpPr/>
          <p:nvPr/>
        </p:nvCxnSpPr>
        <p:spPr>
          <a:xfrm>
            <a:off x="1238250" y="4100829"/>
            <a:ext cx="88900" cy="0"/>
          </a:xfrm>
          <a:prstGeom prst="line">
            <a:avLst/>
          </a:prstGeom>
          <a:ln w="15875">
            <a:solidFill>
              <a:srgbClr val="9A9EA6"/>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62000" y="355600"/>
            <a:ext cx="571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Work Sans"/>
              </a:rPr>
              <a:t>Part IV: What it means</a:t>
            </a:r>
          </a:p>
        </p:txBody>
      </p:sp>
      <p:sp>
        <p:nvSpPr>
          <p:cNvPr id="21" name="TextBox 20"/>
          <p:cNvSpPr txBox="1"/>
          <p:nvPr/>
        </p:nvSpPr>
        <p:spPr>
          <a:xfrm>
            <a:off x="6731000" y="6324600"/>
            <a:ext cx="889000" cy="177800"/>
          </a:xfrm>
          <a:prstGeom prst="rect">
            <a:avLst/>
          </a:prstGeom>
          <a:noFill/>
        </p:spPr>
        <p:txBody>
          <a:bodyPr wrap="square" lIns="0" rIns="0" tIns="0" bIns="0" anchor="t">
            <a:spAutoFit/>
          </a:bodyPr>
          <a:lstStyle/>
          <a:p>
            <a:pPr algn="r">
              <a:lnSpc>
                <a:spcPct val="115000"/>
              </a:lnSpc>
            </a:pPr>
            <a:r>
              <a:rPr sz="1000" b="0">
                <a:solidFill>
                  <a:srgbClr val="9A9EA6"/>
                </a:solidFill>
                <a:latin typeface="IBM Plex Mono"/>
              </a:rPr>
              <a:t>31 / 32</a:t>
            </a:r>
          </a:p>
        </p:txBody>
      </p:sp>
      <p:cxnSp>
        <p:nvCxnSpPr>
          <p:cNvPr id="22" name="motif-line-tick-01"/>
          <p:cNvCxnSpPr/>
          <p:nvPr/>
        </p:nvCxnSpPr>
        <p:spPr>
          <a:xfrm>
            <a:off x="7874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3" name="motif-line-tick-02"/>
          <p:cNvCxnSpPr/>
          <p:nvPr/>
        </p:nvCxnSpPr>
        <p:spPr>
          <a:xfrm>
            <a:off x="7988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4" name="motif-line-tick-03"/>
          <p:cNvCxnSpPr/>
          <p:nvPr/>
        </p:nvCxnSpPr>
        <p:spPr>
          <a:xfrm>
            <a:off x="8102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5" name="motif-line-tick-04"/>
          <p:cNvCxnSpPr/>
          <p:nvPr/>
        </p:nvCxnSpPr>
        <p:spPr>
          <a:xfrm>
            <a:off x="8216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6" name="motif-line-tick-05"/>
          <p:cNvCxnSpPr/>
          <p:nvPr/>
        </p:nvCxnSpPr>
        <p:spPr>
          <a:xfrm>
            <a:off x="8331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7" name="motif-line-tick-06"/>
          <p:cNvCxnSpPr/>
          <p:nvPr/>
        </p:nvCxnSpPr>
        <p:spPr>
          <a:xfrm>
            <a:off x="8445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8" name="motif-line-tick-07"/>
          <p:cNvCxnSpPr/>
          <p:nvPr/>
        </p:nvCxnSpPr>
        <p:spPr>
          <a:xfrm>
            <a:off x="8559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29" name="motif-line-tick-08"/>
          <p:cNvCxnSpPr/>
          <p:nvPr/>
        </p:nvCxnSpPr>
        <p:spPr>
          <a:xfrm>
            <a:off x="8674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0" name="motif-line-tick-09"/>
          <p:cNvCxnSpPr/>
          <p:nvPr/>
        </p:nvCxnSpPr>
        <p:spPr>
          <a:xfrm>
            <a:off x="8788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1" name="motif-line-tick-10"/>
          <p:cNvCxnSpPr/>
          <p:nvPr/>
        </p:nvCxnSpPr>
        <p:spPr>
          <a:xfrm>
            <a:off x="8902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2" name="motif-line-tick-11"/>
          <p:cNvCxnSpPr/>
          <p:nvPr/>
        </p:nvCxnSpPr>
        <p:spPr>
          <a:xfrm>
            <a:off x="9017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3" name="motif-line-tick-12"/>
          <p:cNvCxnSpPr/>
          <p:nvPr/>
        </p:nvCxnSpPr>
        <p:spPr>
          <a:xfrm>
            <a:off x="9131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4" name="motif-line-tick-13"/>
          <p:cNvCxnSpPr/>
          <p:nvPr/>
        </p:nvCxnSpPr>
        <p:spPr>
          <a:xfrm>
            <a:off x="9245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5" name="motif-line-tick-14"/>
          <p:cNvCxnSpPr/>
          <p:nvPr/>
        </p:nvCxnSpPr>
        <p:spPr>
          <a:xfrm>
            <a:off x="9359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6" name="motif-line-tick-15"/>
          <p:cNvCxnSpPr/>
          <p:nvPr/>
        </p:nvCxnSpPr>
        <p:spPr>
          <a:xfrm>
            <a:off x="9474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7" name="motif-line-tick-16"/>
          <p:cNvCxnSpPr/>
          <p:nvPr/>
        </p:nvCxnSpPr>
        <p:spPr>
          <a:xfrm>
            <a:off x="9588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8" name="motif-line-tick-17"/>
          <p:cNvCxnSpPr/>
          <p:nvPr/>
        </p:nvCxnSpPr>
        <p:spPr>
          <a:xfrm>
            <a:off x="9702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39" name="motif-line-tick-18"/>
          <p:cNvCxnSpPr/>
          <p:nvPr/>
        </p:nvCxnSpPr>
        <p:spPr>
          <a:xfrm>
            <a:off x="9817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0" name="motif-line-tick-19"/>
          <p:cNvCxnSpPr/>
          <p:nvPr/>
        </p:nvCxnSpPr>
        <p:spPr>
          <a:xfrm>
            <a:off x="9931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1" name="motif-line-tick-20"/>
          <p:cNvCxnSpPr/>
          <p:nvPr/>
        </p:nvCxnSpPr>
        <p:spPr>
          <a:xfrm>
            <a:off x="10045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2" name="motif-line-tick-21"/>
          <p:cNvCxnSpPr/>
          <p:nvPr/>
        </p:nvCxnSpPr>
        <p:spPr>
          <a:xfrm>
            <a:off x="101600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3" name="motif-line-tick-22"/>
          <p:cNvCxnSpPr/>
          <p:nvPr/>
        </p:nvCxnSpPr>
        <p:spPr>
          <a:xfrm>
            <a:off x="102743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4" name="motif-line-tick-23"/>
          <p:cNvCxnSpPr/>
          <p:nvPr/>
        </p:nvCxnSpPr>
        <p:spPr>
          <a:xfrm>
            <a:off x="103886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5" name="motif-line-tick-24"/>
          <p:cNvCxnSpPr/>
          <p:nvPr/>
        </p:nvCxnSpPr>
        <p:spPr>
          <a:xfrm>
            <a:off x="105029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6" name="motif-line-tick-25"/>
          <p:cNvCxnSpPr/>
          <p:nvPr/>
        </p:nvCxnSpPr>
        <p:spPr>
          <a:xfrm>
            <a:off x="106172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7" name="motif-line-tick-26"/>
          <p:cNvCxnSpPr/>
          <p:nvPr/>
        </p:nvCxnSpPr>
        <p:spPr>
          <a:xfrm>
            <a:off x="107315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8" name="motif-line-tick-27"/>
          <p:cNvCxnSpPr/>
          <p:nvPr/>
        </p:nvCxnSpPr>
        <p:spPr>
          <a:xfrm>
            <a:off x="108458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49" name="motif-line-tick-28"/>
          <p:cNvCxnSpPr/>
          <p:nvPr/>
        </p:nvCxnSpPr>
        <p:spPr>
          <a:xfrm>
            <a:off x="109601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0" name="motif-line-tick-29"/>
          <p:cNvCxnSpPr/>
          <p:nvPr/>
        </p:nvCxnSpPr>
        <p:spPr>
          <a:xfrm>
            <a:off x="110744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1" name="motif-line-tick-30"/>
          <p:cNvCxnSpPr/>
          <p:nvPr/>
        </p:nvCxnSpPr>
        <p:spPr>
          <a:xfrm>
            <a:off x="11188700" y="6350000"/>
            <a:ext cx="0" cy="76200"/>
          </a:xfrm>
          <a:prstGeom prst="line">
            <a:avLst/>
          </a:prstGeom>
          <a:ln w="12700">
            <a:solidFill>
              <a:srgbClr val="9A9EA6"/>
            </a:solidFill>
          </a:ln>
        </p:spPr>
        <p:style>
          <a:lnRef idx="2">
            <a:schemeClr val="accent1"/>
          </a:lnRef>
          <a:fillRef idx="0">
            <a:schemeClr val="accent1"/>
          </a:fillRef>
          <a:effectRef idx="1">
            <a:schemeClr val="accent1"/>
          </a:effectRef>
          <a:fontRef idx="minor">
            <a:schemeClr val="tx1"/>
          </a:fontRef>
        </p:style>
      </p:cxnSp>
      <p:cxnSp>
        <p:nvCxnSpPr>
          <p:cNvPr id="52" name="motif-line-tick-31"/>
          <p:cNvCxnSpPr/>
          <p:nvPr/>
        </p:nvCxnSpPr>
        <p:spPr>
          <a:xfrm>
            <a:off x="11303000" y="6286500"/>
            <a:ext cx="0" cy="203200"/>
          </a:xfrm>
          <a:prstGeom prst="line">
            <a:avLst/>
          </a:prstGeom>
          <a:ln w="25400">
            <a:solidFill>
              <a:srgbClr val="ECE7DD"/>
            </a:solidFill>
          </a:ln>
        </p:spPr>
        <p:style>
          <a:lnRef idx="2">
            <a:schemeClr val="accent1"/>
          </a:lnRef>
          <a:fillRef idx="0">
            <a:schemeClr val="accent1"/>
          </a:fillRef>
          <a:effectRef idx="1">
            <a:schemeClr val="accent1"/>
          </a:effectRef>
          <a:fontRef idx="minor">
            <a:schemeClr val="tx1"/>
          </a:fontRef>
        </p:style>
      </p:cxnSp>
      <p:cxnSp>
        <p:nvCxnSpPr>
          <p:cNvPr id="53" name="motif-line-tick-32"/>
          <p:cNvCxnSpPr/>
          <p:nvPr/>
        </p:nvCxnSpPr>
        <p:spPr>
          <a:xfrm>
            <a:off x="11417300" y="6350000"/>
            <a:ext cx="0" cy="76200"/>
          </a:xfrm>
          <a:prstGeom prst="line">
            <a:avLst/>
          </a:prstGeom>
          <a:ln w="12700">
            <a:solidFill>
              <a:srgbClr val="3A3D43"/>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C0E"/>
        </a:solidFill>
        <a:effectLst/>
      </p:bgPr>
    </p:bg>
    <p:spTree>
      <p:nvGrpSpPr>
        <p:cNvPr id="1" name=""/>
        <p:cNvGrpSpPr/>
        <p:nvPr/>
      </p:nvGrpSpPr>
      <p:grpSpPr/>
      <p:sp>
        <p:nvSpPr>
          <p:cNvPr id="2" name="TextBox 1"/>
          <p:cNvSpPr txBox="1"/>
          <p:nvPr/>
        </p:nvSpPr>
        <p:spPr>
          <a:xfrm>
            <a:off x="762000" y="1079500"/>
            <a:ext cx="10668000" cy="711200"/>
          </a:xfrm>
          <a:prstGeom prst="rect">
            <a:avLst/>
          </a:prstGeom>
          <a:noFill/>
        </p:spPr>
        <p:txBody>
          <a:bodyPr wrap="square" lIns="0" rIns="0" tIns="0" bIns="0" anchor="t">
            <a:spAutoFit/>
          </a:bodyPr>
          <a:lstStyle/>
          <a:p>
            <a:pPr algn="l">
              <a:lnSpc>
                <a:spcPct val="115000"/>
              </a:lnSpc>
            </a:pPr>
            <a:r>
              <a:rPr sz="4000" b="0">
                <a:solidFill>
                  <a:srgbClr val="ECE7DD"/>
                </a:solidFill>
                <a:latin typeface="Work Sans"/>
              </a:rPr>
              <a:t>Favoured Banks in ChatGPT and Gemini</a:t>
            </a:r>
          </a:p>
        </p:txBody>
      </p:sp>
      <p:sp>
        <p:nvSpPr>
          <p:cNvPr id="3" name="TextBox 2"/>
          <p:cNvSpPr txBox="1"/>
          <p:nvPr/>
        </p:nvSpPr>
        <p:spPr>
          <a:xfrm>
            <a:off x="762000" y="1854200"/>
            <a:ext cx="10160000" cy="284480"/>
          </a:xfrm>
          <a:prstGeom prst="rect">
            <a:avLst/>
          </a:prstGeom>
          <a:noFill/>
        </p:spPr>
        <p:txBody>
          <a:bodyPr wrap="square" lIns="0" rIns="0" tIns="0" bIns="0" anchor="t">
            <a:spAutoFit/>
          </a:bodyPr>
          <a:lstStyle/>
          <a:p>
            <a:pPr algn="l">
              <a:lnSpc>
                <a:spcPct val="115000"/>
              </a:lnSpc>
            </a:pPr>
            <a:r>
              <a:rPr sz="1600" b="0">
                <a:solidFill>
                  <a:srgbClr val="ECE7DD"/>
                </a:solidFill>
                <a:latin typeface="IBM Plex Mono"/>
              </a:rPr>
              <a:t>Data, code and method: github.com/rgmwnn/geo-bank-visibility</a:t>
            </a:r>
          </a:p>
        </p:txBody>
      </p:sp>
      <p:sp>
        <p:nvSpPr>
          <p:cNvPr id="4" name="TextBox 3"/>
          <p:cNvSpPr txBox="1"/>
          <p:nvPr/>
        </p:nvSpPr>
        <p:spPr>
          <a:xfrm>
            <a:off x="762000" y="2540000"/>
            <a:ext cx="2540000" cy="231140"/>
          </a:xfrm>
          <a:prstGeom prst="rect">
            <a:avLst/>
          </a:prstGeom>
          <a:noFill/>
        </p:spPr>
        <p:txBody>
          <a:bodyPr wrap="square" lIns="0" rIns="0" tIns="0" bIns="0" anchor="t">
            <a:spAutoFit/>
          </a:bodyPr>
          <a:lstStyle/>
          <a:p>
            <a:pPr algn="l">
              <a:lnSpc>
                <a:spcPct val="115000"/>
              </a:lnSpc>
            </a:pPr>
            <a:r>
              <a:rPr sz="1300" b="0">
                <a:solidFill>
                  <a:srgbClr val="9A9EA6"/>
                </a:solidFill>
                <a:latin typeface="Work Sans"/>
              </a:rPr>
              <a:t>Sources</a:t>
            </a:r>
          </a:p>
        </p:txBody>
      </p:sp>
      <p:sp>
        <p:nvSpPr>
          <p:cNvPr id="5" name="TextBox 4"/>
          <p:cNvSpPr txBox="1"/>
          <p:nvPr/>
        </p:nvSpPr>
        <p:spPr>
          <a:xfrm>
            <a:off x="762000" y="28194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Aggarwal et al. (2024). GEO: Generative Engine Optimization. KDD 2024. arXiv 2311.09735</a:t>
            </a:r>
          </a:p>
        </p:txBody>
      </p:sp>
      <p:sp>
        <p:nvSpPr>
          <p:cNvPr id="6" name="TextBox 5"/>
          <p:cNvSpPr txBox="1"/>
          <p:nvPr/>
        </p:nvSpPr>
        <p:spPr>
          <a:xfrm>
            <a:off x="762000" y="30480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Writesonic. AI citation source overlap study</a:t>
            </a:r>
          </a:p>
        </p:txBody>
      </p:sp>
      <p:sp>
        <p:nvSpPr>
          <p:cNvPr id="7" name="TextBox 6"/>
          <p:cNvSpPr txBox="1"/>
          <p:nvPr/>
        </p:nvSpPr>
        <p:spPr>
          <a:xfrm>
            <a:off x="762000" y="32766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Ahrefs. AI search overlap with Google results</a:t>
            </a:r>
          </a:p>
        </p:txBody>
      </p:sp>
      <p:sp>
        <p:nvSpPr>
          <p:cNvPr id="8" name="TextBox 7"/>
          <p:cNvSpPr txBox="1"/>
          <p:nvPr/>
        </p:nvSpPr>
        <p:spPr>
          <a:xfrm>
            <a:off x="762000" y="35052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Land. AI recommendation lists rarely repeat (SparkToro and Gumshoe)</a:t>
            </a:r>
          </a:p>
        </p:txBody>
      </p:sp>
      <p:sp>
        <p:nvSpPr>
          <p:cNvPr id="9" name="TextBox 8"/>
          <p:cNvSpPr txBox="1"/>
          <p:nvPr/>
        </p:nvSpPr>
        <p:spPr>
          <a:xfrm>
            <a:off x="762000" y="37338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Nieman Lab (2025). Tow Center study of AI search citations</a:t>
            </a:r>
          </a:p>
        </p:txBody>
      </p:sp>
      <p:sp>
        <p:nvSpPr>
          <p:cNvPr id="10" name="TextBox 9"/>
          <p:cNvSpPr txBox="1"/>
          <p:nvPr/>
        </p:nvSpPr>
        <p:spPr>
          <a:xfrm>
            <a:off x="762000" y="39624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Google Search Central. AI features and your website</a:t>
            </a:r>
          </a:p>
        </p:txBody>
      </p:sp>
      <p:sp>
        <p:nvSpPr>
          <p:cNvPr id="11" name="TextBox 10"/>
          <p:cNvSpPr txBox="1"/>
          <p:nvPr/>
        </p:nvSpPr>
        <p:spPr>
          <a:xfrm>
            <a:off x="762000" y="41910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Search Engine Journal. OpenAI usage study</a:t>
            </a:r>
          </a:p>
        </p:txBody>
      </p:sp>
      <p:sp>
        <p:nvSpPr>
          <p:cNvPr id="12" name="TextBox 11"/>
          <p:cNvSpPr txBox="1"/>
          <p:nvPr/>
        </p:nvSpPr>
        <p:spPr>
          <a:xfrm>
            <a:off x="762000" y="4419600"/>
            <a:ext cx="9525000" cy="195579"/>
          </a:xfrm>
          <a:prstGeom prst="rect">
            <a:avLst/>
          </a:prstGeom>
          <a:noFill/>
        </p:spPr>
        <p:txBody>
          <a:bodyPr wrap="square" lIns="0" rIns="0" tIns="0" bIns="0" anchor="t">
            <a:spAutoFit/>
          </a:bodyPr>
          <a:lstStyle/>
          <a:p>
            <a:pPr algn="l">
              <a:lnSpc>
                <a:spcPct val="115000"/>
              </a:lnSpc>
            </a:pPr>
            <a:r>
              <a:rPr sz="1100" b="0">
                <a:solidFill>
                  <a:srgbClr val="9A9EA6"/>
                </a:solidFill>
                <a:latin typeface="IBM Plex Mono"/>
              </a:rPr>
              <a:t>Bisnis (2023). Akulaku stake in Bank Neo Commerce</a:t>
            </a:r>
          </a:p>
        </p:txBody>
      </p:sp>
      <p:sp>
        <p:nvSpPr>
          <p:cNvPr id="13" name="TextBox 12"/>
          <p:cNvSpPr txBox="1"/>
          <p:nvPr/>
        </p:nvSpPr>
        <p:spPr>
          <a:xfrm>
            <a:off x="762000" y="4953000"/>
            <a:ext cx="8255000" cy="215900"/>
          </a:xfrm>
          <a:prstGeom prst="rect">
            <a:avLst/>
          </a:prstGeom>
          <a:noFill/>
        </p:spPr>
        <p:txBody>
          <a:bodyPr wrap="square" lIns="0" rIns="0" tIns="0" bIns="0" anchor="t">
            <a:spAutoFit/>
          </a:bodyPr>
          <a:lstStyle/>
          <a:p>
            <a:pPr algn="l">
              <a:lnSpc>
                <a:spcPct val="115000"/>
              </a:lnSpc>
            </a:pPr>
            <a:r>
              <a:rPr sz="1200" b="0">
                <a:solidFill>
                  <a:srgbClr val="ECE7DD"/>
                </a:solidFill>
                <a:latin typeface="IBM Plex Mono"/>
              </a:rPr>
              <a:t>Rahmananda Ridho Gamawan, data analyst, Indonesia</a:t>
            </a:r>
          </a:p>
        </p:txBody>
      </p:sp>
      <p:pic>
        <p:nvPicPr>
          <p:cNvPr id="14" name="motif-horizon" descr="motif-horizon.png"/>
          <p:cNvPicPr>
            <a:picLocks noChangeAspect="1"/>
          </p:cNvPicPr>
          <p:nvPr/>
        </p:nvPicPr>
        <p:blipFill>
          <a:blip r:embed="rId2"/>
          <a:stretch>
            <a:fillRect/>
          </a:stretch>
        </p:blipFill>
        <p:spPr>
          <a:xfrm>
            <a:off x="0" y="5511800"/>
            <a:ext cx="12192000" cy="1346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