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three banks, and two of the three are the same.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Information-seeking grew from 14% to 24% of ChatGPT conversations in a year. Ahrefs found that 12% of the URLs AI assistants cite rank in Google's top 10 for the same query.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many of the cited pages the crawler could read and that name a bank.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comparison prompts name banks, which puts those banks in the answer, so they are left out here. Outlined cells lead their row, ties together. Every lead is a tie or one answer, so read the rows as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ChatGPT's citations are on the left, Gemini's on the right, for the same twelve sites.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One run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run, ChatGPT's answers drew mostly on bank websites, so the bank's own pages are where its citations came from. robots.txt also blocked our crawler from 2 BNI annual reports. Our crawler is not an AI crawler: the blocked and script-only pages are signs to check, not proof that an engine was blocked.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drew most of its citations from other sites in this run, so how those sites describe the bank is likely to matter more for Gemini's answers than for ChatGPT's. AirOps found the same pattern across 21,311 brand mentions in ChatGPT, Claude and Perplexity: 85% came from sites other than the brand's own. PAWC is the measure defined on slide 8 (Aggarwal et al., 2024).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photo-slot"/>
          <p:cNvSpPr/>
          <p:nvPr/>
        </p:nvSpPr>
        <p:spPr>
          <a:xfrm>
            <a:off x="0" y="0"/>
            <a:ext cx="12192000" cy="6858000"/>
          </a:xfrm>
          <a:prstGeom prst="rect">
            <a:avLst/>
          </a:prstGeom>
          <a:solidFill>
            <a:srgbClr val="1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ground-fade" descr="ground-fade-1400-360.png"/>
          <p:cNvPicPr>
            <a:picLocks noChangeAspect="1"/>
          </p:cNvPicPr>
          <p:nvPr/>
        </p:nvPicPr>
        <p:blipFill>
          <a:blip r:embed="rId2"/>
          <a:stretch>
            <a:fillRect/>
          </a:stretch>
        </p:blipFill>
        <p:spPr>
          <a:xfrm>
            <a:off x="0" y="0"/>
            <a:ext cx="8890000" cy="6858000"/>
          </a:xfrm>
          <a:prstGeom prst="rect">
            <a:avLst/>
          </a:prstGeom>
        </p:spPr>
      </p:pic>
      <p:sp>
        <p:nvSpPr>
          <p:cNvPr id="4" name="TextBox 3"/>
          <p:cNvSpPr txBox="1"/>
          <p:nvPr/>
        </p:nvSpPr>
        <p:spPr>
          <a:xfrm>
            <a:off x="762000" y="952500"/>
            <a:ext cx="5588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IBM Plex Mono"/>
              </a:rPr>
              <a:t>40 answers, collected on 9 October 2026</a:t>
            </a:r>
          </a:p>
        </p:txBody>
      </p:sp>
      <p:sp>
        <p:nvSpPr>
          <p:cNvPr id="5" name="TextBox 4"/>
          <p:cNvSpPr txBox="1"/>
          <p:nvPr/>
        </p:nvSpPr>
        <p:spPr>
          <a:xfrm>
            <a:off x="762000" y="1244600"/>
            <a:ext cx="5588000" cy="2844800"/>
          </a:xfrm>
          <a:prstGeom prst="rect">
            <a:avLst/>
          </a:prstGeom>
          <a:noFill/>
        </p:spPr>
        <p:txBody>
          <a:bodyPr wrap="square" lIns="0" rIns="0" tIns="0" bIns="0" anchor="t">
            <a:spAutoFit/>
          </a:bodyPr>
          <a:lstStyle/>
          <a:p>
            <a:pPr algn="l">
              <a:lnSpc>
                <a:spcPct val="115000"/>
              </a:lnSpc>
            </a:pPr>
            <a:r>
              <a:rPr sz="8000" b="1">
                <a:solidFill>
                  <a:srgbClr val="F4F6FA"/>
                </a:solidFill>
                <a:latin typeface="Plus Jakarta Sans"/>
              </a:rPr>
              <a:t>Favoured Banks</a:t>
            </a:r>
          </a:p>
        </p:txBody>
      </p:sp>
      <p:sp>
        <p:nvSpPr>
          <p:cNvPr id="6" name="motif-rule-cover"/>
          <p:cNvSpPr/>
          <p:nvPr/>
        </p:nvSpPr>
        <p:spPr>
          <a:xfrm>
            <a:off x="787400" y="4241800"/>
            <a:ext cx="762000" cy="38100"/>
          </a:xfrm>
          <a:prstGeom prst="rect">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508500"/>
            <a:ext cx="5588000" cy="1280160"/>
          </a:xfrm>
          <a:prstGeom prst="rect">
            <a:avLst/>
          </a:prstGeom>
          <a:noFill/>
        </p:spPr>
        <p:txBody>
          <a:bodyPr wrap="square" lIns="0" rIns="0" tIns="0" bIns="0" anchor="t">
            <a:spAutoFit/>
          </a:bodyPr>
          <a:lstStyle/>
          <a:p>
            <a:pPr algn="l">
              <a:lnSpc>
                <a:spcPct val="115000"/>
              </a:lnSpc>
            </a:pPr>
            <a:r>
              <a:rPr sz="2400" b="0">
                <a:solidFill>
                  <a:srgbClr val="AFC0D8"/>
                </a:solidFill>
                <a:latin typeface="Plus Jakarta Sans"/>
              </a:rPr>
              <a:t>Which Indonesian banks ChatGPT and Gemini recommend, and which web pages they cite</a:t>
            </a:r>
          </a:p>
        </p:txBody>
      </p:sp>
      <p:sp>
        <p:nvSpPr>
          <p:cNvPr id="8" name="TextBox 7"/>
          <p:cNvSpPr txBox="1"/>
          <p:nvPr/>
        </p:nvSpPr>
        <p:spPr>
          <a:xfrm>
            <a:off x="762000" y="6042660"/>
            <a:ext cx="5588000" cy="266700"/>
          </a:xfrm>
          <a:prstGeom prst="rect">
            <a:avLst/>
          </a:prstGeom>
          <a:noFill/>
        </p:spPr>
        <p:txBody>
          <a:bodyPr wrap="square" lIns="0" rIns="0" tIns="0" bIns="0" anchor="t">
            <a:spAutoFit/>
          </a:bodyPr>
          <a:lstStyle/>
          <a:p>
            <a:pPr algn="l">
              <a:lnSpc>
                <a:spcPct val="115000"/>
              </a:lnSpc>
            </a:pPr>
            <a:r>
              <a:rPr sz="1500" b="0">
                <a:solidFill>
                  <a:srgbClr val="F4F6FA"/>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60451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Same question, different banks</a:t>
            </a:r>
          </a:p>
        </p:txBody>
      </p:sp>
      <p:sp>
        <p:nvSpPr>
          <p:cNvPr id="3" name="TextBox 2"/>
          <p:cNvSpPr txBox="1"/>
          <p:nvPr/>
        </p:nvSpPr>
        <p:spPr>
          <a:xfrm>
            <a:off x="762000" y="1772920"/>
            <a:ext cx="9525000" cy="1280160"/>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“Saya freelancer dengan penghasilan tidak tetap, butuh rekening tanpa saldo minimum dan bisa pisah kantong. Bank apa yang cocok?”</a:t>
            </a:r>
          </a:p>
        </p:txBody>
      </p:sp>
      <p:sp>
        <p:nvSpPr>
          <p:cNvPr id="4" name="TextBox 3"/>
          <p:cNvSpPr txBox="1"/>
          <p:nvPr/>
        </p:nvSpPr>
        <p:spPr>
          <a:xfrm>
            <a:off x="762000" y="3205479"/>
            <a:ext cx="9525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I'm a freelancer with irregular income. I need an account with no minimum balance that lets me split money into pockets. Which bank fits?</a:t>
            </a:r>
          </a:p>
        </p:txBody>
      </p:sp>
      <p:sp>
        <p:nvSpPr>
          <p:cNvPr id="5" name="Rectangle 4"/>
          <p:cNvSpPr/>
          <p:nvPr/>
        </p:nvSpPr>
        <p:spPr>
          <a:xfrm>
            <a:off x="762000" y="4170679"/>
            <a:ext cx="88900" cy="88900"/>
          </a:xfrm>
          <a:prstGeom prst="rect">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4107179"/>
            <a:ext cx="3810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ChatGPT named</a:t>
            </a:r>
          </a:p>
        </p:txBody>
      </p:sp>
      <p:sp>
        <p:nvSpPr>
          <p:cNvPr id="7" name="TextBox 6"/>
          <p:cNvSpPr txBox="1"/>
          <p:nvPr/>
        </p:nvSpPr>
        <p:spPr>
          <a:xfrm>
            <a:off x="762000" y="4437380"/>
            <a:ext cx="4318000" cy="1386839"/>
          </a:xfrm>
          <a:prstGeom prst="rect">
            <a:avLst/>
          </a:prstGeom>
          <a:noFill/>
        </p:spPr>
        <p:txBody>
          <a:bodyPr wrap="square" lIns="0" rIns="0" tIns="0" bIns="0" anchor="t">
            <a:spAutoFit/>
          </a:bodyPr>
          <a:lstStyle/>
          <a:p>
            <a:pPr algn="l">
              <a:lnSpc>
                <a:spcPct val="115000"/>
              </a:lnSpc>
            </a:pPr>
            <a:r>
              <a:rPr sz="2600" b="0">
                <a:solidFill>
                  <a:srgbClr val="F4F6FA"/>
                </a:solidFill>
                <a:latin typeface="Plus Jakarta Sans"/>
              </a:rPr>
              <a:t>BCA</a:t>
            </a:r>
          </a:p>
          <a:p>
            <a:pPr algn="l">
              <a:lnSpc>
                <a:spcPct val="115000"/>
              </a:lnSpc>
            </a:pPr>
            <a:r>
              <a:rPr sz="2600" b="0">
                <a:solidFill>
                  <a:srgbClr val="F4F6FA"/>
                </a:solidFill>
                <a:latin typeface="Plus Jakarta Sans"/>
              </a:rPr>
              <a:t>Bank Jago</a:t>
            </a:r>
          </a:p>
          <a:p>
            <a:pPr algn="l">
              <a:lnSpc>
                <a:spcPct val="115000"/>
              </a:lnSpc>
            </a:pPr>
            <a:r>
              <a:rPr sz="2600" b="0">
                <a:solidFill>
                  <a:srgbClr val="F4F6FA"/>
                </a:solidFill>
                <a:latin typeface="Plus Jakarta Sans"/>
              </a:rPr>
              <a:t>SeaBank</a:t>
            </a:r>
          </a:p>
        </p:txBody>
      </p:sp>
      <p:sp>
        <p:nvSpPr>
          <p:cNvPr id="8" name="Rectangle 7"/>
          <p:cNvSpPr/>
          <p:nvPr/>
        </p:nvSpPr>
        <p:spPr>
          <a:xfrm>
            <a:off x="5588000" y="4170679"/>
            <a:ext cx="88900" cy="88900"/>
          </a:xfrm>
          <a:prstGeom prst="rect">
            <a:avLst/>
          </a:prstGeom>
          <a:solidFill>
            <a:srgbClr val="7FC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78500" y="4107179"/>
            <a:ext cx="3810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Gemini named</a:t>
            </a:r>
          </a:p>
        </p:txBody>
      </p:sp>
      <p:sp>
        <p:nvSpPr>
          <p:cNvPr id="10" name="TextBox 9"/>
          <p:cNvSpPr txBox="1"/>
          <p:nvPr/>
        </p:nvSpPr>
        <p:spPr>
          <a:xfrm>
            <a:off x="5588000" y="4437380"/>
            <a:ext cx="4318000" cy="1386839"/>
          </a:xfrm>
          <a:prstGeom prst="rect">
            <a:avLst/>
          </a:prstGeom>
          <a:noFill/>
        </p:spPr>
        <p:txBody>
          <a:bodyPr wrap="square" lIns="0" rIns="0" tIns="0" bIns="0" anchor="t">
            <a:spAutoFit/>
          </a:bodyPr>
          <a:lstStyle/>
          <a:p>
            <a:pPr algn="l">
              <a:lnSpc>
                <a:spcPct val="115000"/>
              </a:lnSpc>
            </a:pPr>
            <a:r>
              <a:rPr sz="2600" b="0">
                <a:solidFill>
                  <a:srgbClr val="F4F6FA"/>
                </a:solidFill>
                <a:latin typeface="Plus Jakarta Sans"/>
              </a:rPr>
              <a:t>BCA</a:t>
            </a:r>
          </a:p>
          <a:p>
            <a:pPr algn="l">
              <a:lnSpc>
                <a:spcPct val="115000"/>
              </a:lnSpc>
            </a:pPr>
            <a:r>
              <a:rPr sz="2600" b="0">
                <a:solidFill>
                  <a:srgbClr val="F4F6FA"/>
                </a:solidFill>
                <a:latin typeface="Plus Jakarta Sans"/>
              </a:rPr>
              <a:t>Bank BTPN (Jenius)</a:t>
            </a:r>
          </a:p>
          <a:p>
            <a:pPr algn="l">
              <a:lnSpc>
                <a:spcPct val="115000"/>
              </a:lnSpc>
            </a:pPr>
            <a:r>
              <a:rPr sz="2600" b="0">
                <a:solidFill>
                  <a:srgbClr val="F4F6FA"/>
                </a:solidFill>
                <a:latin typeface="Plus Jakarta Sans"/>
              </a:rPr>
              <a:t>Bank Jago</a:t>
            </a:r>
          </a:p>
        </p:txBody>
      </p:sp>
      <p:cxnSp>
        <p:nvCxnSpPr>
          <p:cNvPr id="11"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2"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Introduction</a:t>
            </a:r>
          </a:p>
        </p:txBody>
      </p:sp>
      <p:cxnSp>
        <p:nvCxnSpPr>
          <p:cNvPr id="13"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4"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 / 32</a:t>
            </a:r>
          </a:p>
        </p:txBody>
      </p:sp>
      <p:sp>
        <p:nvSpPr>
          <p:cNvPr id="15"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Prompt 13 of 20, run on 9 October 2026. Source: data/interim/mentions.csv</a:t>
            </a:r>
          </a:p>
        </p:txBody>
      </p:sp>
      <p:cxnSp>
        <p:nvCxnSpPr>
          <p:cNvPr id="16"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7" name="motif-line-tick-02"/>
          <p:cNvCxnSpPr/>
          <p:nvPr/>
        </p:nvCxnSpPr>
        <p:spPr>
          <a:xfrm>
            <a:off x="77152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18" name="motif-line-tick-03"/>
          <p:cNvCxnSpPr/>
          <p:nvPr/>
        </p:nvCxnSpPr>
        <p:spPr>
          <a:xfrm>
            <a:off x="7810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19" name="motif-line-tick-04"/>
          <p:cNvCxnSpPr/>
          <p:nvPr/>
        </p:nvCxnSpPr>
        <p:spPr>
          <a:xfrm>
            <a:off x="7905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0" name="motif-line-tick-05"/>
          <p:cNvCxnSpPr/>
          <p:nvPr/>
        </p:nvCxnSpPr>
        <p:spPr>
          <a:xfrm>
            <a:off x="8001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1" name="motif-line-tick-06"/>
          <p:cNvCxnSpPr/>
          <p:nvPr/>
        </p:nvCxnSpPr>
        <p:spPr>
          <a:xfrm>
            <a:off x="8096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2" name="motif-line-tick-07"/>
          <p:cNvCxnSpPr/>
          <p:nvPr/>
        </p:nvCxnSpPr>
        <p:spPr>
          <a:xfrm>
            <a:off x="8191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3" name="motif-line-tick-08"/>
          <p:cNvCxnSpPr/>
          <p:nvPr/>
        </p:nvCxnSpPr>
        <p:spPr>
          <a:xfrm>
            <a:off x="8286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4" name="motif-line-tick-09"/>
          <p:cNvCxnSpPr/>
          <p:nvPr/>
        </p:nvCxnSpPr>
        <p:spPr>
          <a:xfrm>
            <a:off x="8382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5" name="motif-line-tick-10"/>
          <p:cNvCxnSpPr/>
          <p:nvPr/>
        </p:nvCxnSpPr>
        <p:spPr>
          <a:xfrm>
            <a:off x="8477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6" name="motif-line-tick-11"/>
          <p:cNvCxnSpPr/>
          <p:nvPr/>
        </p:nvCxnSpPr>
        <p:spPr>
          <a:xfrm>
            <a:off x="8572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7"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8"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9"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0"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1"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2"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181355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A growing share of ChatGPT use is looking things up, and most pages AI assistants cite are not in Google's top 10</a:t>
            </a:r>
          </a:p>
        </p:txBody>
      </p:sp>
      <p:pic>
        <p:nvPicPr>
          <p:cNvPr id="3" name="motif-gauge-1" descr="motif-gauge-1.png"/>
          <p:cNvPicPr>
            <a:picLocks noChangeAspect="1"/>
          </p:cNvPicPr>
          <p:nvPr/>
        </p:nvPicPr>
        <p:blipFill>
          <a:blip r:embed="rId2"/>
          <a:stretch>
            <a:fillRect/>
          </a:stretch>
        </p:blipFill>
        <p:spPr>
          <a:xfrm>
            <a:off x="762000" y="3147060"/>
            <a:ext cx="1905000" cy="1905000"/>
          </a:xfrm>
          <a:prstGeom prst="rect">
            <a:avLst/>
          </a:prstGeom>
        </p:spPr>
      </p:pic>
      <p:sp>
        <p:nvSpPr>
          <p:cNvPr id="4" name="TextBox 3"/>
          <p:cNvSpPr txBox="1"/>
          <p:nvPr/>
        </p:nvSpPr>
        <p:spPr>
          <a:xfrm>
            <a:off x="2946400" y="3210560"/>
            <a:ext cx="3048000" cy="1778000"/>
          </a:xfrm>
          <a:prstGeom prst="rect">
            <a:avLst/>
          </a:prstGeom>
          <a:noFill/>
        </p:spPr>
        <p:txBody>
          <a:bodyPr wrap="square" lIns="0" rIns="0" tIns="0" bIns="0" anchor="t">
            <a:spAutoFit/>
          </a:bodyPr>
          <a:lstStyle/>
          <a:p>
            <a:pPr algn="l">
              <a:lnSpc>
                <a:spcPct val="115000"/>
              </a:lnSpc>
            </a:pPr>
            <a:r>
              <a:rPr sz="10000" b="1">
                <a:solidFill>
                  <a:srgbClr val="F4F6FA"/>
                </a:solidFill>
                <a:latin typeface="Plus Jakarta Sans"/>
              </a:rPr>
              <a:t>24%</a:t>
            </a:r>
          </a:p>
        </p:txBody>
      </p:sp>
      <p:sp>
        <p:nvSpPr>
          <p:cNvPr id="5" name="TextBox 4"/>
          <p:cNvSpPr txBox="1"/>
          <p:nvPr/>
        </p:nvSpPr>
        <p:spPr>
          <a:xfrm>
            <a:off x="762000" y="5280659"/>
            <a:ext cx="4572000" cy="640080"/>
          </a:xfrm>
          <a:prstGeom prst="rect">
            <a:avLst/>
          </a:prstGeom>
          <a:noFill/>
        </p:spPr>
        <p:txBody>
          <a:bodyPr wrap="square" lIns="0" rIns="0" tIns="0" bIns="0" anchor="t">
            <a:spAutoFit/>
          </a:bodyPr>
          <a:lstStyle/>
          <a:p>
            <a:pPr algn="l">
              <a:lnSpc>
                <a:spcPct val="115000"/>
              </a:lnSpc>
            </a:pPr>
            <a:r>
              <a:rPr sz="1800" b="0">
                <a:solidFill>
                  <a:srgbClr val="AFC0D8"/>
                </a:solidFill>
                <a:latin typeface="Plus Jakarta Sans"/>
              </a:rPr>
              <a:t>of ChatGPT conversations seek information, up from 14% a year earlier</a:t>
            </a:r>
          </a:p>
        </p:txBody>
      </p:sp>
      <p:sp>
        <p:nvSpPr>
          <p:cNvPr id="6" name="TextBox 5"/>
          <p:cNvSpPr txBox="1"/>
          <p:nvPr/>
        </p:nvSpPr>
        <p:spPr>
          <a:xfrm>
            <a:off x="762000" y="6009639"/>
            <a:ext cx="4572000" cy="195579"/>
          </a:xfrm>
          <a:prstGeom prst="rect">
            <a:avLst/>
          </a:prstGeom>
          <a:noFill/>
        </p:spPr>
        <p:txBody>
          <a:bodyPr wrap="square" lIns="0" rIns="0" tIns="0" bIns="0" anchor="t">
            <a:spAutoFit/>
          </a:bodyPr>
          <a:lstStyle/>
          <a:p>
            <a:pPr algn="l">
              <a:lnSpc>
                <a:spcPct val="115000"/>
              </a:lnSpc>
            </a:pPr>
            <a:r>
              <a:rPr sz="1100" b="0">
                <a:solidFill>
                  <a:srgbClr val="AFC0D8"/>
                </a:solidFill>
                <a:latin typeface="IBM Plex Mono"/>
              </a:rPr>
              <a:t>OpenAI usage study, via Search Engine Journal</a:t>
            </a:r>
          </a:p>
        </p:txBody>
      </p:sp>
      <p:pic>
        <p:nvPicPr>
          <p:cNvPr id="7" name="motif-gauge-2" descr="motif-gauge-2.png"/>
          <p:cNvPicPr>
            <a:picLocks noChangeAspect="1"/>
          </p:cNvPicPr>
          <p:nvPr/>
        </p:nvPicPr>
        <p:blipFill>
          <a:blip r:embed="rId3"/>
          <a:stretch>
            <a:fillRect/>
          </a:stretch>
        </p:blipFill>
        <p:spPr>
          <a:xfrm>
            <a:off x="6096000" y="3147060"/>
            <a:ext cx="1905000" cy="1905000"/>
          </a:xfrm>
          <a:prstGeom prst="rect">
            <a:avLst/>
          </a:prstGeom>
        </p:spPr>
      </p:pic>
      <p:sp>
        <p:nvSpPr>
          <p:cNvPr id="8" name="TextBox 7"/>
          <p:cNvSpPr txBox="1"/>
          <p:nvPr/>
        </p:nvSpPr>
        <p:spPr>
          <a:xfrm>
            <a:off x="8280400" y="3210560"/>
            <a:ext cx="3048000" cy="1778000"/>
          </a:xfrm>
          <a:prstGeom prst="rect">
            <a:avLst/>
          </a:prstGeom>
          <a:noFill/>
        </p:spPr>
        <p:txBody>
          <a:bodyPr wrap="square" lIns="0" rIns="0" tIns="0" bIns="0" anchor="t">
            <a:spAutoFit/>
          </a:bodyPr>
          <a:lstStyle/>
          <a:p>
            <a:pPr algn="l">
              <a:lnSpc>
                <a:spcPct val="115000"/>
              </a:lnSpc>
            </a:pPr>
            <a:r>
              <a:rPr sz="10000" b="1">
                <a:solidFill>
                  <a:srgbClr val="F4F6FA"/>
                </a:solidFill>
                <a:latin typeface="Plus Jakarta Sans"/>
              </a:rPr>
              <a:t>12%</a:t>
            </a:r>
          </a:p>
        </p:txBody>
      </p:sp>
      <p:sp>
        <p:nvSpPr>
          <p:cNvPr id="9" name="TextBox 8"/>
          <p:cNvSpPr txBox="1"/>
          <p:nvPr/>
        </p:nvSpPr>
        <p:spPr>
          <a:xfrm>
            <a:off x="6096000" y="5280659"/>
            <a:ext cx="4572000" cy="640080"/>
          </a:xfrm>
          <a:prstGeom prst="rect">
            <a:avLst/>
          </a:prstGeom>
          <a:noFill/>
        </p:spPr>
        <p:txBody>
          <a:bodyPr wrap="square" lIns="0" rIns="0" tIns="0" bIns="0" anchor="t">
            <a:spAutoFit/>
          </a:bodyPr>
          <a:lstStyle/>
          <a:p>
            <a:pPr algn="l">
              <a:lnSpc>
                <a:spcPct val="115000"/>
              </a:lnSpc>
            </a:pPr>
            <a:r>
              <a:rPr sz="1800" b="0">
                <a:solidFill>
                  <a:srgbClr val="AFC0D8"/>
                </a:solidFill>
                <a:latin typeface="Plus Jakarta Sans"/>
              </a:rPr>
              <a:t>of URLs cited by AI assistants rank in Google's top 10 for the same query</a:t>
            </a:r>
          </a:p>
        </p:txBody>
      </p:sp>
      <p:sp>
        <p:nvSpPr>
          <p:cNvPr id="10" name="TextBox 9"/>
          <p:cNvSpPr txBox="1"/>
          <p:nvPr/>
        </p:nvSpPr>
        <p:spPr>
          <a:xfrm>
            <a:off x="6096000" y="6009639"/>
            <a:ext cx="4572000" cy="195579"/>
          </a:xfrm>
          <a:prstGeom prst="rect">
            <a:avLst/>
          </a:prstGeom>
          <a:noFill/>
        </p:spPr>
        <p:txBody>
          <a:bodyPr wrap="square" lIns="0" rIns="0" tIns="0" bIns="0" anchor="t">
            <a:spAutoFit/>
          </a:bodyPr>
          <a:lstStyle/>
          <a:p>
            <a:pPr algn="l">
              <a:lnSpc>
                <a:spcPct val="115000"/>
              </a:lnSpc>
            </a:pPr>
            <a:r>
              <a:rPr sz="1100" b="0">
                <a:solidFill>
                  <a:srgbClr val="AFC0D8"/>
                </a:solidFill>
                <a:latin typeface="IBM Plex Mono"/>
              </a:rPr>
              <a:t>Ahrefs, 15,000 prompts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60451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What this study asks</a:t>
            </a:r>
          </a:p>
        </p:txBody>
      </p:sp>
      <p:sp>
        <p:nvSpPr>
          <p:cNvPr id="3" name="TextBox 2"/>
          <p:cNvSpPr txBox="1"/>
          <p:nvPr/>
        </p:nvSpPr>
        <p:spPr>
          <a:xfrm>
            <a:off x="762000" y="181355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01</a:t>
            </a:r>
          </a:p>
        </p:txBody>
      </p:sp>
      <p:sp>
        <p:nvSpPr>
          <p:cNvPr id="4" name="TextBox 3"/>
          <p:cNvSpPr txBox="1"/>
          <p:nvPr/>
        </p:nvSpPr>
        <p:spPr>
          <a:xfrm>
            <a:off x="1524000" y="1760220"/>
            <a:ext cx="9906000" cy="42671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Which banks does each engine name, how early, and in what tone?</a:t>
            </a:r>
          </a:p>
        </p:txBody>
      </p:sp>
      <p:sp>
        <p:nvSpPr>
          <p:cNvPr id="5" name="TextBox 4"/>
          <p:cNvSpPr txBox="1"/>
          <p:nvPr/>
        </p:nvSpPr>
        <p:spPr>
          <a:xfrm>
            <a:off x="762000" y="245617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02</a:t>
            </a:r>
          </a:p>
        </p:txBody>
      </p:sp>
      <p:sp>
        <p:nvSpPr>
          <p:cNvPr id="6" name="TextBox 5"/>
          <p:cNvSpPr txBox="1"/>
          <p:nvPr/>
        </p:nvSpPr>
        <p:spPr>
          <a:xfrm>
            <a:off x="1524000" y="2402840"/>
            <a:ext cx="9906000" cy="85343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Which sources does each engine cite, and do the two engines agree?</a:t>
            </a:r>
          </a:p>
        </p:txBody>
      </p:sp>
      <p:sp>
        <p:nvSpPr>
          <p:cNvPr id="7" name="TextBox 6"/>
          <p:cNvSpPr txBox="1"/>
          <p:nvPr/>
        </p:nvSpPr>
        <p:spPr>
          <a:xfrm>
            <a:off x="762000" y="352551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03</a:t>
            </a:r>
          </a:p>
        </p:txBody>
      </p:sp>
      <p:sp>
        <p:nvSpPr>
          <p:cNvPr id="8" name="TextBox 7"/>
          <p:cNvSpPr txBox="1"/>
          <p:nvPr/>
        </p:nvSpPr>
        <p:spPr>
          <a:xfrm>
            <a:off x="1524000" y="3472179"/>
            <a:ext cx="9906000" cy="85343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Where does a bank's share of the answers differ from its share of the cited pages?</a:t>
            </a:r>
          </a:p>
        </p:txBody>
      </p:sp>
      <p:cxnSp>
        <p:nvCxnSpPr>
          <p:cNvPr id="9" name="motif-line-rail"/>
          <p:cNvCxnSpPr/>
          <p:nvPr/>
        </p:nvCxnSpPr>
        <p:spPr>
          <a:xfrm>
            <a:off x="1282700" y="1859279"/>
            <a:ext cx="0" cy="1940561"/>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10" name="motif-line-stop-1"/>
          <p:cNvCxnSpPr/>
          <p:nvPr/>
        </p:nvCxnSpPr>
        <p:spPr>
          <a:xfrm>
            <a:off x="1238250" y="1973579"/>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line-stop-2"/>
          <p:cNvCxnSpPr/>
          <p:nvPr/>
        </p:nvCxnSpPr>
        <p:spPr>
          <a:xfrm>
            <a:off x="1238250" y="261620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line-stop-3"/>
          <p:cNvCxnSpPr/>
          <p:nvPr/>
        </p:nvCxnSpPr>
        <p:spPr>
          <a:xfrm>
            <a:off x="1238250" y="3685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4"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Introduction</a:t>
            </a:r>
          </a:p>
        </p:txBody>
      </p:sp>
      <p:cxnSp>
        <p:nvCxnSpPr>
          <p:cNvPr id="15"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6"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4 / 32</a:t>
            </a:r>
          </a:p>
        </p:txBody>
      </p:sp>
      <p:cxnSp>
        <p:nvCxnSpPr>
          <p:cNvPr id="17"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8"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9"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4"/>
          <p:cNvCxnSpPr/>
          <p:nvPr/>
        </p:nvCxnSpPr>
        <p:spPr>
          <a:xfrm>
            <a:off x="7905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1" name="motif-line-tick-05"/>
          <p:cNvCxnSpPr/>
          <p:nvPr/>
        </p:nvCxnSpPr>
        <p:spPr>
          <a:xfrm>
            <a:off x="8001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2" name="motif-line-tick-06"/>
          <p:cNvCxnSpPr/>
          <p:nvPr/>
        </p:nvCxnSpPr>
        <p:spPr>
          <a:xfrm>
            <a:off x="8096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3" name="motif-line-tick-07"/>
          <p:cNvCxnSpPr/>
          <p:nvPr/>
        </p:nvCxnSpPr>
        <p:spPr>
          <a:xfrm>
            <a:off x="8191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4" name="motif-line-tick-08"/>
          <p:cNvCxnSpPr/>
          <p:nvPr/>
        </p:nvCxnSpPr>
        <p:spPr>
          <a:xfrm>
            <a:off x="8286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5" name="motif-line-tick-09"/>
          <p:cNvCxnSpPr/>
          <p:nvPr/>
        </p:nvCxnSpPr>
        <p:spPr>
          <a:xfrm>
            <a:off x="8382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6" name="motif-line-tick-10"/>
          <p:cNvCxnSpPr/>
          <p:nvPr/>
        </p:nvCxnSpPr>
        <p:spPr>
          <a:xfrm>
            <a:off x="8477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7" name="motif-line-tick-11"/>
          <p:cNvCxnSpPr/>
          <p:nvPr/>
        </p:nvCxnSpPr>
        <p:spPr>
          <a:xfrm>
            <a:off x="8572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8"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9"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0"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1"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2"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photo-slot"/>
          <p:cNvSpPr/>
          <p:nvPr/>
        </p:nvSpPr>
        <p:spPr>
          <a:xfrm>
            <a:off x="0" y="0"/>
            <a:ext cx="12192000" cy="6858000"/>
          </a:xfrm>
          <a:prstGeom prst="rect">
            <a:avLst/>
          </a:prstGeom>
          <a:solidFill>
            <a:srgbClr val="1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ground-fade" descr="ground-fade-1400-360.png"/>
          <p:cNvPicPr>
            <a:picLocks noChangeAspect="1"/>
          </p:cNvPicPr>
          <p:nvPr/>
        </p:nvPicPr>
        <p:blipFill>
          <a:blip r:embed="rId2"/>
          <a:stretch>
            <a:fillRect/>
          </a:stretch>
        </p:blipFill>
        <p:spPr>
          <a:xfrm>
            <a:off x="0" y="0"/>
            <a:ext cx="8890000" cy="6858000"/>
          </a:xfrm>
          <a:prstGeom prst="rect">
            <a:avLst/>
          </a:prstGeom>
        </p:spPr>
      </p:pic>
      <p:cxnSp>
        <p:nvCxnSpPr>
          <p:cNvPr id="4" name="motif-line-corridor-corner-0"/>
          <p:cNvCxnSpPr/>
          <p:nvPr/>
        </p:nvCxnSpPr>
        <p:spPr>
          <a:xfrm>
            <a:off x="6731000" y="0"/>
            <a:ext cx="2413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5" name="motif-line-corridor-corner-1"/>
          <p:cNvCxnSpPr/>
          <p:nvPr/>
        </p:nvCxnSpPr>
        <p:spPr>
          <a:xfrm flipH="1">
            <a:off x="10668000" y="0"/>
            <a:ext cx="1524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line-corridor-corner-2"/>
          <p:cNvCxnSpPr/>
          <p:nvPr/>
        </p:nvCxnSpPr>
        <p:spPr>
          <a:xfrm flipV="1">
            <a:off x="6731000" y="4064000"/>
            <a:ext cx="2413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line-corridor-corner-3"/>
          <p:cNvCxnSpPr/>
          <p:nvPr/>
        </p:nvCxnSpPr>
        <p:spPr>
          <a:xfrm flipH="1" flipV="1">
            <a:off x="10668000" y="4064000"/>
            <a:ext cx="1524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line-corridor-top-1"/>
          <p:cNvCxnSpPr/>
          <p:nvPr/>
        </p:nvCxnSpPr>
        <p:spPr>
          <a:xfrm>
            <a:off x="7823200" y="0"/>
            <a:ext cx="1625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line-corridor-floor-1"/>
          <p:cNvCxnSpPr/>
          <p:nvPr/>
        </p:nvCxnSpPr>
        <p:spPr>
          <a:xfrm flipV="1">
            <a:off x="7823200" y="4064000"/>
            <a:ext cx="1625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line-corridor-top-2"/>
          <p:cNvCxnSpPr/>
          <p:nvPr/>
        </p:nvCxnSpPr>
        <p:spPr>
          <a:xfrm>
            <a:off x="8915400" y="0"/>
            <a:ext cx="8382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line-corridor-floor-2"/>
          <p:cNvCxnSpPr/>
          <p:nvPr/>
        </p:nvCxnSpPr>
        <p:spPr>
          <a:xfrm flipV="1">
            <a:off x="8915400" y="4064000"/>
            <a:ext cx="8382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line-corridor-top-3"/>
          <p:cNvCxnSpPr/>
          <p:nvPr/>
        </p:nvCxnSpPr>
        <p:spPr>
          <a:xfrm>
            <a:off x="10007600" y="0"/>
            <a:ext cx="508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corridor-floor-3"/>
          <p:cNvCxnSpPr/>
          <p:nvPr/>
        </p:nvCxnSpPr>
        <p:spPr>
          <a:xfrm flipV="1">
            <a:off x="10007600" y="4064000"/>
            <a:ext cx="508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line-corridor-top-4"/>
          <p:cNvCxnSpPr/>
          <p:nvPr/>
        </p:nvCxnSpPr>
        <p:spPr>
          <a:xfrm flipH="1">
            <a:off x="10363200" y="0"/>
            <a:ext cx="736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line-corridor-floor-4"/>
          <p:cNvCxnSpPr/>
          <p:nvPr/>
        </p:nvCxnSpPr>
        <p:spPr>
          <a:xfrm flipH="1" flipV="1">
            <a:off x="10363200" y="4064000"/>
            <a:ext cx="736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line-corridor-right-1"/>
          <p:cNvCxnSpPr/>
          <p:nvPr/>
        </p:nvCxnSpPr>
        <p:spPr>
          <a:xfrm flipH="1">
            <a:off x="10668000" y="1714500"/>
            <a:ext cx="1524000" cy="1301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7" name="motif-line-corridor-right-2"/>
          <p:cNvCxnSpPr/>
          <p:nvPr/>
        </p:nvCxnSpPr>
        <p:spPr>
          <a:xfrm flipH="1" flipV="1">
            <a:off x="10668000" y="3365500"/>
            <a:ext cx="1524000" cy="635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8" name="motif-line-corridor-right-3"/>
          <p:cNvCxnSpPr/>
          <p:nvPr/>
        </p:nvCxnSpPr>
        <p:spPr>
          <a:xfrm flipH="1" flipV="1">
            <a:off x="10668000" y="3714750"/>
            <a:ext cx="1524000" cy="1428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9" name="motif-line-depth-1-t"/>
          <p:cNvCxnSpPr/>
          <p:nvPr/>
        </p:nvCxnSpPr>
        <p:spPr>
          <a:xfrm>
            <a:off x="7937500" y="1333500"/>
            <a:ext cx="3492500"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0" name="motif-line-depth-1-b"/>
          <p:cNvCxnSpPr/>
          <p:nvPr/>
        </p:nvCxnSpPr>
        <p:spPr>
          <a:xfrm>
            <a:off x="7937500" y="5461000"/>
            <a:ext cx="3492500"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1" name="motif-line-depth-1-l"/>
          <p:cNvCxnSpPr/>
          <p:nvPr/>
        </p:nvCxnSpPr>
        <p:spPr>
          <a:xfrm>
            <a:off x="7937500" y="1333500"/>
            <a:ext cx="0" cy="412750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2" name="motif-line-depth-1-r"/>
          <p:cNvCxnSpPr/>
          <p:nvPr/>
        </p:nvCxnSpPr>
        <p:spPr>
          <a:xfrm>
            <a:off x="11430000" y="1333500"/>
            <a:ext cx="0" cy="412750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62000" y="2122170"/>
            <a:ext cx="5588000" cy="320040"/>
          </a:xfrm>
          <a:prstGeom prst="rect">
            <a:avLst/>
          </a:prstGeom>
          <a:noFill/>
        </p:spPr>
        <p:txBody>
          <a:bodyPr wrap="square" lIns="0" rIns="0" tIns="0" bIns="0" anchor="t">
            <a:spAutoFit/>
          </a:bodyPr>
          <a:lstStyle/>
          <a:p>
            <a:pPr algn="l">
              <a:lnSpc>
                <a:spcPct val="115000"/>
              </a:lnSpc>
            </a:pPr>
            <a:r>
              <a:rPr sz="1800" b="0">
                <a:solidFill>
                  <a:srgbClr val="AFC0D8"/>
                </a:solidFill>
                <a:latin typeface="Plus Jakarta Sans"/>
              </a:rPr>
              <a:t>Part I</a:t>
            </a:r>
          </a:p>
        </p:txBody>
      </p:sp>
      <p:cxnSp>
        <p:nvCxnSpPr>
          <p:cNvPr id="24" name="motif-line-card-rule"/>
          <p:cNvCxnSpPr/>
          <p:nvPr/>
        </p:nvCxnSpPr>
        <p:spPr>
          <a:xfrm>
            <a:off x="762000" y="2569210"/>
            <a:ext cx="3048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62000" y="2696210"/>
            <a:ext cx="5588000" cy="1422400"/>
          </a:xfrm>
          <a:prstGeom prst="rect">
            <a:avLst/>
          </a:prstGeom>
          <a:noFill/>
        </p:spPr>
        <p:txBody>
          <a:bodyPr wrap="square" lIns="0" rIns="0" tIns="0" bIns="0" anchor="t">
            <a:spAutoFit/>
          </a:bodyPr>
          <a:lstStyle/>
          <a:p>
            <a:pPr algn="l">
              <a:lnSpc>
                <a:spcPct val="115000"/>
              </a:lnSpc>
            </a:pPr>
            <a:r>
              <a:rPr sz="8000" b="1">
                <a:solidFill>
                  <a:srgbClr val="F4F6FA"/>
                </a:solidFill>
                <a:latin typeface="Plus Jakarta Sans"/>
              </a:rPr>
              <a:t>Method</a:t>
            </a:r>
          </a:p>
        </p:txBody>
      </p:sp>
      <p:sp>
        <p:nvSpPr>
          <p:cNvPr id="26" name="TextBox 25"/>
          <p:cNvSpPr txBox="1"/>
          <p:nvPr/>
        </p:nvSpPr>
        <p:spPr>
          <a:xfrm>
            <a:off x="762000" y="4309110"/>
            <a:ext cx="5588000" cy="426719"/>
          </a:xfrm>
          <a:prstGeom prst="rect">
            <a:avLst/>
          </a:prstGeom>
          <a:noFill/>
        </p:spPr>
        <p:txBody>
          <a:bodyPr wrap="square" lIns="0" rIns="0" tIns="0" bIns="0" anchor="t">
            <a:spAutoFit/>
          </a:bodyPr>
          <a:lstStyle/>
          <a:p>
            <a:pPr algn="l">
              <a:lnSpc>
                <a:spcPct val="115000"/>
              </a:lnSpc>
            </a:pPr>
            <a:r>
              <a:rPr sz="2400" b="0">
                <a:solidFill>
                  <a:srgbClr val="AFC0D8"/>
                </a:solidFill>
                <a:latin typeface="Plus Jakarta Sans"/>
              </a:rPr>
              <a:t>20 prompts, 2 engines, one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20 everyday banking questions, asked in Bahasa Indonesia</a:t>
            </a:r>
          </a:p>
        </p:txBody>
      </p:sp>
      <p:sp>
        <p:nvSpPr>
          <p:cNvPr id="3" name="TextBox 2"/>
          <p:cNvSpPr txBox="1"/>
          <p:nvPr/>
        </p:nvSpPr>
        <p:spPr>
          <a:xfrm>
            <a:off x="762000" y="20320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5 customer needs by 5 question types. Only 3 prompts name a bank, all of them comparisons. Each prompt was asked once in ChatGPT and once in Gemini, with a request for 10 sources.</a:t>
            </a:r>
          </a:p>
        </p:txBody>
      </p:sp>
      <p:sp>
        <p:nvSpPr>
          <p:cNvPr id="4" name="ground-panel"/>
          <p:cNvSpPr/>
          <p:nvPr/>
        </p:nvSpPr>
        <p:spPr>
          <a:xfrm>
            <a:off x="1166988" y="2679700"/>
            <a:ext cx="9858022" cy="32893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1103488" y="26162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1103488" y="26162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0834511" y="26162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088511" y="26162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1103488"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1103488"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0834511"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088511"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prompt_grid" descr="prompt_grid.png"/>
          <p:cNvPicPr>
            <a:picLocks noChangeAspect="1"/>
          </p:cNvPicPr>
          <p:nvPr/>
        </p:nvPicPr>
        <p:blipFill>
          <a:blip r:embed="rId2"/>
          <a:stretch>
            <a:fillRect/>
          </a:stretch>
        </p:blipFill>
        <p:spPr>
          <a:xfrm>
            <a:off x="1255888" y="2768600"/>
            <a:ext cx="9680222" cy="3111500"/>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 Method</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6 / 32</a:t>
            </a:r>
          </a:p>
        </p:txBody>
      </p:sp>
      <p:sp>
        <p:nvSpPr>
          <p:cNvPr id="18"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data/interim/answers.csv. n = 20 prompts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5334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From 40 answers to 195 readable source pages</a:t>
            </a:r>
          </a:p>
        </p:txBody>
      </p:sp>
      <p:sp>
        <p:nvSpPr>
          <p:cNvPr id="3" name="TextBox 2"/>
          <p:cNvSpPr txBox="1"/>
          <p:nvPr/>
        </p:nvSpPr>
        <p:spPr>
          <a:xfrm>
            <a:off x="762000" y="14986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Each step is code in the public repo, covered by tests. Only links under each answer's source list count as citations.</a:t>
            </a:r>
          </a:p>
        </p:txBody>
      </p:sp>
      <p:sp>
        <p:nvSpPr>
          <p:cNvPr id="4" name="ground-panel"/>
          <p:cNvSpPr/>
          <p:nvPr/>
        </p:nvSpPr>
        <p:spPr>
          <a:xfrm>
            <a:off x="904239" y="2146300"/>
            <a:ext cx="10383520" cy="38227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840739" y="20828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840739" y="20828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1097260" y="20828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351260" y="20828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840739"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840739"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1097260"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351260"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pipeline" descr="pipeline.png"/>
          <p:cNvPicPr>
            <a:picLocks noChangeAspect="1"/>
          </p:cNvPicPr>
          <p:nvPr/>
        </p:nvPicPr>
        <p:blipFill>
          <a:blip r:embed="rId2"/>
          <a:stretch>
            <a:fillRect/>
          </a:stretch>
        </p:blipFill>
        <p:spPr>
          <a:xfrm>
            <a:off x="993139" y="2235200"/>
            <a:ext cx="10205720" cy="3644900"/>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 Method</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7 / 32</a:t>
            </a:r>
          </a:p>
        </p:txBody>
      </p:sp>
      <p:sp>
        <p:nvSpPr>
          <p:cNvPr id="18"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Code and data: github.com/rgmwnn/geo-bank-visibility. n = 40 answers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60451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What is measured</a:t>
            </a:r>
          </a:p>
        </p:txBody>
      </p:sp>
      <p:sp>
        <p:nvSpPr>
          <p:cNvPr id="3" name="TextBox 2"/>
          <p:cNvSpPr txBox="1"/>
          <p:nvPr/>
        </p:nvSpPr>
        <p:spPr>
          <a:xfrm>
            <a:off x="762000" y="1709420"/>
            <a:ext cx="5080000" cy="266700"/>
          </a:xfrm>
          <a:prstGeom prst="rect">
            <a:avLst/>
          </a:prstGeom>
          <a:noFill/>
        </p:spPr>
        <p:txBody>
          <a:bodyPr wrap="square" lIns="0" rIns="0" tIns="0" bIns="0" anchor="t">
            <a:spAutoFit/>
          </a:bodyPr>
          <a:lstStyle/>
          <a:p>
            <a:pPr algn="l">
              <a:lnSpc>
                <a:spcPct val="115000"/>
              </a:lnSpc>
            </a:pPr>
            <a:r>
              <a:rPr sz="1500" b="1">
                <a:solidFill>
                  <a:srgbClr val="F4F6FA"/>
                </a:solidFill>
                <a:latin typeface="Plus Jakarta Sans"/>
              </a:rPr>
              <a:t>Mention rate</a:t>
            </a:r>
          </a:p>
        </p:txBody>
      </p:sp>
      <p:sp>
        <p:nvSpPr>
          <p:cNvPr id="4" name="TextBox 3"/>
          <p:cNvSpPr txBox="1"/>
          <p:nvPr/>
        </p:nvSpPr>
        <p:spPr>
          <a:xfrm>
            <a:off x="762000" y="1988820"/>
            <a:ext cx="5080000" cy="231140"/>
          </a:xfrm>
          <a:prstGeom prst="rect">
            <a:avLst/>
          </a:prstGeom>
          <a:noFill/>
        </p:spPr>
        <p:txBody>
          <a:bodyPr wrap="square" lIns="0" rIns="0" tIns="0" bIns="0" anchor="t">
            <a:spAutoFit/>
          </a:bodyPr>
          <a:lstStyle/>
          <a:p>
            <a:pPr algn="l">
              <a:lnSpc>
                <a:spcPct val="115000"/>
              </a:lnSpc>
            </a:pPr>
            <a:r>
              <a:rPr sz="1300" b="0">
                <a:solidFill>
                  <a:srgbClr val="AFC0D8"/>
                </a:solidFill>
                <a:latin typeface="Plus Jakarta Sans"/>
              </a:rPr>
              <a:t>share of answers that name the bank</a:t>
            </a:r>
          </a:p>
        </p:txBody>
      </p:sp>
      <p:sp>
        <p:nvSpPr>
          <p:cNvPr id="5" name="TextBox 4"/>
          <p:cNvSpPr txBox="1"/>
          <p:nvPr/>
        </p:nvSpPr>
        <p:spPr>
          <a:xfrm>
            <a:off x="762000" y="2296160"/>
            <a:ext cx="5080000" cy="266700"/>
          </a:xfrm>
          <a:prstGeom prst="rect">
            <a:avLst/>
          </a:prstGeom>
          <a:noFill/>
        </p:spPr>
        <p:txBody>
          <a:bodyPr wrap="square" lIns="0" rIns="0" tIns="0" bIns="0" anchor="t">
            <a:spAutoFit/>
          </a:bodyPr>
          <a:lstStyle/>
          <a:p>
            <a:pPr algn="l">
              <a:lnSpc>
                <a:spcPct val="115000"/>
              </a:lnSpc>
            </a:pPr>
            <a:r>
              <a:rPr sz="1500" b="1">
                <a:solidFill>
                  <a:srgbClr val="F4F6FA"/>
                </a:solidFill>
                <a:latin typeface="Plus Jakarta Sans"/>
              </a:rPr>
              <a:t>AI share of voice</a:t>
            </a:r>
          </a:p>
        </p:txBody>
      </p:sp>
      <p:sp>
        <p:nvSpPr>
          <p:cNvPr id="6" name="TextBox 5"/>
          <p:cNvSpPr txBox="1"/>
          <p:nvPr/>
        </p:nvSpPr>
        <p:spPr>
          <a:xfrm>
            <a:off x="762000" y="2575560"/>
            <a:ext cx="5080000" cy="462280"/>
          </a:xfrm>
          <a:prstGeom prst="rect">
            <a:avLst/>
          </a:prstGeom>
          <a:noFill/>
        </p:spPr>
        <p:txBody>
          <a:bodyPr wrap="square" lIns="0" rIns="0" tIns="0" bIns="0" anchor="t">
            <a:spAutoFit/>
          </a:bodyPr>
          <a:lstStyle/>
          <a:p>
            <a:pPr algn="l">
              <a:lnSpc>
                <a:spcPct val="115000"/>
              </a:lnSpc>
            </a:pPr>
            <a:r>
              <a:rPr sz="1300" b="0">
                <a:solidFill>
                  <a:srgbClr val="AFC0D8"/>
                </a:solidFill>
                <a:latin typeface="Plus Jakarta Sans"/>
              </a:rPr>
              <a:t>the bank's share of bank mentions, each answer weighted equally</a:t>
            </a:r>
          </a:p>
        </p:txBody>
      </p:sp>
      <p:sp>
        <p:nvSpPr>
          <p:cNvPr id="7" name="TextBox 6"/>
          <p:cNvSpPr txBox="1"/>
          <p:nvPr/>
        </p:nvSpPr>
        <p:spPr>
          <a:xfrm>
            <a:off x="762000" y="3114040"/>
            <a:ext cx="5080000" cy="266700"/>
          </a:xfrm>
          <a:prstGeom prst="rect">
            <a:avLst/>
          </a:prstGeom>
          <a:noFill/>
        </p:spPr>
        <p:txBody>
          <a:bodyPr wrap="square" lIns="0" rIns="0" tIns="0" bIns="0" anchor="t">
            <a:spAutoFit/>
          </a:bodyPr>
          <a:lstStyle/>
          <a:p>
            <a:pPr algn="l">
              <a:lnSpc>
                <a:spcPct val="115000"/>
              </a:lnSpc>
            </a:pPr>
            <a:r>
              <a:rPr sz="1500" b="1">
                <a:solidFill>
                  <a:srgbClr val="F4F6FA"/>
                </a:solidFill>
                <a:latin typeface="Plus Jakarta Sans"/>
              </a:rPr>
              <a:t>Brand PAWC</a:t>
            </a:r>
          </a:p>
        </p:txBody>
      </p:sp>
      <p:sp>
        <p:nvSpPr>
          <p:cNvPr id="8" name="TextBox 7"/>
          <p:cNvSpPr txBox="1"/>
          <p:nvPr/>
        </p:nvSpPr>
        <p:spPr>
          <a:xfrm>
            <a:off x="762000" y="3393440"/>
            <a:ext cx="5080000" cy="462280"/>
          </a:xfrm>
          <a:prstGeom prst="rect">
            <a:avLst/>
          </a:prstGeom>
          <a:noFill/>
        </p:spPr>
        <p:txBody>
          <a:bodyPr wrap="square" lIns="0" rIns="0" tIns="0" bIns="0" anchor="t">
            <a:spAutoFit/>
          </a:bodyPr>
          <a:lstStyle/>
          <a:p>
            <a:pPr algn="l">
              <a:lnSpc>
                <a:spcPct val="115000"/>
              </a:lnSpc>
            </a:pPr>
            <a:r>
              <a:rPr sz="1300" b="0">
                <a:solidFill>
                  <a:srgbClr val="AFC0D8"/>
                </a:solidFill>
                <a:latin typeface="Plus Jakarta Sans"/>
              </a:rPr>
              <a:t>how much of an answer is about the bank, earlier sentences weighted more</a:t>
            </a:r>
          </a:p>
        </p:txBody>
      </p:sp>
      <p:sp>
        <p:nvSpPr>
          <p:cNvPr id="9" name="TextBox 8"/>
          <p:cNvSpPr txBox="1"/>
          <p:nvPr/>
        </p:nvSpPr>
        <p:spPr>
          <a:xfrm>
            <a:off x="762000" y="3931920"/>
            <a:ext cx="5080000" cy="266700"/>
          </a:xfrm>
          <a:prstGeom prst="rect">
            <a:avLst/>
          </a:prstGeom>
          <a:noFill/>
        </p:spPr>
        <p:txBody>
          <a:bodyPr wrap="square" lIns="0" rIns="0" tIns="0" bIns="0" anchor="t">
            <a:spAutoFit/>
          </a:bodyPr>
          <a:lstStyle/>
          <a:p>
            <a:pPr algn="l">
              <a:lnSpc>
                <a:spcPct val="115000"/>
              </a:lnSpc>
            </a:pPr>
            <a:r>
              <a:rPr sz="1500" b="1">
                <a:solidFill>
                  <a:srgbClr val="F4F6FA"/>
                </a:solidFill>
                <a:latin typeface="Plus Jakarta Sans"/>
              </a:rPr>
              <a:t>Source share of voice</a:t>
            </a:r>
          </a:p>
        </p:txBody>
      </p:sp>
      <p:sp>
        <p:nvSpPr>
          <p:cNvPr id="10" name="TextBox 9"/>
          <p:cNvSpPr txBox="1"/>
          <p:nvPr/>
        </p:nvSpPr>
        <p:spPr>
          <a:xfrm>
            <a:off x="762000" y="4211320"/>
            <a:ext cx="5080000" cy="231140"/>
          </a:xfrm>
          <a:prstGeom prst="rect">
            <a:avLst/>
          </a:prstGeom>
          <a:noFill/>
        </p:spPr>
        <p:txBody>
          <a:bodyPr wrap="square" lIns="0" rIns="0" tIns="0" bIns="0" anchor="t">
            <a:spAutoFit/>
          </a:bodyPr>
          <a:lstStyle/>
          <a:p>
            <a:pPr algn="l">
              <a:lnSpc>
                <a:spcPct val="115000"/>
              </a:lnSpc>
            </a:pPr>
            <a:r>
              <a:rPr sz="1300" b="0">
                <a:solidFill>
                  <a:srgbClr val="AFC0D8"/>
                </a:solidFill>
                <a:latin typeface="Plus Jakarta Sans"/>
              </a:rPr>
              <a:t>the bank's share of bank mentions in the readable cited pages</a:t>
            </a:r>
          </a:p>
        </p:txBody>
      </p:sp>
      <p:sp>
        <p:nvSpPr>
          <p:cNvPr id="11" name="TextBox 10"/>
          <p:cNvSpPr txBox="1"/>
          <p:nvPr/>
        </p:nvSpPr>
        <p:spPr>
          <a:xfrm>
            <a:off x="762000" y="4518660"/>
            <a:ext cx="5080000" cy="266700"/>
          </a:xfrm>
          <a:prstGeom prst="rect">
            <a:avLst/>
          </a:prstGeom>
          <a:noFill/>
        </p:spPr>
        <p:txBody>
          <a:bodyPr wrap="square" lIns="0" rIns="0" tIns="0" bIns="0" anchor="t">
            <a:spAutoFit/>
          </a:bodyPr>
          <a:lstStyle/>
          <a:p>
            <a:pPr algn="l">
              <a:lnSpc>
                <a:spcPct val="115000"/>
              </a:lnSpc>
            </a:pPr>
            <a:r>
              <a:rPr sz="1500" b="1">
                <a:solidFill>
                  <a:srgbClr val="F4F6FA"/>
                </a:solidFill>
                <a:latin typeface="Plus Jakarta Sans"/>
              </a:rPr>
              <a:t>SOV gap</a:t>
            </a:r>
          </a:p>
        </p:txBody>
      </p:sp>
      <p:sp>
        <p:nvSpPr>
          <p:cNvPr id="12" name="TextBox 11"/>
          <p:cNvSpPr txBox="1"/>
          <p:nvPr/>
        </p:nvSpPr>
        <p:spPr>
          <a:xfrm>
            <a:off x="762000" y="4798060"/>
            <a:ext cx="5080000" cy="231140"/>
          </a:xfrm>
          <a:prstGeom prst="rect">
            <a:avLst/>
          </a:prstGeom>
          <a:noFill/>
        </p:spPr>
        <p:txBody>
          <a:bodyPr wrap="square" lIns="0" rIns="0" tIns="0" bIns="0" anchor="t">
            <a:spAutoFit/>
          </a:bodyPr>
          <a:lstStyle/>
          <a:p>
            <a:pPr algn="l">
              <a:lnSpc>
                <a:spcPct val="115000"/>
              </a:lnSpc>
            </a:pPr>
            <a:r>
              <a:rPr sz="1300" b="0">
                <a:solidFill>
                  <a:srgbClr val="AFC0D8"/>
                </a:solidFill>
                <a:latin typeface="Plus Jakarta Sans"/>
              </a:rPr>
              <a:t>AI share of voice minus source share of voice</a:t>
            </a:r>
          </a:p>
        </p:txBody>
      </p:sp>
      <p:sp>
        <p:nvSpPr>
          <p:cNvPr id="13" name="TextBox 12"/>
          <p:cNvSpPr txBox="1"/>
          <p:nvPr/>
        </p:nvSpPr>
        <p:spPr>
          <a:xfrm>
            <a:off x="762000" y="5105400"/>
            <a:ext cx="5080000" cy="266700"/>
          </a:xfrm>
          <a:prstGeom prst="rect">
            <a:avLst/>
          </a:prstGeom>
          <a:noFill/>
        </p:spPr>
        <p:txBody>
          <a:bodyPr wrap="square" lIns="0" rIns="0" tIns="0" bIns="0" anchor="t">
            <a:spAutoFit/>
          </a:bodyPr>
          <a:lstStyle/>
          <a:p>
            <a:pPr algn="l">
              <a:lnSpc>
                <a:spcPct val="115000"/>
              </a:lnSpc>
            </a:pPr>
            <a:r>
              <a:rPr sz="1500" b="1">
                <a:solidFill>
                  <a:srgbClr val="F4F6FA"/>
                </a:solidFill>
                <a:latin typeface="Plus Jakarta Sans"/>
              </a:rPr>
              <a:t>VIS</a:t>
            </a:r>
          </a:p>
        </p:txBody>
      </p:sp>
      <p:sp>
        <p:nvSpPr>
          <p:cNvPr id="14" name="TextBox 13"/>
          <p:cNvSpPr txBox="1"/>
          <p:nvPr/>
        </p:nvSpPr>
        <p:spPr>
          <a:xfrm>
            <a:off x="762000" y="5384800"/>
            <a:ext cx="5080000" cy="462280"/>
          </a:xfrm>
          <a:prstGeom prst="rect">
            <a:avLst/>
          </a:prstGeom>
          <a:noFill/>
        </p:spPr>
        <p:txBody>
          <a:bodyPr wrap="square" lIns="0" rIns="0" tIns="0" bIns="0" anchor="t">
            <a:spAutoFit/>
          </a:bodyPr>
          <a:lstStyle/>
          <a:p>
            <a:pPr algn="l">
              <a:lnSpc>
                <a:spcPct val="115000"/>
              </a:lnSpc>
            </a:pPr>
            <a:r>
              <a:rPr sz="1300" b="0">
                <a:solidFill>
                  <a:srgbClr val="AFC0D8"/>
                </a:solidFill>
                <a:latin typeface="Plus Jakarta Sans"/>
              </a:rPr>
              <a:t>0 to 100: equal mix of PAWC, source authority, sentiment and coverage of both engines</a:t>
            </a:r>
          </a:p>
        </p:txBody>
      </p:sp>
      <p:sp>
        <p:nvSpPr>
          <p:cNvPr id="15" name="ground-panel"/>
          <p:cNvSpPr/>
          <p:nvPr/>
        </p:nvSpPr>
        <p:spPr>
          <a:xfrm>
            <a:off x="6096000" y="2114550"/>
            <a:ext cx="5334000" cy="27559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motif-bracket-tl-h"/>
          <p:cNvCxnSpPr/>
          <p:nvPr/>
        </p:nvCxnSpPr>
        <p:spPr>
          <a:xfrm>
            <a:off x="6032500" y="205105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7" name="motif-bracket-tl-v"/>
          <p:cNvCxnSpPr/>
          <p:nvPr/>
        </p:nvCxnSpPr>
        <p:spPr>
          <a:xfrm>
            <a:off x="6032500" y="205105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8" name="motif-bracket-tr-h"/>
          <p:cNvCxnSpPr/>
          <p:nvPr/>
        </p:nvCxnSpPr>
        <p:spPr>
          <a:xfrm flipH="1">
            <a:off x="11239500" y="205105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9" name="motif-bracket-tr-v"/>
          <p:cNvCxnSpPr/>
          <p:nvPr/>
        </p:nvCxnSpPr>
        <p:spPr>
          <a:xfrm>
            <a:off x="11493500" y="205105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0" name="motif-bracket-bl-h"/>
          <p:cNvCxnSpPr/>
          <p:nvPr/>
        </p:nvCxnSpPr>
        <p:spPr>
          <a:xfrm>
            <a:off x="6032500" y="493395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1" name="motif-bracket-bl-v"/>
          <p:cNvCxnSpPr/>
          <p:nvPr/>
        </p:nvCxnSpPr>
        <p:spPr>
          <a:xfrm flipV="1">
            <a:off x="6032500" y="467995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2" name="motif-bracket-br-h"/>
          <p:cNvCxnSpPr/>
          <p:nvPr/>
        </p:nvCxnSpPr>
        <p:spPr>
          <a:xfrm flipH="1">
            <a:off x="11239500" y="493395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3" name="motif-bracket-br-v"/>
          <p:cNvCxnSpPr/>
          <p:nvPr/>
        </p:nvCxnSpPr>
        <p:spPr>
          <a:xfrm flipV="1">
            <a:off x="11493500" y="467995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24" name="chart-pawc_curve" descr="pawc_curve.png"/>
          <p:cNvPicPr>
            <a:picLocks noChangeAspect="1"/>
          </p:cNvPicPr>
          <p:nvPr/>
        </p:nvPicPr>
        <p:blipFill>
          <a:blip r:embed="rId2"/>
          <a:stretch>
            <a:fillRect/>
          </a:stretch>
        </p:blipFill>
        <p:spPr>
          <a:xfrm>
            <a:off x="6184900" y="2203450"/>
            <a:ext cx="5156200" cy="2578100"/>
          </a:xfrm>
          <a:prstGeom prst="rect">
            <a:avLst/>
          </a:prstGeom>
        </p:spPr>
      </p:pic>
      <p:cxnSp>
        <p:nvCxnSpPr>
          <p:cNvPr id="2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2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 Method</a:t>
            </a:r>
          </a:p>
        </p:txBody>
      </p:sp>
      <p:cxnSp>
        <p:nvCxnSpPr>
          <p:cNvPr id="2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2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8 / 32</a:t>
            </a:r>
          </a:p>
        </p:txBody>
      </p:sp>
      <p:sp>
        <p:nvSpPr>
          <p:cNvPr id="29"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PAWC adapted from Aggarwal et al., GEO: Generative Engine Optimization, KDD 2024</a:t>
            </a:r>
          </a:p>
        </p:txBody>
      </p:sp>
      <p:cxnSp>
        <p:nvCxnSpPr>
          <p:cNvPr id="3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08"/>
          <p:cNvCxnSpPr/>
          <p:nvPr/>
        </p:nvCxnSpPr>
        <p:spPr>
          <a:xfrm>
            <a:off x="8286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8" name="motif-line-tick-09"/>
          <p:cNvCxnSpPr/>
          <p:nvPr/>
        </p:nvCxnSpPr>
        <p:spPr>
          <a:xfrm>
            <a:off x="8382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10"/>
          <p:cNvCxnSpPr/>
          <p:nvPr/>
        </p:nvCxnSpPr>
        <p:spPr>
          <a:xfrm>
            <a:off x="8477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11"/>
          <p:cNvCxnSpPr/>
          <p:nvPr/>
        </p:nvCxnSpPr>
        <p:spPr>
          <a:xfrm>
            <a:off x="8572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2"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3"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4"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6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6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What this data cannot tell you</a:t>
            </a:r>
          </a:p>
        </p:txBody>
      </p:sp>
      <p:sp>
        <p:nvSpPr>
          <p:cNvPr id="3" name="TextBox 2"/>
          <p:cNvSpPr txBox="1"/>
          <p:nvPr/>
        </p:nvSpPr>
        <p:spPr>
          <a:xfrm>
            <a:off x="762000" y="21971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  One run per prompt per engine: a snapshot.</a:t>
            </a:r>
          </a:p>
        </p:txBody>
      </p:sp>
      <p:sp>
        <p:nvSpPr>
          <p:cNvPr id="4" name="TextBox 3"/>
          <p:cNvSpPr txBox="1"/>
          <p:nvPr/>
        </p:nvSpPr>
        <p:spPr>
          <a:xfrm>
            <a:off x="762000" y="27940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  Asking for 10 sources makes both engines cite more than usual.</a:t>
            </a:r>
          </a:p>
        </p:txBody>
      </p:sp>
      <p:sp>
        <p:nvSpPr>
          <p:cNvPr id="5" name="TextBox 4"/>
          <p:cNvSpPr txBox="1"/>
          <p:nvPr/>
        </p:nvSpPr>
        <p:spPr>
          <a:xfrm>
            <a:off x="762000" y="33909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  10 of 20 prompts lean digital: they name digital banks or ask about apps.</a:t>
            </a:r>
          </a:p>
        </p:txBody>
      </p:sp>
      <p:sp>
        <p:nvSpPr>
          <p:cNvPr id="6" name="TextBox 5"/>
          <p:cNvSpPr txBox="1"/>
          <p:nvPr/>
        </p:nvSpPr>
        <p:spPr>
          <a:xfrm>
            <a:off x="762000" y="39878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  Claude labelled sentiment and site types; RG spot-checked a sample.</a:t>
            </a:r>
          </a:p>
        </p:txBody>
      </p:sp>
      <p:sp>
        <p:nvSpPr>
          <p:cNvPr id="7" name="TextBox 6"/>
          <p:cNvSpPr txBox="1"/>
          <p:nvPr/>
        </p:nvSpPr>
        <p:spPr>
          <a:xfrm>
            <a:off x="762000" y="45847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  Pages that blocked the crawler drop out of page-level measures.</a:t>
            </a:r>
          </a:p>
        </p:txBody>
      </p:sp>
      <p:sp>
        <p:nvSpPr>
          <p:cNvPr id="8" name="TextBox 7"/>
          <p:cNvSpPr txBox="1"/>
          <p:nvPr/>
        </p:nvSpPr>
        <p:spPr>
          <a:xfrm>
            <a:off x="762000" y="51816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  Banks named in fewer than 3 answers are not ranked.</a:t>
            </a:r>
          </a:p>
        </p:txBody>
      </p:sp>
      <p:sp>
        <p:nvSpPr>
          <p:cNvPr id="9" name="ground-panel"/>
          <p:cNvSpPr/>
          <p:nvPr/>
        </p:nvSpPr>
        <p:spPr>
          <a:xfrm>
            <a:off x="4699000" y="1735582"/>
            <a:ext cx="6731000" cy="3323336"/>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motif-bracket-tl-h"/>
          <p:cNvCxnSpPr/>
          <p:nvPr/>
        </p:nvCxnSpPr>
        <p:spPr>
          <a:xfrm>
            <a:off x="4635500" y="167208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tl-v"/>
          <p:cNvCxnSpPr/>
          <p:nvPr/>
        </p:nvCxnSpPr>
        <p:spPr>
          <a:xfrm>
            <a:off x="4635500" y="167208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tr-h"/>
          <p:cNvCxnSpPr/>
          <p:nvPr/>
        </p:nvCxnSpPr>
        <p:spPr>
          <a:xfrm flipH="1">
            <a:off x="11239500" y="167208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tr-v"/>
          <p:cNvCxnSpPr/>
          <p:nvPr/>
        </p:nvCxnSpPr>
        <p:spPr>
          <a:xfrm>
            <a:off x="11493500" y="167208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bracket-bl-h"/>
          <p:cNvCxnSpPr/>
          <p:nvPr/>
        </p:nvCxnSpPr>
        <p:spPr>
          <a:xfrm>
            <a:off x="4635500" y="512241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bracket-bl-v"/>
          <p:cNvCxnSpPr/>
          <p:nvPr/>
        </p:nvCxnSpPr>
        <p:spPr>
          <a:xfrm flipV="1">
            <a:off x="4635500" y="486841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bracket-br-h"/>
          <p:cNvCxnSpPr/>
          <p:nvPr/>
        </p:nvCxnSpPr>
        <p:spPr>
          <a:xfrm flipH="1">
            <a:off x="11239500" y="512241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7" name="motif-bracket-br-v"/>
          <p:cNvCxnSpPr/>
          <p:nvPr/>
        </p:nvCxnSpPr>
        <p:spPr>
          <a:xfrm flipV="1">
            <a:off x="11493500" y="486841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8" name="chart-funnel" descr="funnel.png"/>
          <p:cNvPicPr>
            <a:picLocks noChangeAspect="1"/>
          </p:cNvPicPr>
          <p:nvPr/>
        </p:nvPicPr>
        <p:blipFill>
          <a:blip r:embed="rId2"/>
          <a:stretch>
            <a:fillRect/>
          </a:stretch>
        </p:blipFill>
        <p:spPr>
          <a:xfrm>
            <a:off x="4787900" y="1824482"/>
            <a:ext cx="6553200" cy="3145536"/>
          </a:xfrm>
          <a:prstGeom prst="rect">
            <a:avLst/>
          </a:prstGeom>
        </p:spPr>
      </p:pic>
      <p:cxnSp>
        <p:nvCxnSpPr>
          <p:cNvPr id="19"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20"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 Method</a:t>
            </a:r>
          </a:p>
        </p:txBody>
      </p:sp>
      <p:cxnSp>
        <p:nvCxnSpPr>
          <p:cNvPr id="21"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22"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9 / 32</a:t>
            </a:r>
          </a:p>
        </p:txBody>
      </p:sp>
      <p:sp>
        <p:nvSpPr>
          <p:cNvPr id="23"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data/interim/pages.csv, page_brand_counts.csv. n = 243 pages</a:t>
            </a:r>
          </a:p>
        </p:txBody>
      </p:sp>
      <p:cxnSp>
        <p:nvCxnSpPr>
          <p:cNvPr id="24"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09"/>
          <p:cNvCxnSpPr/>
          <p:nvPr/>
        </p:nvCxnSpPr>
        <p:spPr>
          <a:xfrm>
            <a:off x="83820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3" name="motif-line-tick-10"/>
          <p:cNvCxnSpPr/>
          <p:nvPr/>
        </p:nvCxnSpPr>
        <p:spPr>
          <a:xfrm>
            <a:off x="8477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1"/>
          <p:cNvCxnSpPr/>
          <p:nvPr/>
        </p:nvCxnSpPr>
        <p:spPr>
          <a:xfrm>
            <a:off x="8572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2"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3"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4"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5"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photo-slot"/>
          <p:cNvSpPr/>
          <p:nvPr/>
        </p:nvSpPr>
        <p:spPr>
          <a:xfrm>
            <a:off x="0" y="0"/>
            <a:ext cx="12192000" cy="6858000"/>
          </a:xfrm>
          <a:prstGeom prst="rect">
            <a:avLst/>
          </a:prstGeom>
          <a:solidFill>
            <a:srgbClr val="1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ground-fade" descr="ground-fade-1400-360.png"/>
          <p:cNvPicPr>
            <a:picLocks noChangeAspect="1"/>
          </p:cNvPicPr>
          <p:nvPr/>
        </p:nvPicPr>
        <p:blipFill>
          <a:blip r:embed="rId2"/>
          <a:stretch>
            <a:fillRect/>
          </a:stretch>
        </p:blipFill>
        <p:spPr>
          <a:xfrm>
            <a:off x="0" y="0"/>
            <a:ext cx="8890000" cy="6858000"/>
          </a:xfrm>
          <a:prstGeom prst="rect">
            <a:avLst/>
          </a:prstGeom>
        </p:spPr>
      </p:pic>
      <p:cxnSp>
        <p:nvCxnSpPr>
          <p:cNvPr id="4" name="motif-line-corridor-corner-0"/>
          <p:cNvCxnSpPr/>
          <p:nvPr/>
        </p:nvCxnSpPr>
        <p:spPr>
          <a:xfrm>
            <a:off x="6731000" y="0"/>
            <a:ext cx="2413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5" name="motif-line-corridor-corner-1"/>
          <p:cNvCxnSpPr/>
          <p:nvPr/>
        </p:nvCxnSpPr>
        <p:spPr>
          <a:xfrm flipH="1">
            <a:off x="10668000" y="0"/>
            <a:ext cx="1524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line-corridor-corner-2"/>
          <p:cNvCxnSpPr/>
          <p:nvPr/>
        </p:nvCxnSpPr>
        <p:spPr>
          <a:xfrm flipV="1">
            <a:off x="6731000" y="4064000"/>
            <a:ext cx="2413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line-corridor-corner-3"/>
          <p:cNvCxnSpPr/>
          <p:nvPr/>
        </p:nvCxnSpPr>
        <p:spPr>
          <a:xfrm flipH="1" flipV="1">
            <a:off x="10668000" y="4064000"/>
            <a:ext cx="1524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line-corridor-top-1"/>
          <p:cNvCxnSpPr/>
          <p:nvPr/>
        </p:nvCxnSpPr>
        <p:spPr>
          <a:xfrm>
            <a:off x="7823200" y="0"/>
            <a:ext cx="1625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line-corridor-floor-1"/>
          <p:cNvCxnSpPr/>
          <p:nvPr/>
        </p:nvCxnSpPr>
        <p:spPr>
          <a:xfrm flipV="1">
            <a:off x="7823200" y="4064000"/>
            <a:ext cx="1625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line-corridor-top-2"/>
          <p:cNvCxnSpPr/>
          <p:nvPr/>
        </p:nvCxnSpPr>
        <p:spPr>
          <a:xfrm>
            <a:off x="8915400" y="0"/>
            <a:ext cx="8382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line-corridor-floor-2"/>
          <p:cNvCxnSpPr/>
          <p:nvPr/>
        </p:nvCxnSpPr>
        <p:spPr>
          <a:xfrm flipV="1">
            <a:off x="8915400" y="4064000"/>
            <a:ext cx="8382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line-corridor-top-3"/>
          <p:cNvCxnSpPr/>
          <p:nvPr/>
        </p:nvCxnSpPr>
        <p:spPr>
          <a:xfrm>
            <a:off x="10007600" y="0"/>
            <a:ext cx="508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corridor-floor-3"/>
          <p:cNvCxnSpPr/>
          <p:nvPr/>
        </p:nvCxnSpPr>
        <p:spPr>
          <a:xfrm flipV="1">
            <a:off x="10007600" y="4064000"/>
            <a:ext cx="508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line-corridor-top-4"/>
          <p:cNvCxnSpPr/>
          <p:nvPr/>
        </p:nvCxnSpPr>
        <p:spPr>
          <a:xfrm flipH="1">
            <a:off x="10363200" y="0"/>
            <a:ext cx="736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line-corridor-floor-4"/>
          <p:cNvCxnSpPr/>
          <p:nvPr/>
        </p:nvCxnSpPr>
        <p:spPr>
          <a:xfrm flipH="1" flipV="1">
            <a:off x="10363200" y="4064000"/>
            <a:ext cx="736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line-corridor-right-1"/>
          <p:cNvCxnSpPr/>
          <p:nvPr/>
        </p:nvCxnSpPr>
        <p:spPr>
          <a:xfrm flipH="1">
            <a:off x="10668000" y="1714500"/>
            <a:ext cx="1524000" cy="1301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7" name="motif-line-corridor-right-2"/>
          <p:cNvCxnSpPr/>
          <p:nvPr/>
        </p:nvCxnSpPr>
        <p:spPr>
          <a:xfrm flipH="1" flipV="1">
            <a:off x="10668000" y="3365500"/>
            <a:ext cx="1524000" cy="635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8" name="motif-line-corridor-right-3"/>
          <p:cNvCxnSpPr/>
          <p:nvPr/>
        </p:nvCxnSpPr>
        <p:spPr>
          <a:xfrm flipH="1" flipV="1">
            <a:off x="10668000" y="3714750"/>
            <a:ext cx="1524000" cy="1428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9" name="motif-line-depth-1-t"/>
          <p:cNvCxnSpPr/>
          <p:nvPr/>
        </p:nvCxnSpPr>
        <p:spPr>
          <a:xfrm>
            <a:off x="7937500" y="1333500"/>
            <a:ext cx="349250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0" name="motif-line-depth-1-b"/>
          <p:cNvCxnSpPr/>
          <p:nvPr/>
        </p:nvCxnSpPr>
        <p:spPr>
          <a:xfrm>
            <a:off x="7937500" y="5461000"/>
            <a:ext cx="349250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1" name="motif-line-depth-1-l"/>
          <p:cNvCxnSpPr/>
          <p:nvPr/>
        </p:nvCxnSpPr>
        <p:spPr>
          <a:xfrm>
            <a:off x="7937500" y="1333500"/>
            <a:ext cx="0" cy="412750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2" name="motif-line-depth-1-r"/>
          <p:cNvCxnSpPr/>
          <p:nvPr/>
        </p:nvCxnSpPr>
        <p:spPr>
          <a:xfrm>
            <a:off x="11430000" y="1333500"/>
            <a:ext cx="0" cy="412750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3" name="motif-line-depth-2-t"/>
          <p:cNvCxnSpPr/>
          <p:nvPr/>
        </p:nvCxnSpPr>
        <p:spPr>
          <a:xfrm>
            <a:off x="8540750" y="2000250"/>
            <a:ext cx="2508250"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4" name="motif-line-depth-2-b"/>
          <p:cNvCxnSpPr/>
          <p:nvPr/>
        </p:nvCxnSpPr>
        <p:spPr>
          <a:xfrm>
            <a:off x="8540750" y="4762500"/>
            <a:ext cx="2508250"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5" name="motif-line-depth-2-l"/>
          <p:cNvCxnSpPr/>
          <p:nvPr/>
        </p:nvCxnSpPr>
        <p:spPr>
          <a:xfrm>
            <a:off x="8540750" y="2000250"/>
            <a:ext cx="0" cy="276225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6" name="motif-line-depth-2-r"/>
          <p:cNvCxnSpPr/>
          <p:nvPr/>
        </p:nvCxnSpPr>
        <p:spPr>
          <a:xfrm>
            <a:off x="11049000" y="2000250"/>
            <a:ext cx="0" cy="276225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62000" y="1410970"/>
            <a:ext cx="5588000" cy="320040"/>
          </a:xfrm>
          <a:prstGeom prst="rect">
            <a:avLst/>
          </a:prstGeom>
          <a:noFill/>
        </p:spPr>
        <p:txBody>
          <a:bodyPr wrap="square" lIns="0" rIns="0" tIns="0" bIns="0" anchor="t">
            <a:spAutoFit/>
          </a:bodyPr>
          <a:lstStyle/>
          <a:p>
            <a:pPr algn="l">
              <a:lnSpc>
                <a:spcPct val="115000"/>
              </a:lnSpc>
            </a:pPr>
            <a:r>
              <a:rPr sz="1800" b="0">
                <a:solidFill>
                  <a:srgbClr val="AFC0D8"/>
                </a:solidFill>
                <a:latin typeface="Plus Jakarta Sans"/>
              </a:rPr>
              <a:t>Part II</a:t>
            </a:r>
          </a:p>
        </p:txBody>
      </p:sp>
      <p:cxnSp>
        <p:nvCxnSpPr>
          <p:cNvPr id="28" name="motif-line-card-rule"/>
          <p:cNvCxnSpPr/>
          <p:nvPr/>
        </p:nvCxnSpPr>
        <p:spPr>
          <a:xfrm>
            <a:off x="762000" y="1858010"/>
            <a:ext cx="3048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62000" y="1985010"/>
            <a:ext cx="5588000" cy="2844800"/>
          </a:xfrm>
          <a:prstGeom prst="rect">
            <a:avLst/>
          </a:prstGeom>
          <a:noFill/>
        </p:spPr>
        <p:txBody>
          <a:bodyPr wrap="square" lIns="0" rIns="0" tIns="0" bIns="0" anchor="t">
            <a:spAutoFit/>
          </a:bodyPr>
          <a:lstStyle/>
          <a:p>
            <a:pPr algn="l">
              <a:lnSpc>
                <a:spcPct val="115000"/>
              </a:lnSpc>
            </a:pPr>
            <a:r>
              <a:rPr sz="8000" b="1">
                <a:solidFill>
                  <a:srgbClr val="F4F6FA"/>
                </a:solidFill>
                <a:latin typeface="Plus Jakarta Sans"/>
              </a:rPr>
              <a:t>The answers</a:t>
            </a:r>
          </a:p>
        </p:txBody>
      </p:sp>
      <p:sp>
        <p:nvSpPr>
          <p:cNvPr id="30" name="TextBox 29"/>
          <p:cNvSpPr txBox="1"/>
          <p:nvPr/>
        </p:nvSpPr>
        <p:spPr>
          <a:xfrm>
            <a:off x="762000" y="5020310"/>
            <a:ext cx="5588000" cy="426719"/>
          </a:xfrm>
          <a:prstGeom prst="rect">
            <a:avLst/>
          </a:prstGeom>
          <a:noFill/>
        </p:spPr>
        <p:txBody>
          <a:bodyPr wrap="square" lIns="0" rIns="0" tIns="0" bIns="0" anchor="t">
            <a:spAutoFit/>
          </a:bodyPr>
          <a:lstStyle/>
          <a:p>
            <a:pPr algn="l">
              <a:lnSpc>
                <a:spcPct val="115000"/>
              </a:lnSpc>
            </a:pPr>
            <a:r>
              <a:rPr sz="2400" b="0">
                <a:solidFill>
                  <a:srgbClr val="AFC0D8"/>
                </a:solidFill>
                <a:latin typeface="Plus Jakarta Sans"/>
              </a:rPr>
              <a:t>Which banks the answers name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302259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BCA, Bank Jago and SeaBank are each named in more than half of all answers</a:t>
            </a:r>
          </a:p>
        </p:txBody>
      </p:sp>
      <p:sp>
        <p:nvSpPr>
          <p:cNvPr id="3" name="TextBox 2"/>
          <p:cNvSpPr txBox="1"/>
          <p:nvPr/>
        </p:nvSpPr>
        <p:spPr>
          <a:xfrm>
            <a:off x="762000" y="415290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BCA and Bank Jago appear in 22 of 40 answers, SeaBank in 21, BRI in 12.</a:t>
            </a:r>
          </a:p>
        </p:txBody>
      </p:sp>
      <p:sp>
        <p:nvSpPr>
          <p:cNvPr id="4" name="ground-panel"/>
          <p:cNvSpPr/>
          <p:nvPr/>
        </p:nvSpPr>
        <p:spPr>
          <a:xfrm>
            <a:off x="4699000" y="1142461"/>
            <a:ext cx="6731000" cy="4509576"/>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4635500" y="107896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4635500" y="107896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1239500" y="107896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493500" y="107896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4635500" y="571553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4635500" y="546153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1239500" y="571553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493500" y="546153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mention_dots" descr="mention_dots.png"/>
          <p:cNvPicPr>
            <a:picLocks noChangeAspect="1"/>
          </p:cNvPicPr>
          <p:nvPr/>
        </p:nvPicPr>
        <p:blipFill>
          <a:blip r:embed="rId2"/>
          <a:stretch>
            <a:fillRect/>
          </a:stretch>
        </p:blipFill>
        <p:spPr>
          <a:xfrm>
            <a:off x="4787900" y="1231361"/>
            <a:ext cx="6553200" cy="4331776"/>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11 / 32</a:t>
            </a:r>
          </a:p>
        </p:txBody>
      </p:sp>
      <p:sp>
        <p:nvSpPr>
          <p:cNvPr id="18"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data/processed/brand_engine.csv. Top 10 banks. n = 20 answers per engine</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241807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BCA scores highest, with Bank Jago and BRI close behind</a:t>
            </a:r>
          </a:p>
        </p:txBody>
      </p:sp>
      <p:sp>
        <p:nvSpPr>
          <p:cNvPr id="3" name="TextBox 2"/>
          <p:cNvSpPr txBox="1"/>
          <p:nvPr/>
        </p:nvSpPr>
        <p:spPr>
          <a:xfrm>
            <a:off x="762000" y="3548379"/>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VIS 93.2 for BCA, then Bank Jago 89.6, BRI 89.5 and SeaBank 85.7.</a:t>
            </a:r>
          </a:p>
        </p:txBody>
      </p:sp>
      <p:sp>
        <p:nvSpPr>
          <p:cNvPr id="4" name="TextBox 3"/>
          <p:cNvSpPr txBox="1"/>
          <p:nvPr/>
        </p:nvSpPr>
        <p:spPr>
          <a:xfrm>
            <a:off x="762000" y="4170679"/>
            <a:ext cx="3683000" cy="800099"/>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7 banks named in fewer than 3 answers are left off the chart: one or two answers is too few to rank.</a:t>
            </a:r>
          </a:p>
        </p:txBody>
      </p:sp>
      <p:sp>
        <p:nvSpPr>
          <p:cNvPr id="5" name="ground-panel"/>
          <p:cNvSpPr/>
          <p:nvPr/>
        </p:nvSpPr>
        <p:spPr>
          <a:xfrm>
            <a:off x="4699000" y="1364604"/>
            <a:ext cx="6731000" cy="4065291"/>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motif-bracket-tl-h"/>
          <p:cNvCxnSpPr/>
          <p:nvPr/>
        </p:nvCxnSpPr>
        <p:spPr>
          <a:xfrm>
            <a:off x="4635500" y="1301104"/>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l-v"/>
          <p:cNvCxnSpPr/>
          <p:nvPr/>
        </p:nvCxnSpPr>
        <p:spPr>
          <a:xfrm>
            <a:off x="4635500" y="1301104"/>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h"/>
          <p:cNvCxnSpPr/>
          <p:nvPr/>
        </p:nvCxnSpPr>
        <p:spPr>
          <a:xfrm flipH="1">
            <a:off x="11239500" y="1301104"/>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v"/>
          <p:cNvCxnSpPr/>
          <p:nvPr/>
        </p:nvCxnSpPr>
        <p:spPr>
          <a:xfrm>
            <a:off x="11493500" y="1301104"/>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h"/>
          <p:cNvCxnSpPr/>
          <p:nvPr/>
        </p:nvCxnSpPr>
        <p:spPr>
          <a:xfrm>
            <a:off x="4635500" y="5493395"/>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v"/>
          <p:cNvCxnSpPr/>
          <p:nvPr/>
        </p:nvCxnSpPr>
        <p:spPr>
          <a:xfrm flipV="1">
            <a:off x="4635500" y="5239395"/>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h"/>
          <p:cNvCxnSpPr/>
          <p:nvPr/>
        </p:nvCxnSpPr>
        <p:spPr>
          <a:xfrm flipH="1">
            <a:off x="11239500" y="5493395"/>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v"/>
          <p:cNvCxnSpPr/>
          <p:nvPr/>
        </p:nvCxnSpPr>
        <p:spPr>
          <a:xfrm flipV="1">
            <a:off x="11493500" y="5239395"/>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4" name="chart-vis_rank" descr="vis_rank.png"/>
          <p:cNvPicPr>
            <a:picLocks noChangeAspect="1"/>
          </p:cNvPicPr>
          <p:nvPr/>
        </p:nvPicPr>
        <p:blipFill>
          <a:blip r:embed="rId2"/>
          <a:stretch>
            <a:fillRect/>
          </a:stretch>
        </p:blipFill>
        <p:spPr>
          <a:xfrm>
            <a:off x="4787900" y="1453504"/>
            <a:ext cx="6553200" cy="3887491"/>
          </a:xfrm>
          <a:prstGeom prst="rect">
            <a:avLst/>
          </a:prstGeom>
        </p:spPr>
      </p:pic>
      <p:cxnSp>
        <p:nvCxnSpPr>
          <p:cNvPr id="1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12 / 32</a:t>
            </a:r>
          </a:p>
        </p:txBody>
      </p:sp>
      <p:sp>
        <p:nvSpPr>
          <p:cNvPr id="19"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data/processed/vis.csv. n = 40 answers</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Gemini names a wider field: 18 banks against ChatGPT's 11</a:t>
            </a:r>
          </a:p>
        </p:txBody>
      </p:sp>
      <p:sp>
        <p:nvSpPr>
          <p:cNvPr id="3" name="TextBox 2"/>
          <p:cNvSpPr txBox="1"/>
          <p:nvPr/>
        </p:nvSpPr>
        <p:spPr>
          <a:xfrm>
            <a:off x="762000" y="20320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Full-colour circles are banks only one engine named. Gemini alone named Bank BTPN (Jenius) in 5 answers and Superbank in 4.</a:t>
            </a:r>
          </a:p>
        </p:txBody>
      </p:sp>
      <p:sp>
        <p:nvSpPr>
          <p:cNvPr id="4" name="ground-panel"/>
          <p:cNvSpPr/>
          <p:nvPr/>
        </p:nvSpPr>
        <p:spPr>
          <a:xfrm>
            <a:off x="1166988" y="2679700"/>
            <a:ext cx="9858022" cy="32893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1103488" y="26162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1103488" y="26162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0834511" y="26162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088511" y="26162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1103488"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1103488"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0834511"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088511"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wider_field" descr="wider_field.png"/>
          <p:cNvPicPr>
            <a:picLocks noChangeAspect="1"/>
          </p:cNvPicPr>
          <p:nvPr/>
        </p:nvPicPr>
        <p:blipFill>
          <a:blip r:embed="rId2"/>
          <a:stretch>
            <a:fillRect/>
          </a:stretch>
        </p:blipFill>
        <p:spPr>
          <a:xfrm>
            <a:off x="1255888" y="2768600"/>
            <a:ext cx="9680222" cy="3111500"/>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13 / 32</a:t>
            </a:r>
          </a:p>
        </p:txBody>
      </p:sp>
      <p:sp>
        <p:nvSpPr>
          <p:cNvPr id="18"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data/processed/brand_engine.csv. n = 20 answers per engine</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No bank leads every customer need, and no lead is more than one answer</a:t>
            </a:r>
          </a:p>
        </p:txBody>
      </p:sp>
      <p:sp>
        <p:nvSpPr>
          <p:cNvPr id="3" name="TextBox 2"/>
          <p:cNvSpPr txBox="1"/>
          <p:nvPr/>
        </p:nvSpPr>
        <p:spPr>
          <a:xfrm>
            <a:off x="762000" y="2032000"/>
            <a:ext cx="8890000" cy="800099"/>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Counted on the 17 prompts that name no bank. Fees and rates: Bank Jago, Krom Bank and SeaBank, 6 of 8. Digital experience: Bank Jago and SeaBank, 6 of 6. Safety: Bank Jago, 5 of 8. Service: BCA, 4 of 6. Trust: BCA, 3 of 6.</a:t>
            </a:r>
          </a:p>
        </p:txBody>
      </p:sp>
      <p:sp>
        <p:nvSpPr>
          <p:cNvPr id="4" name="ground-panel"/>
          <p:cNvSpPr/>
          <p:nvPr/>
        </p:nvSpPr>
        <p:spPr>
          <a:xfrm>
            <a:off x="1739900" y="2946400"/>
            <a:ext cx="8712200" cy="30226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1676400" y="28829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1676400" y="28829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0261600" y="28829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0515600" y="28829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1676400"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1676400"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0261600"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0515600"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pillar_heatmap" descr="pillar_heatmap.png"/>
          <p:cNvPicPr>
            <a:picLocks noChangeAspect="1"/>
          </p:cNvPicPr>
          <p:nvPr/>
        </p:nvPicPr>
        <p:blipFill>
          <a:blip r:embed="rId2"/>
          <a:stretch>
            <a:fillRect/>
          </a:stretch>
        </p:blipFill>
        <p:spPr>
          <a:xfrm>
            <a:off x="1828800" y="3035300"/>
            <a:ext cx="8534400" cy="2844800"/>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14 / 32</a:t>
            </a:r>
          </a:p>
        </p:txBody>
      </p:sp>
      <p:sp>
        <p:nvSpPr>
          <p:cNvPr id="18"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data/interim/answers.csv, mentions.csv. Share of a need's answers that name the bank. n = 34 answers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241807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Banks named in more answers also get named earlier</a:t>
            </a:r>
          </a:p>
        </p:txBody>
      </p:sp>
      <p:sp>
        <p:nvSpPr>
          <p:cNvPr id="3" name="TextBox 2"/>
          <p:cNvSpPr txBox="1"/>
          <p:nvPr/>
        </p:nvSpPr>
        <p:spPr>
          <a:xfrm>
            <a:off x="762000" y="3548379"/>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BCA and Bank Jago lead on both measures.</a:t>
            </a:r>
          </a:p>
        </p:txBody>
      </p:sp>
      <p:sp>
        <p:nvSpPr>
          <p:cNvPr id="4" name="TextBox 3"/>
          <p:cNvSpPr txBox="1"/>
          <p:nvPr/>
        </p:nvSpPr>
        <p:spPr>
          <a:xfrm>
            <a:off x="762000" y="4170679"/>
            <a:ext cx="3683000" cy="10668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BRI scores higher on PAWC than SeaBank while appearing in fewer answers: when BRI is named, it takes up more of the answer.</a:t>
            </a:r>
          </a:p>
        </p:txBody>
      </p:sp>
      <p:sp>
        <p:nvSpPr>
          <p:cNvPr id="5" name="ground-panel"/>
          <p:cNvSpPr/>
          <p:nvPr/>
        </p:nvSpPr>
        <p:spPr>
          <a:xfrm>
            <a:off x="4699000" y="1531211"/>
            <a:ext cx="6731000" cy="3732077"/>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motif-bracket-tl-h"/>
          <p:cNvCxnSpPr/>
          <p:nvPr/>
        </p:nvCxnSpPr>
        <p:spPr>
          <a:xfrm>
            <a:off x="4635500" y="146771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l-v"/>
          <p:cNvCxnSpPr/>
          <p:nvPr/>
        </p:nvCxnSpPr>
        <p:spPr>
          <a:xfrm>
            <a:off x="4635500" y="146771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h"/>
          <p:cNvCxnSpPr/>
          <p:nvPr/>
        </p:nvCxnSpPr>
        <p:spPr>
          <a:xfrm flipH="1">
            <a:off x="11239500" y="146771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v"/>
          <p:cNvCxnSpPr/>
          <p:nvPr/>
        </p:nvCxnSpPr>
        <p:spPr>
          <a:xfrm>
            <a:off x="11493500" y="146771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h"/>
          <p:cNvCxnSpPr/>
          <p:nvPr/>
        </p:nvCxnSpPr>
        <p:spPr>
          <a:xfrm>
            <a:off x="4635500" y="532678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v"/>
          <p:cNvCxnSpPr/>
          <p:nvPr/>
        </p:nvCxnSpPr>
        <p:spPr>
          <a:xfrm flipV="1">
            <a:off x="4635500" y="507278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h"/>
          <p:cNvCxnSpPr/>
          <p:nvPr/>
        </p:nvCxnSpPr>
        <p:spPr>
          <a:xfrm flipH="1">
            <a:off x="11239500" y="532678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v"/>
          <p:cNvCxnSpPr/>
          <p:nvPr/>
        </p:nvCxnSpPr>
        <p:spPr>
          <a:xfrm flipV="1">
            <a:off x="11493500" y="507278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4" name="chart-often_vs_early" descr="often_vs_early.png"/>
          <p:cNvPicPr>
            <a:picLocks noChangeAspect="1"/>
          </p:cNvPicPr>
          <p:nvPr/>
        </p:nvPicPr>
        <p:blipFill>
          <a:blip r:embed="rId2"/>
          <a:stretch>
            <a:fillRect/>
          </a:stretch>
        </p:blipFill>
        <p:spPr>
          <a:xfrm>
            <a:off x="4787900" y="1620111"/>
            <a:ext cx="6553200" cy="3554277"/>
          </a:xfrm>
          <a:prstGeom prst="rect">
            <a:avLst/>
          </a:prstGeom>
        </p:spPr>
      </p:pic>
      <p:cxnSp>
        <p:nvCxnSpPr>
          <p:cNvPr id="1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15 / 32</a:t>
            </a:r>
          </a:p>
        </p:txBody>
      </p:sp>
      <p:sp>
        <p:nvSpPr>
          <p:cNvPr id="19"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data/processed/brand_engine.csv. Banks named in at least 3 answers. n = 40 answers</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5334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No answer was negative about a bank</a:t>
            </a:r>
          </a:p>
        </p:txBody>
      </p:sp>
      <p:sp>
        <p:nvSpPr>
          <p:cNvPr id="3" name="TextBox 2"/>
          <p:cNvSpPr txBox="1"/>
          <p:nvPr/>
        </p:nvSpPr>
        <p:spPr>
          <a:xfrm>
            <a:off x="762000" y="14986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Of 137 answer and bank pairs, 117 are positive. The 6 mixed labels attach a condition, such as a minimum balance for free transfers.</a:t>
            </a:r>
          </a:p>
        </p:txBody>
      </p:sp>
      <p:sp>
        <p:nvSpPr>
          <p:cNvPr id="4" name="ground-panel"/>
          <p:cNvSpPr/>
          <p:nvPr/>
        </p:nvSpPr>
        <p:spPr>
          <a:xfrm>
            <a:off x="762000" y="2782358"/>
            <a:ext cx="10668000" cy="2550583"/>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698500" y="271885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698500" y="271885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1239500" y="271885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493500" y="271885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698500" y="539644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698500" y="514244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1239500" y="539644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493500" y="514244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sentiment_marks" descr="sentiment_marks.png"/>
          <p:cNvPicPr>
            <a:picLocks noChangeAspect="1"/>
          </p:cNvPicPr>
          <p:nvPr/>
        </p:nvPicPr>
        <p:blipFill>
          <a:blip r:embed="rId2"/>
          <a:stretch>
            <a:fillRect/>
          </a:stretch>
        </p:blipFill>
        <p:spPr>
          <a:xfrm>
            <a:off x="850900" y="2871258"/>
            <a:ext cx="10490200" cy="2372783"/>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16 / 32</a:t>
            </a:r>
          </a:p>
        </p:txBody>
      </p:sp>
      <p:sp>
        <p:nvSpPr>
          <p:cNvPr id="18"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data/labels/sentiment.csv. Labelled by Claude, spot-checked by RG. n = 137 pairs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181355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How-to answers rarely name a bank</a:t>
            </a:r>
          </a:p>
        </p:txBody>
      </p:sp>
      <p:sp>
        <p:nvSpPr>
          <p:cNvPr id="3" name="TextBox 2"/>
          <p:cNvSpPr txBox="1"/>
          <p:nvPr/>
        </p:nvSpPr>
        <p:spPr>
          <a:xfrm>
            <a:off x="762000" y="294386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Every best and decision-brief answer named at least one bank.</a:t>
            </a:r>
          </a:p>
        </p:txBody>
      </p:sp>
      <p:sp>
        <p:nvSpPr>
          <p:cNvPr id="4" name="TextBox 3"/>
          <p:cNvSpPr txBox="1"/>
          <p:nvPr/>
        </p:nvSpPr>
        <p:spPr>
          <a:xfrm>
            <a:off x="762000" y="3566159"/>
            <a:ext cx="3683000" cy="10668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Only 1 of 6 how-to answers did. Explainers on deposit insurance, scams and complaints look like a gap for banks.</a:t>
            </a:r>
          </a:p>
        </p:txBody>
      </p:sp>
      <p:sp>
        <p:nvSpPr>
          <p:cNvPr id="5" name="ground-panel"/>
          <p:cNvSpPr/>
          <p:nvPr/>
        </p:nvSpPr>
        <p:spPr>
          <a:xfrm>
            <a:off x="4699000" y="1878560"/>
            <a:ext cx="6731000" cy="3037378"/>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motif-bracket-tl-h"/>
          <p:cNvCxnSpPr/>
          <p:nvPr/>
        </p:nvCxnSpPr>
        <p:spPr>
          <a:xfrm>
            <a:off x="4635500" y="181506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l-v"/>
          <p:cNvCxnSpPr/>
          <p:nvPr/>
        </p:nvCxnSpPr>
        <p:spPr>
          <a:xfrm>
            <a:off x="4635500" y="181506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h"/>
          <p:cNvCxnSpPr/>
          <p:nvPr/>
        </p:nvCxnSpPr>
        <p:spPr>
          <a:xfrm flipH="1">
            <a:off x="11239500" y="181506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v"/>
          <p:cNvCxnSpPr/>
          <p:nvPr/>
        </p:nvCxnSpPr>
        <p:spPr>
          <a:xfrm>
            <a:off x="11493500" y="181506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h"/>
          <p:cNvCxnSpPr/>
          <p:nvPr/>
        </p:nvCxnSpPr>
        <p:spPr>
          <a:xfrm>
            <a:off x="4635500" y="4979439"/>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v"/>
          <p:cNvCxnSpPr/>
          <p:nvPr/>
        </p:nvCxnSpPr>
        <p:spPr>
          <a:xfrm flipV="1">
            <a:off x="4635500" y="4725439"/>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h"/>
          <p:cNvCxnSpPr/>
          <p:nvPr/>
        </p:nvCxnSpPr>
        <p:spPr>
          <a:xfrm flipH="1">
            <a:off x="11239500" y="4979439"/>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v"/>
          <p:cNvCxnSpPr/>
          <p:nvPr/>
        </p:nvCxnSpPr>
        <p:spPr>
          <a:xfrm flipV="1">
            <a:off x="11493500" y="4725439"/>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4" name="chart-intent_named" descr="intent_named.png"/>
          <p:cNvPicPr>
            <a:picLocks noChangeAspect="1"/>
          </p:cNvPicPr>
          <p:nvPr/>
        </p:nvPicPr>
        <p:blipFill>
          <a:blip r:embed="rId2"/>
          <a:stretch>
            <a:fillRect/>
          </a:stretch>
        </p:blipFill>
        <p:spPr>
          <a:xfrm>
            <a:off x="4787900" y="1967460"/>
            <a:ext cx="6553200" cy="2859578"/>
          </a:xfrm>
          <a:prstGeom prst="rect">
            <a:avLst/>
          </a:prstGeom>
        </p:spPr>
      </p:pic>
      <p:cxnSp>
        <p:nvCxnSpPr>
          <p:cNvPr id="1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 The answers</a:t>
            </a:r>
          </a:p>
        </p:txBody>
      </p:sp>
      <p:cxnSp>
        <p:nvCxnSpPr>
          <p:cNvPr id="1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17 / 32</a:t>
            </a:r>
          </a:p>
        </p:txBody>
      </p:sp>
      <p:sp>
        <p:nvSpPr>
          <p:cNvPr id="19"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data/processed/no_brand_rate.csv. n = 40 answers</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photo-slot"/>
          <p:cNvSpPr/>
          <p:nvPr/>
        </p:nvSpPr>
        <p:spPr>
          <a:xfrm>
            <a:off x="0" y="0"/>
            <a:ext cx="12192000" cy="6858000"/>
          </a:xfrm>
          <a:prstGeom prst="rect">
            <a:avLst/>
          </a:prstGeom>
          <a:solidFill>
            <a:srgbClr val="1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ground-fade" descr="ground-fade-1400-360.png"/>
          <p:cNvPicPr>
            <a:picLocks noChangeAspect="1"/>
          </p:cNvPicPr>
          <p:nvPr/>
        </p:nvPicPr>
        <p:blipFill>
          <a:blip r:embed="rId2"/>
          <a:stretch>
            <a:fillRect/>
          </a:stretch>
        </p:blipFill>
        <p:spPr>
          <a:xfrm>
            <a:off x="0" y="0"/>
            <a:ext cx="8890000" cy="6858000"/>
          </a:xfrm>
          <a:prstGeom prst="rect">
            <a:avLst/>
          </a:prstGeom>
        </p:spPr>
      </p:pic>
      <p:cxnSp>
        <p:nvCxnSpPr>
          <p:cNvPr id="4" name="motif-line-corridor-corner-0"/>
          <p:cNvCxnSpPr/>
          <p:nvPr/>
        </p:nvCxnSpPr>
        <p:spPr>
          <a:xfrm>
            <a:off x="6731000" y="0"/>
            <a:ext cx="2413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5" name="motif-line-corridor-corner-1"/>
          <p:cNvCxnSpPr/>
          <p:nvPr/>
        </p:nvCxnSpPr>
        <p:spPr>
          <a:xfrm flipH="1">
            <a:off x="10668000" y="0"/>
            <a:ext cx="1524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line-corridor-corner-2"/>
          <p:cNvCxnSpPr/>
          <p:nvPr/>
        </p:nvCxnSpPr>
        <p:spPr>
          <a:xfrm flipV="1">
            <a:off x="6731000" y="4064000"/>
            <a:ext cx="2413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line-corridor-corner-3"/>
          <p:cNvCxnSpPr/>
          <p:nvPr/>
        </p:nvCxnSpPr>
        <p:spPr>
          <a:xfrm flipH="1" flipV="1">
            <a:off x="10668000" y="4064000"/>
            <a:ext cx="1524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line-corridor-top-1"/>
          <p:cNvCxnSpPr/>
          <p:nvPr/>
        </p:nvCxnSpPr>
        <p:spPr>
          <a:xfrm>
            <a:off x="7823200" y="0"/>
            <a:ext cx="1625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line-corridor-floor-1"/>
          <p:cNvCxnSpPr/>
          <p:nvPr/>
        </p:nvCxnSpPr>
        <p:spPr>
          <a:xfrm flipV="1">
            <a:off x="7823200" y="4064000"/>
            <a:ext cx="1625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line-corridor-top-2"/>
          <p:cNvCxnSpPr/>
          <p:nvPr/>
        </p:nvCxnSpPr>
        <p:spPr>
          <a:xfrm>
            <a:off x="8915400" y="0"/>
            <a:ext cx="8382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line-corridor-floor-2"/>
          <p:cNvCxnSpPr/>
          <p:nvPr/>
        </p:nvCxnSpPr>
        <p:spPr>
          <a:xfrm flipV="1">
            <a:off x="8915400" y="4064000"/>
            <a:ext cx="8382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line-corridor-top-3"/>
          <p:cNvCxnSpPr/>
          <p:nvPr/>
        </p:nvCxnSpPr>
        <p:spPr>
          <a:xfrm>
            <a:off x="10007600" y="0"/>
            <a:ext cx="508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corridor-floor-3"/>
          <p:cNvCxnSpPr/>
          <p:nvPr/>
        </p:nvCxnSpPr>
        <p:spPr>
          <a:xfrm flipV="1">
            <a:off x="10007600" y="4064000"/>
            <a:ext cx="508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line-corridor-top-4"/>
          <p:cNvCxnSpPr/>
          <p:nvPr/>
        </p:nvCxnSpPr>
        <p:spPr>
          <a:xfrm flipH="1">
            <a:off x="10363200" y="0"/>
            <a:ext cx="736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line-corridor-floor-4"/>
          <p:cNvCxnSpPr/>
          <p:nvPr/>
        </p:nvCxnSpPr>
        <p:spPr>
          <a:xfrm flipH="1" flipV="1">
            <a:off x="10363200" y="4064000"/>
            <a:ext cx="736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line-corridor-right-1"/>
          <p:cNvCxnSpPr/>
          <p:nvPr/>
        </p:nvCxnSpPr>
        <p:spPr>
          <a:xfrm flipH="1">
            <a:off x="10668000" y="1714500"/>
            <a:ext cx="1524000" cy="1301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7" name="motif-line-corridor-right-2"/>
          <p:cNvCxnSpPr/>
          <p:nvPr/>
        </p:nvCxnSpPr>
        <p:spPr>
          <a:xfrm flipH="1" flipV="1">
            <a:off x="10668000" y="3365500"/>
            <a:ext cx="1524000" cy="635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8" name="motif-line-corridor-right-3"/>
          <p:cNvCxnSpPr/>
          <p:nvPr/>
        </p:nvCxnSpPr>
        <p:spPr>
          <a:xfrm flipH="1" flipV="1">
            <a:off x="10668000" y="3714750"/>
            <a:ext cx="1524000" cy="1428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9" name="motif-line-depth-1-t"/>
          <p:cNvCxnSpPr/>
          <p:nvPr/>
        </p:nvCxnSpPr>
        <p:spPr>
          <a:xfrm>
            <a:off x="7937500" y="1333500"/>
            <a:ext cx="349250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0" name="motif-line-depth-1-b"/>
          <p:cNvCxnSpPr/>
          <p:nvPr/>
        </p:nvCxnSpPr>
        <p:spPr>
          <a:xfrm>
            <a:off x="7937500" y="5461000"/>
            <a:ext cx="349250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1" name="motif-line-depth-1-l"/>
          <p:cNvCxnSpPr/>
          <p:nvPr/>
        </p:nvCxnSpPr>
        <p:spPr>
          <a:xfrm>
            <a:off x="7937500" y="1333500"/>
            <a:ext cx="0" cy="412750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2" name="motif-line-depth-1-r"/>
          <p:cNvCxnSpPr/>
          <p:nvPr/>
        </p:nvCxnSpPr>
        <p:spPr>
          <a:xfrm>
            <a:off x="11430000" y="1333500"/>
            <a:ext cx="0" cy="412750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3" name="motif-line-depth-2-t"/>
          <p:cNvCxnSpPr/>
          <p:nvPr/>
        </p:nvCxnSpPr>
        <p:spPr>
          <a:xfrm>
            <a:off x="8540750" y="2000250"/>
            <a:ext cx="250825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4" name="motif-line-depth-2-b"/>
          <p:cNvCxnSpPr/>
          <p:nvPr/>
        </p:nvCxnSpPr>
        <p:spPr>
          <a:xfrm>
            <a:off x="8540750" y="4762500"/>
            <a:ext cx="250825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5" name="motif-line-depth-2-l"/>
          <p:cNvCxnSpPr/>
          <p:nvPr/>
        </p:nvCxnSpPr>
        <p:spPr>
          <a:xfrm>
            <a:off x="8540750" y="2000250"/>
            <a:ext cx="0" cy="276225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6" name="motif-line-depth-2-r"/>
          <p:cNvCxnSpPr/>
          <p:nvPr/>
        </p:nvCxnSpPr>
        <p:spPr>
          <a:xfrm>
            <a:off x="11049000" y="2000250"/>
            <a:ext cx="0" cy="276225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7" name="motif-line-depth-3-t"/>
          <p:cNvCxnSpPr/>
          <p:nvPr/>
        </p:nvCxnSpPr>
        <p:spPr>
          <a:xfrm>
            <a:off x="8842375" y="2333625"/>
            <a:ext cx="2016125"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8" name="motif-line-depth-3-b"/>
          <p:cNvCxnSpPr/>
          <p:nvPr/>
        </p:nvCxnSpPr>
        <p:spPr>
          <a:xfrm>
            <a:off x="8842375" y="4413250"/>
            <a:ext cx="2016125"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29" name="motif-line-depth-3-l"/>
          <p:cNvCxnSpPr/>
          <p:nvPr/>
        </p:nvCxnSpPr>
        <p:spPr>
          <a:xfrm>
            <a:off x="8842375" y="2333625"/>
            <a:ext cx="0" cy="2079625"/>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0" name="motif-line-depth-3-r"/>
          <p:cNvCxnSpPr/>
          <p:nvPr/>
        </p:nvCxnSpPr>
        <p:spPr>
          <a:xfrm>
            <a:off x="10858500" y="2333625"/>
            <a:ext cx="0" cy="2079625"/>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62000" y="1410970"/>
            <a:ext cx="5588000" cy="320040"/>
          </a:xfrm>
          <a:prstGeom prst="rect">
            <a:avLst/>
          </a:prstGeom>
          <a:noFill/>
        </p:spPr>
        <p:txBody>
          <a:bodyPr wrap="square" lIns="0" rIns="0" tIns="0" bIns="0" anchor="t">
            <a:spAutoFit/>
          </a:bodyPr>
          <a:lstStyle/>
          <a:p>
            <a:pPr algn="l">
              <a:lnSpc>
                <a:spcPct val="115000"/>
              </a:lnSpc>
            </a:pPr>
            <a:r>
              <a:rPr sz="1800" b="0">
                <a:solidFill>
                  <a:srgbClr val="AFC0D8"/>
                </a:solidFill>
                <a:latin typeface="Plus Jakarta Sans"/>
              </a:rPr>
              <a:t>Part III</a:t>
            </a:r>
          </a:p>
        </p:txBody>
      </p:sp>
      <p:cxnSp>
        <p:nvCxnSpPr>
          <p:cNvPr id="32" name="motif-line-card-rule"/>
          <p:cNvCxnSpPr/>
          <p:nvPr/>
        </p:nvCxnSpPr>
        <p:spPr>
          <a:xfrm>
            <a:off x="762000" y="1858010"/>
            <a:ext cx="3048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62000" y="1985010"/>
            <a:ext cx="5588000" cy="2844800"/>
          </a:xfrm>
          <a:prstGeom prst="rect">
            <a:avLst/>
          </a:prstGeom>
          <a:noFill/>
        </p:spPr>
        <p:txBody>
          <a:bodyPr wrap="square" lIns="0" rIns="0" tIns="0" bIns="0" anchor="t">
            <a:spAutoFit/>
          </a:bodyPr>
          <a:lstStyle/>
          <a:p>
            <a:pPr algn="l">
              <a:lnSpc>
                <a:spcPct val="115000"/>
              </a:lnSpc>
            </a:pPr>
            <a:r>
              <a:rPr sz="8000" b="1">
                <a:solidFill>
                  <a:srgbClr val="F4F6FA"/>
                </a:solidFill>
                <a:latin typeface="Plus Jakarta Sans"/>
              </a:rPr>
              <a:t>The sources</a:t>
            </a:r>
          </a:p>
        </p:txBody>
      </p:sp>
      <p:sp>
        <p:nvSpPr>
          <p:cNvPr id="34" name="TextBox 33"/>
          <p:cNvSpPr txBox="1"/>
          <p:nvPr/>
        </p:nvSpPr>
        <p:spPr>
          <a:xfrm>
            <a:off x="762000" y="5020310"/>
            <a:ext cx="5588000" cy="426719"/>
          </a:xfrm>
          <a:prstGeom prst="rect">
            <a:avLst/>
          </a:prstGeom>
          <a:noFill/>
        </p:spPr>
        <p:txBody>
          <a:bodyPr wrap="square" lIns="0" rIns="0" tIns="0" bIns="0" anchor="t">
            <a:spAutoFit/>
          </a:bodyPr>
          <a:lstStyle/>
          <a:p>
            <a:pPr algn="l">
              <a:lnSpc>
                <a:spcPct val="115000"/>
              </a:lnSpc>
            </a:pPr>
            <a:r>
              <a:rPr sz="2400" b="0">
                <a:solidFill>
                  <a:srgbClr val="AFC0D8"/>
                </a:solidFill>
                <a:latin typeface="Plus Jakarta Sans"/>
              </a:rPr>
              <a:t>Which pages each engine cites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ChatGPT cites banks and regulators. Gemini cites fintech, blog and news sites.</a:t>
            </a:r>
          </a:p>
        </p:txBody>
      </p:sp>
      <p:sp>
        <p:nvSpPr>
          <p:cNvPr id="3" name="TextBox 2"/>
          <p:cNvSpPr txBox="1"/>
          <p:nvPr/>
        </p:nvSpPr>
        <p:spPr>
          <a:xfrm>
            <a:off x="762000" y="20320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89% of ChatGPT's citations go to bank and regulator sites. 61% of Gemini's go to fintech platforms, blogs and news.</a:t>
            </a:r>
          </a:p>
        </p:txBody>
      </p:sp>
      <p:sp>
        <p:nvSpPr>
          <p:cNvPr id="4" name="ground-panel"/>
          <p:cNvSpPr/>
          <p:nvPr/>
        </p:nvSpPr>
        <p:spPr>
          <a:xfrm>
            <a:off x="762000" y="2799291"/>
            <a:ext cx="10668000" cy="3050116"/>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698500" y="273579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698500" y="273579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1239500" y="273579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493500" y="273579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698500" y="591290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698500" y="565890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1239500" y="591290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493500" y="565890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source_mix" descr="source_mix.png"/>
          <p:cNvPicPr>
            <a:picLocks noChangeAspect="1"/>
          </p:cNvPicPr>
          <p:nvPr/>
        </p:nvPicPr>
        <p:blipFill>
          <a:blip r:embed="rId2"/>
          <a:stretch>
            <a:fillRect/>
          </a:stretch>
        </p:blipFill>
        <p:spPr>
          <a:xfrm>
            <a:off x="850900" y="2888191"/>
            <a:ext cx="10490200" cy="2872316"/>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19 / 32</a:t>
            </a:r>
          </a:p>
        </p:txBody>
      </p:sp>
      <p:sp>
        <p:nvSpPr>
          <p:cNvPr id="18"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data/processed/domain_type_mix.csv. Shares rounded on their own, sums can differ by 1 point. n = 199 and 200 citations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2489200"/>
          </a:xfrm>
          <a:prstGeom prst="rect">
            <a:avLst/>
          </a:prstGeom>
          <a:noFill/>
        </p:spPr>
        <p:txBody>
          <a:bodyPr wrap="square" lIns="0" rIns="0" tIns="0" bIns="0" anchor="t">
            <a:spAutoFit/>
          </a:bodyPr>
          <a:lstStyle/>
          <a:p>
            <a:pPr algn="l">
              <a:lnSpc>
                <a:spcPct val="115000"/>
              </a:lnSpc>
            </a:pPr>
            <a:r>
              <a:rPr sz="2800" b="1">
                <a:solidFill>
                  <a:srgbClr val="F4F6FA"/>
                </a:solidFill>
                <a:latin typeface="Plus Jakarta Sans"/>
              </a:rPr>
              <a:t>The engines share sites more than pages: 21 of 97 sites, 11 of 243 pages</a:t>
            </a:r>
          </a:p>
        </p:txBody>
      </p:sp>
      <p:sp>
        <p:nvSpPr>
          <p:cNvPr id="3" name="TextBox 2"/>
          <p:cNvSpPr txBox="1"/>
          <p:nvPr/>
        </p:nvSpPr>
        <p:spPr>
          <a:xfrm>
            <a:off x="762000" y="3619500"/>
            <a:ext cx="3683000" cy="995679"/>
          </a:xfrm>
          <a:prstGeom prst="rect">
            <a:avLst/>
          </a:prstGeom>
          <a:noFill/>
        </p:spPr>
        <p:txBody>
          <a:bodyPr wrap="square" lIns="0" rIns="0" tIns="0" bIns="0" anchor="t">
            <a:spAutoFit/>
          </a:bodyPr>
          <a:lstStyle/>
          <a:p>
            <a:pPr algn="l">
              <a:lnSpc>
                <a:spcPct val="115000"/>
              </a:lnSpc>
            </a:pPr>
            <a:r>
              <a:rPr sz="1400" b="0">
                <a:solidFill>
                  <a:srgbClr val="AFC0D8"/>
                </a:solidFill>
                <a:latin typeface="Plus Jakarta Sans"/>
              </a:rPr>
              <a:t>21 of ChatGPT's 46 sites are also cited by Gemini, but rarely the same page. The Jaccard overlap is 0.22 for sites and 0.05 for pages.</a:t>
            </a:r>
          </a:p>
        </p:txBody>
      </p:sp>
      <p:sp>
        <p:nvSpPr>
          <p:cNvPr id="4" name="TextBox 3"/>
          <p:cNvSpPr txBox="1"/>
          <p:nvPr/>
        </p:nvSpPr>
        <p:spPr>
          <a:xfrm>
            <a:off x="762000" y="4704080"/>
            <a:ext cx="3683000" cy="995679"/>
          </a:xfrm>
          <a:prstGeom prst="rect">
            <a:avLst/>
          </a:prstGeom>
          <a:noFill/>
        </p:spPr>
        <p:txBody>
          <a:bodyPr wrap="square" lIns="0" rIns="0" tIns="0" bIns="0" anchor="t">
            <a:spAutoFit/>
          </a:bodyPr>
          <a:lstStyle/>
          <a:p>
            <a:pPr algn="l">
              <a:lnSpc>
                <a:spcPct val="115000"/>
              </a:lnSpc>
            </a:pPr>
            <a:r>
              <a:rPr sz="1400" b="0">
                <a:solidFill>
                  <a:srgbClr val="AFC0D8"/>
                </a:solidFill>
                <a:latin typeface="Plus Jakarta Sans"/>
              </a:rPr>
              <a:t>Writesonic found 0.119 between ChatGPT and Gemini across 88,969 prompts, without saying whether it compared pages or sites.</a:t>
            </a:r>
          </a:p>
        </p:txBody>
      </p:sp>
      <p:sp>
        <p:nvSpPr>
          <p:cNvPr id="5" name="ground-panel"/>
          <p:cNvSpPr/>
          <p:nvPr/>
        </p:nvSpPr>
        <p:spPr>
          <a:xfrm>
            <a:off x="4699000" y="1640262"/>
            <a:ext cx="6731000" cy="3513974"/>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motif-bracket-tl-h"/>
          <p:cNvCxnSpPr/>
          <p:nvPr/>
        </p:nvCxnSpPr>
        <p:spPr>
          <a:xfrm>
            <a:off x="4635500" y="157676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l-v"/>
          <p:cNvCxnSpPr/>
          <p:nvPr/>
        </p:nvCxnSpPr>
        <p:spPr>
          <a:xfrm>
            <a:off x="4635500" y="157676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h"/>
          <p:cNvCxnSpPr/>
          <p:nvPr/>
        </p:nvCxnSpPr>
        <p:spPr>
          <a:xfrm flipH="1">
            <a:off x="11239500" y="157676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v"/>
          <p:cNvCxnSpPr/>
          <p:nvPr/>
        </p:nvCxnSpPr>
        <p:spPr>
          <a:xfrm>
            <a:off x="11493500" y="157676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h"/>
          <p:cNvCxnSpPr/>
          <p:nvPr/>
        </p:nvCxnSpPr>
        <p:spPr>
          <a:xfrm>
            <a:off x="4635500" y="5217737"/>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v"/>
          <p:cNvCxnSpPr/>
          <p:nvPr/>
        </p:nvCxnSpPr>
        <p:spPr>
          <a:xfrm flipV="1">
            <a:off x="4635500" y="4963737"/>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h"/>
          <p:cNvCxnSpPr/>
          <p:nvPr/>
        </p:nvCxnSpPr>
        <p:spPr>
          <a:xfrm flipH="1">
            <a:off x="11239500" y="5217737"/>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v"/>
          <p:cNvCxnSpPr/>
          <p:nvPr/>
        </p:nvCxnSpPr>
        <p:spPr>
          <a:xfrm flipV="1">
            <a:off x="11493500" y="4963737"/>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4" name="chart-overlap" descr="overlap.png"/>
          <p:cNvPicPr>
            <a:picLocks noChangeAspect="1"/>
          </p:cNvPicPr>
          <p:nvPr/>
        </p:nvPicPr>
        <p:blipFill>
          <a:blip r:embed="rId2"/>
          <a:stretch>
            <a:fillRect/>
          </a:stretch>
        </p:blipFill>
        <p:spPr>
          <a:xfrm>
            <a:off x="4787900" y="1729162"/>
            <a:ext cx="6553200" cy="3336174"/>
          </a:xfrm>
          <a:prstGeom prst="rect">
            <a:avLst/>
          </a:prstGeom>
        </p:spPr>
      </p:pic>
      <p:cxnSp>
        <p:nvCxnSpPr>
          <p:cNvPr id="1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20 / 32</a:t>
            </a:r>
          </a:p>
        </p:txBody>
      </p:sp>
      <p:sp>
        <p:nvSpPr>
          <p:cNvPr id="19"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data/interim/citations.csv. Writesonic, AI citation source overlap study. n = 97 sites, 243 pages</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Most cited sites: ChatGPT on the left, Gemini on the right</a:t>
            </a:r>
          </a:p>
        </p:txBody>
      </p:sp>
      <p:sp>
        <p:nvSpPr>
          <p:cNvPr id="3" name="TextBox 2"/>
          <p:cNvSpPr txBox="1"/>
          <p:nvPr/>
        </p:nvSpPr>
        <p:spPr>
          <a:xfrm>
            <a:off x="762000" y="2032000"/>
            <a:ext cx="8890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Bank and regulator sites lead for ChatGPT. Fazz, Akulaku and Zaipad are cited only by Gemini.</a:t>
            </a:r>
          </a:p>
        </p:txBody>
      </p:sp>
      <p:sp>
        <p:nvSpPr>
          <p:cNvPr id="4" name="ground-panel"/>
          <p:cNvSpPr/>
          <p:nvPr/>
        </p:nvSpPr>
        <p:spPr>
          <a:xfrm>
            <a:off x="1707572" y="2413000"/>
            <a:ext cx="8776854" cy="35560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1644072" y="2349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1644072" y="2349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0293927" y="2349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0547927" y="2349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1644072"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1644072"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0293927"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0547927"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mirror_sites" descr="mirror_sites.png"/>
          <p:cNvPicPr>
            <a:picLocks noChangeAspect="1"/>
          </p:cNvPicPr>
          <p:nvPr/>
        </p:nvPicPr>
        <p:blipFill>
          <a:blip r:embed="rId2"/>
          <a:stretch>
            <a:fillRect/>
          </a:stretch>
        </p:blipFill>
        <p:spPr>
          <a:xfrm>
            <a:off x="1796472" y="2501900"/>
            <a:ext cx="8599054" cy="3378200"/>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21 / 32</a:t>
            </a:r>
          </a:p>
        </p:txBody>
      </p:sp>
      <p:sp>
        <p:nvSpPr>
          <p:cNvPr id="18"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data/processed/domains.csv. Top sites by citations. n = 399 citations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889000"/>
            <a:ext cx="10668000" cy="10668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A few comparison articles appear across Gemini's answers</a:t>
            </a:r>
          </a:p>
        </p:txBody>
      </p:sp>
      <p:sp>
        <p:nvSpPr>
          <p:cNvPr id="3" name="TextBox 2"/>
          <p:cNvSpPr txBox="1"/>
          <p:nvPr/>
        </p:nvSpPr>
        <p:spPr>
          <a:xfrm>
            <a:off x="762000" y="20320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One Akulaku article is cited in 14 of Gemini's 20 answers, one Zaipad article in 12, and Fazz articles 20 times across 15 answers. ChatGPT cites none of them.</a:t>
            </a:r>
          </a:p>
        </p:txBody>
      </p:sp>
      <p:sp>
        <p:nvSpPr>
          <p:cNvPr id="4" name="TextBox 3"/>
          <p:cNvSpPr txBox="1"/>
          <p:nvPr/>
        </p:nvSpPr>
        <p:spPr>
          <a:xfrm>
            <a:off x="762000" y="2616200"/>
            <a:ext cx="8890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Akulaku held 27.24% of Bank Neo Commerce in May 2023 (Bisnis). The article has not been checked for bias.</a:t>
            </a:r>
          </a:p>
        </p:txBody>
      </p:sp>
      <p:sp>
        <p:nvSpPr>
          <p:cNvPr id="5" name="ground-panel"/>
          <p:cNvSpPr/>
          <p:nvPr/>
        </p:nvSpPr>
        <p:spPr>
          <a:xfrm>
            <a:off x="2216150" y="3263900"/>
            <a:ext cx="7759700" cy="2705100"/>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motif-bracket-tl-h"/>
          <p:cNvCxnSpPr/>
          <p:nvPr/>
        </p:nvCxnSpPr>
        <p:spPr>
          <a:xfrm>
            <a:off x="2152650" y="32004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l-v"/>
          <p:cNvCxnSpPr/>
          <p:nvPr/>
        </p:nvCxnSpPr>
        <p:spPr>
          <a:xfrm>
            <a:off x="2152650" y="32004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h"/>
          <p:cNvCxnSpPr/>
          <p:nvPr/>
        </p:nvCxnSpPr>
        <p:spPr>
          <a:xfrm flipH="1">
            <a:off x="9785350" y="32004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v"/>
          <p:cNvCxnSpPr/>
          <p:nvPr/>
        </p:nvCxnSpPr>
        <p:spPr>
          <a:xfrm>
            <a:off x="10039350" y="32004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h"/>
          <p:cNvCxnSpPr/>
          <p:nvPr/>
        </p:nvCxnSpPr>
        <p:spPr>
          <a:xfrm>
            <a:off x="2152650"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v"/>
          <p:cNvCxnSpPr/>
          <p:nvPr/>
        </p:nvCxnSpPr>
        <p:spPr>
          <a:xfrm flipV="1">
            <a:off x="2152650"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h"/>
          <p:cNvCxnSpPr/>
          <p:nvPr/>
        </p:nvCxnSpPr>
        <p:spPr>
          <a:xfrm flipH="1">
            <a:off x="9785350" y="6032500"/>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v"/>
          <p:cNvCxnSpPr/>
          <p:nvPr/>
        </p:nvCxnSpPr>
        <p:spPr>
          <a:xfrm flipV="1">
            <a:off x="10039350" y="5778500"/>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4" name="chart-top_pages" descr="top_pages.png"/>
          <p:cNvPicPr>
            <a:picLocks noChangeAspect="1"/>
          </p:cNvPicPr>
          <p:nvPr/>
        </p:nvPicPr>
        <p:blipFill>
          <a:blip r:embed="rId2"/>
          <a:stretch>
            <a:fillRect/>
          </a:stretch>
        </p:blipFill>
        <p:spPr>
          <a:xfrm>
            <a:off x="2305050" y="3352800"/>
            <a:ext cx="7581900" cy="2527300"/>
          </a:xfrm>
          <a:prstGeom prst="rect">
            <a:avLst/>
          </a:prstGeom>
        </p:spPr>
      </p:pic>
      <p:cxnSp>
        <p:nvCxnSpPr>
          <p:cNvPr id="1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22 / 32</a:t>
            </a:r>
          </a:p>
        </p:txBody>
      </p:sp>
      <p:sp>
        <p:nvSpPr>
          <p:cNvPr id="19"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data/processed/pages_top.csv. Most cited pages. n = 399 citations</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181355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ChatGPT's citations sit on fewer sites</a:t>
            </a:r>
          </a:p>
        </p:txBody>
      </p:sp>
      <p:sp>
        <p:nvSpPr>
          <p:cNvPr id="3" name="TextBox 2"/>
          <p:cNvSpPr txBox="1"/>
          <p:nvPr/>
        </p:nvSpPr>
        <p:spPr>
          <a:xfrm>
            <a:off x="762000" y="2943860"/>
            <a:ext cx="3683000" cy="5334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Its top five sites hold 50% of its citations. Gemini's top five hold 36%.</a:t>
            </a:r>
          </a:p>
        </p:txBody>
      </p:sp>
      <p:sp>
        <p:nvSpPr>
          <p:cNvPr id="4" name="ground-panel"/>
          <p:cNvSpPr/>
          <p:nvPr/>
        </p:nvSpPr>
        <p:spPr>
          <a:xfrm>
            <a:off x="4699000" y="2236008"/>
            <a:ext cx="6731000" cy="2322483"/>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motif-bracket-tl-h"/>
          <p:cNvCxnSpPr/>
          <p:nvPr/>
        </p:nvCxnSpPr>
        <p:spPr>
          <a:xfrm>
            <a:off x="4635500" y="217250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bracket-tl-v"/>
          <p:cNvCxnSpPr/>
          <p:nvPr/>
        </p:nvCxnSpPr>
        <p:spPr>
          <a:xfrm>
            <a:off x="4635500" y="217250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r-h"/>
          <p:cNvCxnSpPr/>
          <p:nvPr/>
        </p:nvCxnSpPr>
        <p:spPr>
          <a:xfrm flipH="1">
            <a:off x="11239500" y="2172508"/>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v"/>
          <p:cNvCxnSpPr/>
          <p:nvPr/>
        </p:nvCxnSpPr>
        <p:spPr>
          <a:xfrm>
            <a:off x="11493500" y="2172508"/>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bl-h"/>
          <p:cNvCxnSpPr/>
          <p:nvPr/>
        </p:nvCxnSpPr>
        <p:spPr>
          <a:xfrm>
            <a:off x="4635500" y="462199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v"/>
          <p:cNvCxnSpPr/>
          <p:nvPr/>
        </p:nvCxnSpPr>
        <p:spPr>
          <a:xfrm flipV="1">
            <a:off x="4635500" y="436799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r-h"/>
          <p:cNvCxnSpPr/>
          <p:nvPr/>
        </p:nvCxnSpPr>
        <p:spPr>
          <a:xfrm flipH="1">
            <a:off x="11239500" y="4621991"/>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v"/>
          <p:cNvCxnSpPr/>
          <p:nvPr/>
        </p:nvCxnSpPr>
        <p:spPr>
          <a:xfrm flipV="1">
            <a:off x="11493500" y="4367991"/>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3" name="chart-concentration" descr="concentration.png"/>
          <p:cNvPicPr>
            <a:picLocks noChangeAspect="1"/>
          </p:cNvPicPr>
          <p:nvPr/>
        </p:nvPicPr>
        <p:blipFill>
          <a:blip r:embed="rId2"/>
          <a:stretch>
            <a:fillRect/>
          </a:stretch>
        </p:blipFill>
        <p:spPr>
          <a:xfrm>
            <a:off x="4787900" y="2324908"/>
            <a:ext cx="6553200" cy="2144683"/>
          </a:xfrm>
          <a:prstGeom prst="rect">
            <a:avLst/>
          </a:prstGeom>
        </p:spPr>
      </p:pic>
      <p:cxnSp>
        <p:nvCxnSpPr>
          <p:cNvPr id="14"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5"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6"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7"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23 / 32</a:t>
            </a:r>
          </a:p>
        </p:txBody>
      </p:sp>
      <p:sp>
        <p:nvSpPr>
          <p:cNvPr id="18"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data/processed/concentration.csv. n = 199 and 200 citations</a:t>
            </a:r>
          </a:p>
        </p:txBody>
      </p:sp>
      <p:cxnSp>
        <p:nvCxnSpPr>
          <p:cNvPr id="19"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97155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9810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2133600"/>
          </a:xfrm>
          <a:prstGeom prst="rect">
            <a:avLst/>
          </a:prstGeom>
          <a:noFill/>
        </p:spPr>
        <p:txBody>
          <a:bodyPr wrap="square" lIns="0" rIns="0" tIns="0" bIns="0" anchor="t">
            <a:spAutoFit/>
          </a:bodyPr>
          <a:lstStyle/>
          <a:p>
            <a:pPr algn="l">
              <a:lnSpc>
                <a:spcPct val="115000"/>
              </a:lnSpc>
            </a:pPr>
            <a:r>
              <a:rPr sz="3000" b="1">
                <a:solidFill>
                  <a:srgbClr val="F4F6FA"/>
                </a:solidFill>
                <a:latin typeface="Plus Jakarta Sans"/>
              </a:rPr>
              <a:t>Bank Mandiri gets less of the answers than its sources give it</a:t>
            </a:r>
          </a:p>
        </p:txBody>
      </p:sp>
      <p:sp>
        <p:nvSpPr>
          <p:cNvPr id="3" name="TextBox 2"/>
          <p:cNvSpPr txBox="1"/>
          <p:nvPr/>
        </p:nvSpPr>
        <p:spPr>
          <a:xfrm>
            <a:off x="762000" y="3263900"/>
            <a:ext cx="3683000" cy="746760"/>
          </a:xfrm>
          <a:prstGeom prst="rect">
            <a:avLst/>
          </a:prstGeom>
          <a:noFill/>
        </p:spPr>
        <p:txBody>
          <a:bodyPr wrap="square" lIns="0" rIns="0" tIns="0" bIns="0" anchor="t">
            <a:spAutoFit/>
          </a:bodyPr>
          <a:lstStyle/>
          <a:p>
            <a:pPr algn="l">
              <a:lnSpc>
                <a:spcPct val="115000"/>
              </a:lnSpc>
            </a:pPr>
            <a:r>
              <a:rPr sz="1400" b="0">
                <a:solidFill>
                  <a:srgbClr val="AFC0D8"/>
                </a:solidFill>
                <a:latin typeface="Plus Jakarta Sans"/>
              </a:rPr>
              <a:t>Bank Mandiri holds 11.5% of bank mentions in the cited pages and 5.9% in the answers.</a:t>
            </a:r>
          </a:p>
        </p:txBody>
      </p:sp>
      <p:sp>
        <p:nvSpPr>
          <p:cNvPr id="4" name="TextBox 3"/>
          <p:cNvSpPr txBox="1"/>
          <p:nvPr/>
        </p:nvSpPr>
        <p:spPr>
          <a:xfrm>
            <a:off x="762000" y="4099560"/>
            <a:ext cx="3683000" cy="746760"/>
          </a:xfrm>
          <a:prstGeom prst="rect">
            <a:avLst/>
          </a:prstGeom>
          <a:noFill/>
        </p:spPr>
        <p:txBody>
          <a:bodyPr wrap="square" lIns="0" rIns="0" tIns="0" bIns="0" anchor="t">
            <a:spAutoFit/>
          </a:bodyPr>
          <a:lstStyle/>
          <a:p>
            <a:pPr algn="l">
              <a:lnSpc>
                <a:spcPct val="115000"/>
              </a:lnSpc>
            </a:pPr>
            <a:r>
              <a:rPr sz="1400" b="0">
                <a:solidFill>
                  <a:srgbClr val="AFC0D8"/>
                </a:solidFill>
                <a:latin typeface="Plus Jakarta Sans"/>
              </a:rPr>
              <a:t>Bank Jago and BCA lean the other way. Bank Jago holds 20.2% of mentions in the answers and 13.6% in the pages.</a:t>
            </a:r>
          </a:p>
        </p:txBody>
      </p:sp>
      <p:sp>
        <p:nvSpPr>
          <p:cNvPr id="5" name="TextBox 4"/>
          <p:cNvSpPr txBox="1"/>
          <p:nvPr/>
        </p:nvSpPr>
        <p:spPr>
          <a:xfrm>
            <a:off x="762000" y="4935220"/>
            <a:ext cx="3683000" cy="746760"/>
          </a:xfrm>
          <a:prstGeom prst="rect">
            <a:avLst/>
          </a:prstGeom>
          <a:noFill/>
        </p:spPr>
        <p:txBody>
          <a:bodyPr wrap="square" lIns="0" rIns="0" tIns="0" bIns="0" anchor="t">
            <a:spAutoFit/>
          </a:bodyPr>
          <a:lstStyle/>
          <a:p>
            <a:pPr algn="l">
              <a:lnSpc>
                <a:spcPct val="115000"/>
              </a:lnSpc>
            </a:pPr>
            <a:r>
              <a:rPr sz="1400" b="0">
                <a:solidFill>
                  <a:srgbClr val="AFC0D8"/>
                </a:solidFill>
                <a:latin typeface="Plus Jakarta Sans"/>
              </a:rPr>
              <a:t>Pages were counted without a bare “Jago” or “blu”, so these two banks' source share may be low and their gaps too wide.</a:t>
            </a:r>
          </a:p>
        </p:txBody>
      </p:sp>
      <p:sp>
        <p:nvSpPr>
          <p:cNvPr id="6" name="ground-panel"/>
          <p:cNvSpPr/>
          <p:nvPr/>
        </p:nvSpPr>
        <p:spPr>
          <a:xfrm>
            <a:off x="4699000" y="1642282"/>
            <a:ext cx="6731000" cy="3509935"/>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motif-bracket-tl-h"/>
          <p:cNvCxnSpPr/>
          <p:nvPr/>
        </p:nvCxnSpPr>
        <p:spPr>
          <a:xfrm>
            <a:off x="4635500" y="157878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l-v"/>
          <p:cNvCxnSpPr/>
          <p:nvPr/>
        </p:nvCxnSpPr>
        <p:spPr>
          <a:xfrm>
            <a:off x="4635500" y="157878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h"/>
          <p:cNvCxnSpPr/>
          <p:nvPr/>
        </p:nvCxnSpPr>
        <p:spPr>
          <a:xfrm flipH="1">
            <a:off x="11239500" y="157878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tr-v"/>
          <p:cNvCxnSpPr/>
          <p:nvPr/>
        </p:nvCxnSpPr>
        <p:spPr>
          <a:xfrm>
            <a:off x="11493500" y="157878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h"/>
          <p:cNvCxnSpPr/>
          <p:nvPr/>
        </p:nvCxnSpPr>
        <p:spPr>
          <a:xfrm>
            <a:off x="4635500" y="5215717"/>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l-v"/>
          <p:cNvCxnSpPr/>
          <p:nvPr/>
        </p:nvCxnSpPr>
        <p:spPr>
          <a:xfrm flipV="1">
            <a:off x="4635500" y="4961717"/>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h"/>
          <p:cNvCxnSpPr/>
          <p:nvPr/>
        </p:nvCxnSpPr>
        <p:spPr>
          <a:xfrm flipH="1">
            <a:off x="11239500" y="5215717"/>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bracket-br-v"/>
          <p:cNvCxnSpPr/>
          <p:nvPr/>
        </p:nvCxnSpPr>
        <p:spPr>
          <a:xfrm flipV="1">
            <a:off x="11493500" y="4961717"/>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5" name="chart-sov_gap" descr="sov_gap.png"/>
          <p:cNvPicPr>
            <a:picLocks noChangeAspect="1"/>
          </p:cNvPicPr>
          <p:nvPr/>
        </p:nvPicPr>
        <p:blipFill>
          <a:blip r:embed="rId2"/>
          <a:stretch>
            <a:fillRect/>
          </a:stretch>
        </p:blipFill>
        <p:spPr>
          <a:xfrm>
            <a:off x="4787900" y="1731182"/>
            <a:ext cx="6553199" cy="3332135"/>
          </a:xfrm>
          <a:prstGeom prst="rect">
            <a:avLst/>
          </a:prstGeom>
        </p:spPr>
      </p:pic>
      <p:cxnSp>
        <p:nvCxnSpPr>
          <p:cNvPr id="16"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7"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8"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9"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24 / 32</a:t>
            </a:r>
          </a:p>
        </p:txBody>
      </p:sp>
      <p:sp>
        <p:nvSpPr>
          <p:cNvPr id="20"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data/processed/source_sov.csv. Answers and pages weighted equally. n = 40 answers, 148 pages</a:t>
            </a:r>
          </a:p>
        </p:txBody>
      </p:sp>
      <p:cxnSp>
        <p:nvCxnSpPr>
          <p:cNvPr id="21"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2"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3"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4" name="motif-line-tick-24"/>
          <p:cNvCxnSpPr/>
          <p:nvPr/>
        </p:nvCxnSpPr>
        <p:spPr>
          <a:xfrm>
            <a:off x="9810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5" name="motif-line-tick-25"/>
          <p:cNvCxnSpPr/>
          <p:nvPr/>
        </p:nvCxnSpPr>
        <p:spPr>
          <a:xfrm>
            <a:off x="9906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2"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241807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Gemini's dead links all sit behind a Google redirect</a:t>
            </a:r>
          </a:p>
        </p:txBody>
      </p:sp>
      <p:sp>
        <p:nvSpPr>
          <p:cNvPr id="3" name="TextBox 2"/>
          <p:cNvSpPr txBox="1"/>
          <p:nvPr/>
        </p:nvSpPr>
        <p:spPr>
          <a:xfrm>
            <a:off x="762000" y="3548379"/>
            <a:ext cx="3683000" cy="800099"/>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13 of its 21 links wrapped in google.com/search were dead. None of its 179 direct links were.</a:t>
            </a:r>
          </a:p>
        </p:txBody>
      </p:sp>
      <p:sp>
        <p:nvSpPr>
          <p:cNvPr id="4" name="TextBox 3"/>
          <p:cNvSpPr txBox="1"/>
          <p:nvPr/>
        </p:nvSpPr>
        <p:spPr>
          <a:xfrm>
            <a:off x="762000" y="4437380"/>
            <a:ext cx="3683000" cy="800099"/>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The Tow Center found Gemini gave more fabricated links than correct ones in its 2025 tests (Nieman Lab).</a:t>
            </a:r>
          </a:p>
        </p:txBody>
      </p:sp>
      <p:sp>
        <p:nvSpPr>
          <p:cNvPr id="5" name="ground-panel"/>
          <p:cNvSpPr/>
          <p:nvPr/>
        </p:nvSpPr>
        <p:spPr>
          <a:xfrm>
            <a:off x="4699000" y="2253173"/>
            <a:ext cx="6731000" cy="2288152"/>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motif-bracket-tl-h"/>
          <p:cNvCxnSpPr/>
          <p:nvPr/>
        </p:nvCxnSpPr>
        <p:spPr>
          <a:xfrm>
            <a:off x="4635500" y="2189673"/>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bracket-tl-v"/>
          <p:cNvCxnSpPr/>
          <p:nvPr/>
        </p:nvCxnSpPr>
        <p:spPr>
          <a:xfrm>
            <a:off x="4635500" y="2189673"/>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r-h"/>
          <p:cNvCxnSpPr/>
          <p:nvPr/>
        </p:nvCxnSpPr>
        <p:spPr>
          <a:xfrm flipH="1">
            <a:off x="11239500" y="2189673"/>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v"/>
          <p:cNvCxnSpPr/>
          <p:nvPr/>
        </p:nvCxnSpPr>
        <p:spPr>
          <a:xfrm>
            <a:off x="11493500" y="2189673"/>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bl-h"/>
          <p:cNvCxnSpPr/>
          <p:nvPr/>
        </p:nvCxnSpPr>
        <p:spPr>
          <a:xfrm>
            <a:off x="4635500" y="4604826"/>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v"/>
          <p:cNvCxnSpPr/>
          <p:nvPr/>
        </p:nvCxnSpPr>
        <p:spPr>
          <a:xfrm flipV="1">
            <a:off x="4635500" y="4350826"/>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r-h"/>
          <p:cNvCxnSpPr/>
          <p:nvPr/>
        </p:nvCxnSpPr>
        <p:spPr>
          <a:xfrm flipH="1">
            <a:off x="11239500" y="4604826"/>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v"/>
          <p:cNvCxnSpPr/>
          <p:nvPr/>
        </p:nvCxnSpPr>
        <p:spPr>
          <a:xfrm flipV="1">
            <a:off x="11493500" y="4350826"/>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4" name="chart-dead_links" descr="dead_links.png"/>
          <p:cNvPicPr>
            <a:picLocks noChangeAspect="1"/>
          </p:cNvPicPr>
          <p:nvPr/>
        </p:nvPicPr>
        <p:blipFill>
          <a:blip r:embed="rId2"/>
          <a:stretch>
            <a:fillRect/>
          </a:stretch>
        </p:blipFill>
        <p:spPr>
          <a:xfrm>
            <a:off x="4787900" y="2342073"/>
            <a:ext cx="6553200" cy="2110352"/>
          </a:xfrm>
          <a:prstGeom prst="rect">
            <a:avLst/>
          </a:prstGeom>
        </p:spPr>
      </p:pic>
      <p:cxnSp>
        <p:nvCxnSpPr>
          <p:cNvPr id="15"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6"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7"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8"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25 / 32</a:t>
            </a:r>
          </a:p>
        </p:txBody>
      </p:sp>
      <p:sp>
        <p:nvSpPr>
          <p:cNvPr id="19" name="chrome-foot"/>
          <p:cNvSpPr txBox="1"/>
          <p:nvPr/>
        </p:nvSpPr>
        <p:spPr>
          <a:xfrm>
            <a:off x="762000" y="6159500"/>
            <a:ext cx="6604000" cy="1778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data/interim/citations.csv, pages.csv. n = 200 Gemini citations</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3683000" cy="181355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Pages without schema still get cited</a:t>
            </a:r>
          </a:p>
        </p:txBody>
      </p:sp>
      <p:sp>
        <p:nvSpPr>
          <p:cNvPr id="3" name="TextBox 2"/>
          <p:cNvSpPr txBox="1"/>
          <p:nvPr/>
        </p:nvSpPr>
        <p:spPr>
          <a:xfrm>
            <a:off x="762000" y="2943860"/>
            <a:ext cx="3683000" cy="10668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Bank sites carry schema on 32% of cited pages, against 95% for news and 86% for blogs, yet they are the most cited type.</a:t>
            </a:r>
          </a:p>
        </p:txBody>
      </p:sp>
      <p:sp>
        <p:nvSpPr>
          <p:cNvPr id="4" name="TextBox 3"/>
          <p:cNvSpPr txBox="1"/>
          <p:nvPr/>
        </p:nvSpPr>
        <p:spPr>
          <a:xfrm>
            <a:off x="762000" y="4099559"/>
            <a:ext cx="3683000" cy="800099"/>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Only 133 of 333 readable citations point to a page with a structured publish date.</a:t>
            </a:r>
          </a:p>
        </p:txBody>
      </p:sp>
      <p:sp>
        <p:nvSpPr>
          <p:cNvPr id="5" name="TextBox 4"/>
          <p:cNvSpPr txBox="1"/>
          <p:nvPr/>
        </p:nvSpPr>
        <p:spPr>
          <a:xfrm>
            <a:off x="762000" y="4988559"/>
            <a:ext cx="3683000" cy="800099"/>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Google: “there's also no special schema.org structured data that you need to add.”</a:t>
            </a:r>
          </a:p>
        </p:txBody>
      </p:sp>
      <p:sp>
        <p:nvSpPr>
          <p:cNvPr id="6" name="ground-panel"/>
          <p:cNvSpPr/>
          <p:nvPr/>
        </p:nvSpPr>
        <p:spPr>
          <a:xfrm>
            <a:off x="4699000" y="1697817"/>
            <a:ext cx="6731000" cy="3398864"/>
          </a:xfrm>
          <a:prstGeom prst="rect">
            <a:avLst/>
          </a:prstGeom>
          <a:solidFill>
            <a:srgbClr val="0A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motif-bracket-tl-h"/>
          <p:cNvCxnSpPr/>
          <p:nvPr/>
        </p:nvCxnSpPr>
        <p:spPr>
          <a:xfrm>
            <a:off x="4635500" y="1634317"/>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bracket-tl-v"/>
          <p:cNvCxnSpPr/>
          <p:nvPr/>
        </p:nvCxnSpPr>
        <p:spPr>
          <a:xfrm>
            <a:off x="4635500" y="1634317"/>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bracket-tr-h"/>
          <p:cNvCxnSpPr/>
          <p:nvPr/>
        </p:nvCxnSpPr>
        <p:spPr>
          <a:xfrm flipH="1">
            <a:off x="11239500" y="1634317"/>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bracket-tr-v"/>
          <p:cNvCxnSpPr/>
          <p:nvPr/>
        </p:nvCxnSpPr>
        <p:spPr>
          <a:xfrm>
            <a:off x="11493500" y="1634317"/>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bracket-bl-h"/>
          <p:cNvCxnSpPr/>
          <p:nvPr/>
        </p:nvCxnSpPr>
        <p:spPr>
          <a:xfrm>
            <a:off x="4635500" y="516018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bracket-bl-v"/>
          <p:cNvCxnSpPr/>
          <p:nvPr/>
        </p:nvCxnSpPr>
        <p:spPr>
          <a:xfrm flipV="1">
            <a:off x="4635500" y="490618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bracket-br-h"/>
          <p:cNvCxnSpPr/>
          <p:nvPr/>
        </p:nvCxnSpPr>
        <p:spPr>
          <a:xfrm flipH="1">
            <a:off x="11239500" y="5160182"/>
            <a:ext cx="2540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bracket-br-v"/>
          <p:cNvCxnSpPr/>
          <p:nvPr/>
        </p:nvCxnSpPr>
        <p:spPr>
          <a:xfrm flipV="1">
            <a:off x="11493500" y="4906182"/>
            <a:ext cx="0" cy="25400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pic>
        <p:nvPicPr>
          <p:cNvPr id="15" name="chart-schema" descr="schema.png"/>
          <p:cNvPicPr>
            <a:picLocks noChangeAspect="1"/>
          </p:cNvPicPr>
          <p:nvPr/>
        </p:nvPicPr>
        <p:blipFill>
          <a:blip r:embed="rId2"/>
          <a:stretch>
            <a:fillRect/>
          </a:stretch>
        </p:blipFill>
        <p:spPr>
          <a:xfrm>
            <a:off x="4787900" y="1786717"/>
            <a:ext cx="6553199" cy="3221064"/>
          </a:xfrm>
          <a:prstGeom prst="rect">
            <a:avLst/>
          </a:prstGeom>
        </p:spPr>
      </p:pic>
      <p:cxnSp>
        <p:nvCxnSpPr>
          <p:cNvPr id="16"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7"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III: The sources</a:t>
            </a:r>
          </a:p>
        </p:txBody>
      </p:sp>
      <p:cxnSp>
        <p:nvCxnSpPr>
          <p:cNvPr id="18"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9"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26 / 32</a:t>
            </a:r>
          </a:p>
        </p:txBody>
      </p:sp>
      <p:sp>
        <p:nvSpPr>
          <p:cNvPr id="20"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data/processed/schema.csv, recency.csv. Google Search Central. n = 191 pages, 333 citations</a:t>
            </a:r>
          </a:p>
        </p:txBody>
      </p:sp>
      <p:cxnSp>
        <p:nvCxnSpPr>
          <p:cNvPr id="21"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2"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3"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4" name="motif-line-tick-24"/>
          <p:cNvCxnSpPr/>
          <p:nvPr/>
        </p:nvCxnSpPr>
        <p:spPr>
          <a:xfrm>
            <a:off x="9810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5" name="motif-line-tick-25"/>
          <p:cNvCxnSpPr/>
          <p:nvPr/>
        </p:nvCxnSpPr>
        <p:spPr>
          <a:xfrm>
            <a:off x="9906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6" name="motif-line-tick-26"/>
          <p:cNvCxnSpPr/>
          <p:nvPr/>
        </p:nvCxnSpPr>
        <p:spPr>
          <a:xfrm>
            <a:off x="100012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7" name="motif-line-tick-27"/>
          <p:cNvCxnSpPr/>
          <p:nvPr/>
        </p:nvCxnSpPr>
        <p:spPr>
          <a:xfrm>
            <a:off x="10096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28"/>
          <p:cNvCxnSpPr/>
          <p:nvPr/>
        </p:nvCxnSpPr>
        <p:spPr>
          <a:xfrm>
            <a:off x="10191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2"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photo-slot"/>
          <p:cNvSpPr/>
          <p:nvPr/>
        </p:nvSpPr>
        <p:spPr>
          <a:xfrm>
            <a:off x="0" y="0"/>
            <a:ext cx="12192000" cy="6858000"/>
          </a:xfrm>
          <a:prstGeom prst="rect">
            <a:avLst/>
          </a:prstGeom>
          <a:solidFill>
            <a:srgbClr val="1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ground-fade" descr="ground-fade-1400-360.png"/>
          <p:cNvPicPr>
            <a:picLocks noChangeAspect="1"/>
          </p:cNvPicPr>
          <p:nvPr/>
        </p:nvPicPr>
        <p:blipFill>
          <a:blip r:embed="rId2"/>
          <a:stretch>
            <a:fillRect/>
          </a:stretch>
        </p:blipFill>
        <p:spPr>
          <a:xfrm>
            <a:off x="0" y="0"/>
            <a:ext cx="8890000" cy="6858000"/>
          </a:xfrm>
          <a:prstGeom prst="rect">
            <a:avLst/>
          </a:prstGeom>
        </p:spPr>
      </p:pic>
      <p:cxnSp>
        <p:nvCxnSpPr>
          <p:cNvPr id="4" name="motif-line-corridor-corner-0"/>
          <p:cNvCxnSpPr/>
          <p:nvPr/>
        </p:nvCxnSpPr>
        <p:spPr>
          <a:xfrm>
            <a:off x="6731000" y="0"/>
            <a:ext cx="2413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5" name="motif-line-corridor-corner-1"/>
          <p:cNvCxnSpPr/>
          <p:nvPr/>
        </p:nvCxnSpPr>
        <p:spPr>
          <a:xfrm flipH="1">
            <a:off x="10668000" y="0"/>
            <a:ext cx="1524000" cy="2667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6" name="motif-line-corridor-corner-2"/>
          <p:cNvCxnSpPr/>
          <p:nvPr/>
        </p:nvCxnSpPr>
        <p:spPr>
          <a:xfrm flipV="1">
            <a:off x="6731000" y="4064000"/>
            <a:ext cx="2413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line-corridor-corner-3"/>
          <p:cNvCxnSpPr/>
          <p:nvPr/>
        </p:nvCxnSpPr>
        <p:spPr>
          <a:xfrm flipH="1" flipV="1">
            <a:off x="10668000" y="4064000"/>
            <a:ext cx="1524000" cy="2794000"/>
          </a:xfrm>
          <a:prstGeom prst="line">
            <a:avLst/>
          </a:prstGeom>
          <a:ln w="1270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line-corridor-top-1"/>
          <p:cNvCxnSpPr/>
          <p:nvPr/>
        </p:nvCxnSpPr>
        <p:spPr>
          <a:xfrm>
            <a:off x="7823200" y="0"/>
            <a:ext cx="1625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9" name="motif-line-corridor-floor-1"/>
          <p:cNvCxnSpPr/>
          <p:nvPr/>
        </p:nvCxnSpPr>
        <p:spPr>
          <a:xfrm flipV="1">
            <a:off x="7823200" y="4064000"/>
            <a:ext cx="1625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0" name="motif-line-corridor-top-2"/>
          <p:cNvCxnSpPr/>
          <p:nvPr/>
        </p:nvCxnSpPr>
        <p:spPr>
          <a:xfrm>
            <a:off x="8915400" y="0"/>
            <a:ext cx="8382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line-corridor-floor-2"/>
          <p:cNvCxnSpPr/>
          <p:nvPr/>
        </p:nvCxnSpPr>
        <p:spPr>
          <a:xfrm flipV="1">
            <a:off x="8915400" y="4064000"/>
            <a:ext cx="8382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line-corridor-top-3"/>
          <p:cNvCxnSpPr/>
          <p:nvPr/>
        </p:nvCxnSpPr>
        <p:spPr>
          <a:xfrm>
            <a:off x="10007600" y="0"/>
            <a:ext cx="508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corridor-floor-3"/>
          <p:cNvCxnSpPr/>
          <p:nvPr/>
        </p:nvCxnSpPr>
        <p:spPr>
          <a:xfrm flipV="1">
            <a:off x="10007600" y="4064000"/>
            <a:ext cx="508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line-corridor-top-4"/>
          <p:cNvCxnSpPr/>
          <p:nvPr/>
        </p:nvCxnSpPr>
        <p:spPr>
          <a:xfrm flipH="1">
            <a:off x="10363200" y="0"/>
            <a:ext cx="736600" cy="2667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line-corridor-floor-4"/>
          <p:cNvCxnSpPr/>
          <p:nvPr/>
        </p:nvCxnSpPr>
        <p:spPr>
          <a:xfrm flipH="1" flipV="1">
            <a:off x="10363200" y="4064000"/>
            <a:ext cx="736600" cy="27940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line-corridor-right-1"/>
          <p:cNvCxnSpPr/>
          <p:nvPr/>
        </p:nvCxnSpPr>
        <p:spPr>
          <a:xfrm flipH="1">
            <a:off x="10668000" y="1714500"/>
            <a:ext cx="1524000" cy="1301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7" name="motif-line-corridor-right-2"/>
          <p:cNvCxnSpPr/>
          <p:nvPr/>
        </p:nvCxnSpPr>
        <p:spPr>
          <a:xfrm flipH="1" flipV="1">
            <a:off x="10668000" y="3365500"/>
            <a:ext cx="1524000" cy="6350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8" name="motif-line-corridor-right-3"/>
          <p:cNvCxnSpPr/>
          <p:nvPr/>
        </p:nvCxnSpPr>
        <p:spPr>
          <a:xfrm flipH="1" flipV="1">
            <a:off x="10668000" y="3714750"/>
            <a:ext cx="1524000" cy="1428750"/>
          </a:xfrm>
          <a:prstGeom prst="line">
            <a:avLst/>
          </a:prstGeom>
          <a:ln w="63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9" name="motif-line-depth-1-t"/>
          <p:cNvCxnSpPr/>
          <p:nvPr/>
        </p:nvCxnSpPr>
        <p:spPr>
          <a:xfrm>
            <a:off x="7937500" y="1333500"/>
            <a:ext cx="349250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0" name="motif-line-depth-1-b"/>
          <p:cNvCxnSpPr/>
          <p:nvPr/>
        </p:nvCxnSpPr>
        <p:spPr>
          <a:xfrm>
            <a:off x="7937500" y="5461000"/>
            <a:ext cx="349250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1" name="motif-line-depth-1-l"/>
          <p:cNvCxnSpPr/>
          <p:nvPr/>
        </p:nvCxnSpPr>
        <p:spPr>
          <a:xfrm>
            <a:off x="7937500" y="1333500"/>
            <a:ext cx="0" cy="412750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2" name="motif-line-depth-1-r"/>
          <p:cNvCxnSpPr/>
          <p:nvPr/>
        </p:nvCxnSpPr>
        <p:spPr>
          <a:xfrm>
            <a:off x="11430000" y="1333500"/>
            <a:ext cx="0" cy="412750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3" name="motif-line-depth-2-t"/>
          <p:cNvCxnSpPr/>
          <p:nvPr/>
        </p:nvCxnSpPr>
        <p:spPr>
          <a:xfrm>
            <a:off x="8540750" y="2000250"/>
            <a:ext cx="250825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4" name="motif-line-depth-2-b"/>
          <p:cNvCxnSpPr/>
          <p:nvPr/>
        </p:nvCxnSpPr>
        <p:spPr>
          <a:xfrm>
            <a:off x="8540750" y="4762500"/>
            <a:ext cx="2508250"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5" name="motif-line-depth-2-l"/>
          <p:cNvCxnSpPr/>
          <p:nvPr/>
        </p:nvCxnSpPr>
        <p:spPr>
          <a:xfrm>
            <a:off x="8540750" y="2000250"/>
            <a:ext cx="0" cy="276225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6" name="motif-line-depth-2-r"/>
          <p:cNvCxnSpPr/>
          <p:nvPr/>
        </p:nvCxnSpPr>
        <p:spPr>
          <a:xfrm>
            <a:off x="11049000" y="2000250"/>
            <a:ext cx="0" cy="276225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7" name="motif-line-depth-3-t"/>
          <p:cNvCxnSpPr/>
          <p:nvPr/>
        </p:nvCxnSpPr>
        <p:spPr>
          <a:xfrm>
            <a:off x="8842375" y="2333625"/>
            <a:ext cx="2016125"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8" name="motif-line-depth-3-b"/>
          <p:cNvCxnSpPr/>
          <p:nvPr/>
        </p:nvCxnSpPr>
        <p:spPr>
          <a:xfrm>
            <a:off x="8842375" y="4413250"/>
            <a:ext cx="2016125" cy="0"/>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29" name="motif-line-depth-3-l"/>
          <p:cNvCxnSpPr/>
          <p:nvPr/>
        </p:nvCxnSpPr>
        <p:spPr>
          <a:xfrm>
            <a:off x="8842375" y="2333625"/>
            <a:ext cx="0" cy="2079625"/>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30" name="motif-line-depth-3-r"/>
          <p:cNvCxnSpPr/>
          <p:nvPr/>
        </p:nvCxnSpPr>
        <p:spPr>
          <a:xfrm>
            <a:off x="10858500" y="2333625"/>
            <a:ext cx="0" cy="2079625"/>
          </a:xfrm>
          <a:prstGeom prst="line">
            <a:avLst/>
          </a:prstGeom>
          <a:ln w="9525">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31" name="motif-line-depth-4-t"/>
          <p:cNvCxnSpPr/>
          <p:nvPr/>
        </p:nvCxnSpPr>
        <p:spPr>
          <a:xfrm>
            <a:off x="8993187" y="2500312"/>
            <a:ext cx="1770063"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2" name="motif-line-depth-4-b"/>
          <p:cNvCxnSpPr/>
          <p:nvPr/>
        </p:nvCxnSpPr>
        <p:spPr>
          <a:xfrm>
            <a:off x="8993187" y="4238625"/>
            <a:ext cx="1770063" cy="0"/>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3" name="motif-line-depth-4-l"/>
          <p:cNvCxnSpPr/>
          <p:nvPr/>
        </p:nvCxnSpPr>
        <p:spPr>
          <a:xfrm>
            <a:off x="8993187" y="2500312"/>
            <a:ext cx="0" cy="1738313"/>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34" name="motif-line-depth-4-r"/>
          <p:cNvCxnSpPr/>
          <p:nvPr/>
        </p:nvCxnSpPr>
        <p:spPr>
          <a:xfrm>
            <a:off x="10763250" y="2500312"/>
            <a:ext cx="0" cy="1738313"/>
          </a:xfrm>
          <a:prstGeom prst="line">
            <a:avLst/>
          </a:prstGeom>
          <a:ln w="19050">
            <a:solidFill>
              <a:srgbClr val="F4F6F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62000" y="1410970"/>
            <a:ext cx="5588000" cy="320040"/>
          </a:xfrm>
          <a:prstGeom prst="rect">
            <a:avLst/>
          </a:prstGeom>
          <a:noFill/>
        </p:spPr>
        <p:txBody>
          <a:bodyPr wrap="square" lIns="0" rIns="0" tIns="0" bIns="0" anchor="t">
            <a:spAutoFit/>
          </a:bodyPr>
          <a:lstStyle/>
          <a:p>
            <a:pPr algn="l">
              <a:lnSpc>
                <a:spcPct val="115000"/>
              </a:lnSpc>
            </a:pPr>
            <a:r>
              <a:rPr sz="1800" b="0">
                <a:solidFill>
                  <a:srgbClr val="AFC0D8"/>
                </a:solidFill>
                <a:latin typeface="Plus Jakarta Sans"/>
              </a:rPr>
              <a:t>Part IV</a:t>
            </a:r>
          </a:p>
        </p:txBody>
      </p:sp>
      <p:cxnSp>
        <p:nvCxnSpPr>
          <p:cNvPr id="36" name="motif-line-card-rule"/>
          <p:cNvCxnSpPr/>
          <p:nvPr/>
        </p:nvCxnSpPr>
        <p:spPr>
          <a:xfrm>
            <a:off x="762000" y="1858010"/>
            <a:ext cx="3048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62000" y="1985010"/>
            <a:ext cx="5588000" cy="2844800"/>
          </a:xfrm>
          <a:prstGeom prst="rect">
            <a:avLst/>
          </a:prstGeom>
          <a:noFill/>
        </p:spPr>
        <p:txBody>
          <a:bodyPr wrap="square" lIns="0" rIns="0" tIns="0" bIns="0" anchor="t">
            <a:spAutoFit/>
          </a:bodyPr>
          <a:lstStyle/>
          <a:p>
            <a:pPr algn="l">
              <a:lnSpc>
                <a:spcPct val="115000"/>
              </a:lnSpc>
            </a:pPr>
            <a:r>
              <a:rPr sz="8000" b="1">
                <a:solidFill>
                  <a:srgbClr val="F4F6FA"/>
                </a:solidFill>
                <a:latin typeface="Plus Jakarta Sans"/>
              </a:rPr>
              <a:t>What it means</a:t>
            </a:r>
          </a:p>
        </p:txBody>
      </p:sp>
      <p:sp>
        <p:nvSpPr>
          <p:cNvPr id="38" name="TextBox 37"/>
          <p:cNvSpPr txBox="1"/>
          <p:nvPr/>
        </p:nvSpPr>
        <p:spPr>
          <a:xfrm>
            <a:off x="762000" y="5020310"/>
            <a:ext cx="5588000" cy="426719"/>
          </a:xfrm>
          <a:prstGeom prst="rect">
            <a:avLst/>
          </a:prstGeom>
          <a:noFill/>
        </p:spPr>
        <p:txBody>
          <a:bodyPr wrap="square" lIns="0" rIns="0" tIns="0" bIns="0" anchor="t">
            <a:spAutoFit/>
          </a:bodyPr>
          <a:lstStyle/>
          <a:p>
            <a:pPr algn="l">
              <a:lnSpc>
                <a:spcPct val="115000"/>
              </a:lnSpc>
            </a:pPr>
            <a:r>
              <a:rPr sz="2400" b="0">
                <a:solidFill>
                  <a:srgbClr val="AFC0D8"/>
                </a:solidFill>
                <a:latin typeface="Plus Jakarta Sans"/>
              </a:rPr>
              <a:t>On the bank's website, and beyond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120903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On the website: ChatGPT took 64% of its citations from bank sites</a:t>
            </a:r>
          </a:p>
        </p:txBody>
      </p:sp>
      <p:sp>
        <p:nvSpPr>
          <p:cNvPr id="3" name="TextBox 2"/>
          <p:cNvSpPr txBox="1"/>
          <p:nvPr/>
        </p:nvSpPr>
        <p:spPr>
          <a:xfrm>
            <a:off x="762000" y="24091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01</a:t>
            </a:r>
          </a:p>
        </p:txBody>
      </p:sp>
      <p:sp>
        <p:nvSpPr>
          <p:cNvPr id="4" name="TextBox 3"/>
          <p:cNvSpPr txBox="1"/>
          <p:nvPr/>
        </p:nvSpPr>
        <p:spPr>
          <a:xfrm>
            <a:off x="1524000" y="2364740"/>
            <a:ext cx="9906000" cy="7112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Keep fee and rate pages current and dated. ChatGPT cited SeaBank's fees page 5 times and blu's 4 times.</a:t>
            </a:r>
          </a:p>
        </p:txBody>
      </p:sp>
      <p:sp>
        <p:nvSpPr>
          <p:cNvPr id="5" name="TextBox 4"/>
          <p:cNvSpPr txBox="1"/>
          <p:nvPr/>
        </p:nvSpPr>
        <p:spPr>
          <a:xfrm>
            <a:off x="762000" y="32346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02</a:t>
            </a:r>
          </a:p>
        </p:txBody>
      </p:sp>
      <p:sp>
        <p:nvSpPr>
          <p:cNvPr id="6" name="TextBox 5"/>
          <p:cNvSpPr txBox="1"/>
          <p:nvPr/>
        </p:nvSpPr>
        <p:spPr>
          <a:xfrm>
            <a:off x="1524000" y="3190240"/>
            <a:ext cx="9906000" cy="7112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Publish explainers for how-to questions on deposit insurance, scams and complaints. Only 1 of 6 how-to answers named a bank.</a:t>
            </a:r>
          </a:p>
        </p:txBody>
      </p:sp>
      <p:sp>
        <p:nvSpPr>
          <p:cNvPr id="7" name="TextBox 6"/>
          <p:cNvSpPr txBox="1"/>
          <p:nvPr/>
        </p:nvSpPr>
        <p:spPr>
          <a:xfrm>
            <a:off x="762000" y="40601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03</a:t>
            </a:r>
          </a:p>
        </p:txBody>
      </p:sp>
      <p:sp>
        <p:nvSpPr>
          <p:cNvPr id="8" name="TextBox 7"/>
          <p:cNvSpPr txBox="1"/>
          <p:nvPr/>
        </p:nvSpPr>
        <p:spPr>
          <a:xfrm>
            <a:off x="1524000" y="4015740"/>
            <a:ext cx="9906000" cy="7112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Put the answer and its figure at the top of each page, in the HTML the server sends. 12 cited bank pages showed text only after JavaScript ran.</a:t>
            </a:r>
          </a:p>
        </p:txBody>
      </p:sp>
      <p:sp>
        <p:nvSpPr>
          <p:cNvPr id="9" name="TextBox 8"/>
          <p:cNvSpPr txBox="1"/>
          <p:nvPr/>
        </p:nvSpPr>
        <p:spPr>
          <a:xfrm>
            <a:off x="762000" y="48856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04</a:t>
            </a:r>
          </a:p>
        </p:txBody>
      </p:sp>
      <p:sp>
        <p:nvSpPr>
          <p:cNvPr id="10" name="TextBox 9"/>
          <p:cNvSpPr txBox="1"/>
          <p:nvPr/>
        </p:nvSpPr>
        <p:spPr>
          <a:xfrm>
            <a:off x="1524000" y="4841240"/>
            <a:ext cx="9906000" cy="7112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Keep cited pages live. Gemini cited 2 broken bank pages 4 times. OpenAI says sites blocking OAI-SearchBot do not appear in ChatGPT search answers.</a:t>
            </a:r>
          </a:p>
        </p:txBody>
      </p:sp>
      <p:cxnSp>
        <p:nvCxnSpPr>
          <p:cNvPr id="11" name="motif-line-rail"/>
          <p:cNvCxnSpPr/>
          <p:nvPr/>
        </p:nvCxnSpPr>
        <p:spPr>
          <a:xfrm>
            <a:off x="1282700" y="2428240"/>
            <a:ext cx="0" cy="27051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12" name="motif-line-stop-1"/>
          <p:cNvCxnSpPr/>
          <p:nvPr/>
        </p:nvCxnSpPr>
        <p:spPr>
          <a:xfrm>
            <a:off x="1238250" y="2542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stop-2"/>
          <p:cNvCxnSpPr/>
          <p:nvPr/>
        </p:nvCxnSpPr>
        <p:spPr>
          <a:xfrm>
            <a:off x="1238250" y="33680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line-stop-3"/>
          <p:cNvCxnSpPr/>
          <p:nvPr/>
        </p:nvCxnSpPr>
        <p:spPr>
          <a:xfrm>
            <a:off x="1238250" y="4193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line-stop-4"/>
          <p:cNvCxnSpPr/>
          <p:nvPr/>
        </p:nvCxnSpPr>
        <p:spPr>
          <a:xfrm>
            <a:off x="1238250" y="50190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7"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IV: What it means</a:t>
            </a:r>
          </a:p>
        </p:txBody>
      </p:sp>
      <p:cxnSp>
        <p:nvCxnSpPr>
          <p:cNvPr id="18"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9"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28 / 32</a:t>
            </a:r>
          </a:p>
        </p:txBody>
      </p:sp>
      <p:sp>
        <p:nvSpPr>
          <p:cNvPr id="20"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data/interim/citations.csv, pages.csv, data/processed/no_brand_rate.csv, crawled on 9 October 2026. OpenAI, Overview of OpenAI crawlers</a:t>
            </a:r>
          </a:p>
        </p:txBody>
      </p:sp>
      <p:cxnSp>
        <p:nvCxnSpPr>
          <p:cNvPr id="21"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2"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3"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4" name="motif-line-tick-24"/>
          <p:cNvCxnSpPr/>
          <p:nvPr/>
        </p:nvCxnSpPr>
        <p:spPr>
          <a:xfrm>
            <a:off x="9810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5" name="motif-line-tick-25"/>
          <p:cNvCxnSpPr/>
          <p:nvPr/>
        </p:nvCxnSpPr>
        <p:spPr>
          <a:xfrm>
            <a:off x="9906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6" name="motif-line-tick-26"/>
          <p:cNvCxnSpPr/>
          <p:nvPr/>
        </p:nvCxnSpPr>
        <p:spPr>
          <a:xfrm>
            <a:off x="10001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7" name="motif-line-tick-27"/>
          <p:cNvCxnSpPr/>
          <p:nvPr/>
        </p:nvCxnSpPr>
        <p:spPr>
          <a:xfrm>
            <a:off x="10096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8" name="motif-line-tick-28"/>
          <p:cNvCxnSpPr/>
          <p:nvPr/>
        </p:nvCxnSpPr>
        <p:spPr>
          <a:xfrm>
            <a:off x="101917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9" name="motif-line-tick-29"/>
          <p:cNvCxnSpPr/>
          <p:nvPr/>
        </p:nvCxnSpPr>
        <p:spPr>
          <a:xfrm>
            <a:off x="102870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0"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1"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52"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120903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Beyond the website: Gemini took 71% of its citations elsewhere</a:t>
            </a:r>
          </a:p>
        </p:txBody>
      </p:sp>
      <p:sp>
        <p:nvSpPr>
          <p:cNvPr id="3" name="TextBox 2"/>
          <p:cNvSpPr txBox="1"/>
          <p:nvPr/>
        </p:nvSpPr>
        <p:spPr>
          <a:xfrm>
            <a:off x="762000" y="24091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01</a:t>
            </a:r>
          </a:p>
        </p:txBody>
      </p:sp>
      <p:sp>
        <p:nvSpPr>
          <p:cNvPr id="4" name="TextBox 3"/>
          <p:cNvSpPr txBox="1"/>
          <p:nvPr/>
        </p:nvSpPr>
        <p:spPr>
          <a:xfrm>
            <a:off x="1524000" y="2364740"/>
            <a:ext cx="9906000" cy="10668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Send corrections to the comparison articles Gemini cites when a fact about your bank is out of date. One Akulaku article appeared in 14 of Gemini's 20 answers.</a:t>
            </a:r>
          </a:p>
        </p:txBody>
      </p:sp>
      <p:sp>
        <p:nvSpPr>
          <p:cNvPr id="5" name="TextBox 4"/>
          <p:cNvSpPr txBox="1"/>
          <p:nvPr/>
        </p:nvSpPr>
        <p:spPr>
          <a:xfrm>
            <a:off x="762000" y="35521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02</a:t>
            </a:r>
          </a:p>
        </p:txBody>
      </p:sp>
      <p:sp>
        <p:nvSpPr>
          <p:cNvPr id="6" name="TextBox 5"/>
          <p:cNvSpPr txBox="1"/>
          <p:nvPr/>
        </p:nvSpPr>
        <p:spPr>
          <a:xfrm>
            <a:off x="1524000" y="3507740"/>
            <a:ext cx="9906000" cy="10668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Put part of the media budget on fintech platforms, comparison blogs and news sites, which took 61% of Gemini's citations. Ask for a dated product entry and label paid placements as sponsored.</a:t>
            </a:r>
          </a:p>
        </p:txBody>
      </p:sp>
      <p:sp>
        <p:nvSpPr>
          <p:cNvPr id="7" name="TextBox 6"/>
          <p:cNvSpPr txBox="1"/>
          <p:nvPr/>
        </p:nvSpPr>
        <p:spPr>
          <a:xfrm>
            <a:off x="762000" y="4695190"/>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03</a:t>
            </a:r>
          </a:p>
        </p:txBody>
      </p:sp>
      <p:sp>
        <p:nvSpPr>
          <p:cNvPr id="8" name="TextBox 7"/>
          <p:cNvSpPr txBox="1"/>
          <p:nvPr/>
        </p:nvSpPr>
        <p:spPr>
          <a:xfrm>
            <a:off x="1524000" y="4650740"/>
            <a:ext cx="9906000" cy="1066800"/>
          </a:xfrm>
          <a:prstGeom prst="rect">
            <a:avLst/>
          </a:prstGeom>
          <a:noFill/>
        </p:spPr>
        <p:txBody>
          <a:bodyPr wrap="square" lIns="0" rIns="0" tIns="0" bIns="0" anchor="t">
            <a:spAutoFit/>
          </a:bodyPr>
          <a:lstStyle/>
          <a:p>
            <a:pPr algn="l">
              <a:lnSpc>
                <a:spcPct val="115000"/>
              </a:lnSpc>
            </a:pPr>
            <a:r>
              <a:rPr sz="2000" b="0">
                <a:solidFill>
                  <a:srgbClr val="F4F6FA"/>
                </a:solidFill>
                <a:latin typeface="Plus Jakarta Sans"/>
              </a:rPr>
              <a:t>Write articles with quotations and statistics from named sources. In the GEO study, quotations raised a page's PAWC by 41% and statistics by about 31%. Keyword stuffing lowered it.</a:t>
            </a:r>
          </a:p>
        </p:txBody>
      </p:sp>
      <p:cxnSp>
        <p:nvCxnSpPr>
          <p:cNvPr id="9" name="motif-line-rail"/>
          <p:cNvCxnSpPr/>
          <p:nvPr/>
        </p:nvCxnSpPr>
        <p:spPr>
          <a:xfrm>
            <a:off x="1282700" y="2428240"/>
            <a:ext cx="0" cy="25146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10" name="motif-line-stop-1"/>
          <p:cNvCxnSpPr/>
          <p:nvPr/>
        </p:nvCxnSpPr>
        <p:spPr>
          <a:xfrm>
            <a:off x="1238250" y="2542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1" name="motif-line-stop-2"/>
          <p:cNvCxnSpPr/>
          <p:nvPr/>
        </p:nvCxnSpPr>
        <p:spPr>
          <a:xfrm>
            <a:off x="1238250" y="3685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2" name="motif-line-stop-3"/>
          <p:cNvCxnSpPr/>
          <p:nvPr/>
        </p:nvCxnSpPr>
        <p:spPr>
          <a:xfrm>
            <a:off x="1238250" y="4828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4"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IV: What it means</a:t>
            </a:r>
          </a:p>
        </p:txBody>
      </p:sp>
      <p:cxnSp>
        <p:nvCxnSpPr>
          <p:cNvPr id="15"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6"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29 / 32</a:t>
            </a:r>
          </a:p>
        </p:txBody>
      </p:sp>
      <p:sp>
        <p:nvSpPr>
          <p:cNvPr id="17" name="chrome-foot"/>
          <p:cNvSpPr txBox="1"/>
          <p:nvPr/>
        </p:nvSpPr>
        <p:spPr>
          <a:xfrm>
            <a:off x="762000" y="6159500"/>
            <a:ext cx="6604000" cy="355600"/>
          </a:xfrm>
          <a:prstGeom prst="rect">
            <a:avLst/>
          </a:prstGeom>
          <a:noFill/>
        </p:spPr>
        <p:txBody>
          <a:bodyPr wrap="square" lIns="0" rIns="0" tIns="0" bIns="0" anchor="t">
            <a:spAutoFit/>
          </a:bodyPr>
          <a:lstStyle/>
          <a:p>
            <a:pPr algn="l">
              <a:lnSpc>
                <a:spcPct val="115000"/>
              </a:lnSpc>
            </a:pPr>
            <a:r>
              <a:rPr sz="1000" b="0">
                <a:solidFill>
                  <a:srgbClr val="AFC0D8"/>
                </a:solidFill>
                <a:latin typeface="IBM Plex Mono"/>
              </a:rPr>
              <a:t>Source: data/processed/domain_type_mix.csv, pages_top.csv. AirOps (2025). Aggarwal et al. (2024)</a:t>
            </a:r>
          </a:p>
        </p:txBody>
      </p:sp>
      <p:cxnSp>
        <p:nvCxnSpPr>
          <p:cNvPr id="18"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9"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4"/>
          <p:cNvCxnSpPr/>
          <p:nvPr/>
        </p:nvCxnSpPr>
        <p:spPr>
          <a:xfrm>
            <a:off x="9810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2" name="motif-line-tick-25"/>
          <p:cNvCxnSpPr/>
          <p:nvPr/>
        </p:nvCxnSpPr>
        <p:spPr>
          <a:xfrm>
            <a:off x="9906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3" name="motif-line-tick-26"/>
          <p:cNvCxnSpPr/>
          <p:nvPr/>
        </p:nvCxnSpPr>
        <p:spPr>
          <a:xfrm>
            <a:off x="10001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4" name="motif-line-tick-27"/>
          <p:cNvCxnSpPr/>
          <p:nvPr/>
        </p:nvCxnSpPr>
        <p:spPr>
          <a:xfrm>
            <a:off x="10096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5" name="motif-line-tick-28"/>
          <p:cNvCxnSpPr/>
          <p:nvPr/>
        </p:nvCxnSpPr>
        <p:spPr>
          <a:xfrm>
            <a:off x="10191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6" name="motif-line-tick-29"/>
          <p:cNvCxnSpPr/>
          <p:nvPr/>
        </p:nvCxnSpPr>
        <p:spPr>
          <a:xfrm>
            <a:off x="102870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7" name="motif-line-tick-30"/>
          <p:cNvCxnSpPr/>
          <p:nvPr/>
        </p:nvCxnSpPr>
        <p:spPr>
          <a:xfrm>
            <a:off x="103822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8"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9"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60451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These numbers come from one run</a:t>
            </a:r>
          </a:p>
        </p:txBody>
      </p:sp>
      <p:sp>
        <p:nvSpPr>
          <p:cNvPr id="3" name="TextBox 2"/>
          <p:cNvSpPr txBox="1"/>
          <p:nvPr/>
        </p:nvSpPr>
        <p:spPr>
          <a:xfrm>
            <a:off x="1524000" y="1760220"/>
            <a:ext cx="9906000" cy="1280160"/>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SparkToro and Gumshoe ran 12 prompts nearly 3,000 times. The same brand list came back less than 1 in 100 times (Search Engine Land, January 2026).</a:t>
            </a:r>
          </a:p>
        </p:txBody>
      </p:sp>
      <p:sp>
        <p:nvSpPr>
          <p:cNvPr id="4" name="TextBox 3"/>
          <p:cNvSpPr txBox="1"/>
          <p:nvPr/>
        </p:nvSpPr>
        <p:spPr>
          <a:xfrm>
            <a:off x="1524000" y="3256279"/>
            <a:ext cx="9906000" cy="85343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Read gaps of a few points here as ties: BCA and Bank Jago at 55%, SeaBank at 53%.</a:t>
            </a:r>
          </a:p>
        </p:txBody>
      </p:sp>
      <p:cxnSp>
        <p:nvCxnSpPr>
          <p:cNvPr id="5" name="motif-line-rail"/>
          <p:cNvCxnSpPr/>
          <p:nvPr/>
        </p:nvCxnSpPr>
        <p:spPr>
          <a:xfrm>
            <a:off x="1282700" y="1859279"/>
            <a:ext cx="0" cy="1724661"/>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6" name="motif-line-stop-1"/>
          <p:cNvCxnSpPr/>
          <p:nvPr/>
        </p:nvCxnSpPr>
        <p:spPr>
          <a:xfrm>
            <a:off x="1238250" y="1973579"/>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7" name="motif-line-stop-2"/>
          <p:cNvCxnSpPr/>
          <p:nvPr/>
        </p:nvCxnSpPr>
        <p:spPr>
          <a:xfrm>
            <a:off x="1238250" y="34696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8"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9"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IV: What it means</a:t>
            </a:r>
          </a:p>
        </p:txBody>
      </p:sp>
      <p:cxnSp>
        <p:nvCxnSpPr>
          <p:cNvPr id="10"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1"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30 / 32</a:t>
            </a:r>
          </a:p>
        </p:txBody>
      </p:sp>
      <p:cxnSp>
        <p:nvCxnSpPr>
          <p:cNvPr id="12"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9810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9906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001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096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191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0287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038225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047750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604519"/>
          </a:xfrm>
          <a:prstGeom prst="rect">
            <a:avLst/>
          </a:prstGeom>
          <a:noFill/>
        </p:spPr>
        <p:txBody>
          <a:bodyPr wrap="square" lIns="0" rIns="0" tIns="0" bIns="0" anchor="t">
            <a:spAutoFit/>
          </a:bodyPr>
          <a:lstStyle/>
          <a:p>
            <a:pPr algn="l">
              <a:lnSpc>
                <a:spcPct val="115000"/>
              </a:lnSpc>
            </a:pPr>
            <a:r>
              <a:rPr sz="3400" b="1">
                <a:solidFill>
                  <a:srgbClr val="F4F6FA"/>
                </a:solidFill>
                <a:latin typeface="Plus Jakarta Sans"/>
              </a:rPr>
              <a:t>Next steps</a:t>
            </a:r>
          </a:p>
        </p:txBody>
      </p:sp>
      <p:sp>
        <p:nvSpPr>
          <p:cNvPr id="3" name="TextBox 2"/>
          <p:cNvSpPr txBox="1"/>
          <p:nvPr/>
        </p:nvSpPr>
        <p:spPr>
          <a:xfrm>
            <a:off x="762000" y="181355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01</a:t>
            </a:r>
          </a:p>
        </p:txBody>
      </p:sp>
      <p:sp>
        <p:nvSpPr>
          <p:cNvPr id="4" name="TextBox 3"/>
          <p:cNvSpPr txBox="1"/>
          <p:nvPr/>
        </p:nvSpPr>
        <p:spPr>
          <a:xfrm>
            <a:off x="1524000" y="1760220"/>
            <a:ext cx="9906000" cy="85343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Run the same 20 prompts at least four more times, so every number has a range.</a:t>
            </a:r>
          </a:p>
        </p:txBody>
      </p:sp>
      <p:sp>
        <p:nvSpPr>
          <p:cNvPr id="5" name="TextBox 4"/>
          <p:cNvSpPr txBox="1"/>
          <p:nvPr/>
        </p:nvSpPr>
        <p:spPr>
          <a:xfrm>
            <a:off x="762000" y="288289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02</a:t>
            </a:r>
          </a:p>
        </p:txBody>
      </p:sp>
      <p:sp>
        <p:nvSpPr>
          <p:cNvPr id="6" name="TextBox 5"/>
          <p:cNvSpPr txBox="1"/>
          <p:nvPr/>
        </p:nvSpPr>
        <p:spPr>
          <a:xfrm>
            <a:off x="1524000" y="2829560"/>
            <a:ext cx="9906000" cy="42671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Add Perplexity, Microsoft Copilot and Google AI Mode.</a:t>
            </a:r>
          </a:p>
        </p:txBody>
      </p:sp>
      <p:sp>
        <p:nvSpPr>
          <p:cNvPr id="7" name="TextBox 6"/>
          <p:cNvSpPr txBox="1"/>
          <p:nvPr/>
        </p:nvSpPr>
        <p:spPr>
          <a:xfrm>
            <a:off x="762000" y="352551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03</a:t>
            </a:r>
          </a:p>
        </p:txBody>
      </p:sp>
      <p:sp>
        <p:nvSpPr>
          <p:cNvPr id="8" name="TextBox 7"/>
          <p:cNvSpPr txBox="1"/>
          <p:nvPr/>
        </p:nvSpPr>
        <p:spPr>
          <a:xfrm>
            <a:off x="1524000" y="3472179"/>
            <a:ext cx="9906000" cy="85343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Read the top Gemini comparison articles and record how each one describes each bank.</a:t>
            </a:r>
          </a:p>
        </p:txBody>
      </p:sp>
      <p:sp>
        <p:nvSpPr>
          <p:cNvPr id="9" name="TextBox 8"/>
          <p:cNvSpPr txBox="1"/>
          <p:nvPr/>
        </p:nvSpPr>
        <p:spPr>
          <a:xfrm>
            <a:off x="762000" y="4594859"/>
            <a:ext cx="381000" cy="266700"/>
          </a:xfrm>
          <a:prstGeom prst="rect">
            <a:avLst/>
          </a:prstGeom>
          <a:noFill/>
        </p:spPr>
        <p:txBody>
          <a:bodyPr wrap="square" lIns="0" rIns="0" tIns="0" bIns="0" anchor="t">
            <a:spAutoFit/>
          </a:bodyPr>
          <a:lstStyle/>
          <a:p>
            <a:pPr algn="l">
              <a:lnSpc>
                <a:spcPct val="115000"/>
              </a:lnSpc>
            </a:pPr>
            <a:r>
              <a:rPr sz="1500" b="0">
                <a:solidFill>
                  <a:srgbClr val="7FC0F5"/>
                </a:solidFill>
                <a:latin typeface="IBM Plex Mono"/>
              </a:rPr>
              <a:t>04</a:t>
            </a:r>
          </a:p>
        </p:txBody>
      </p:sp>
      <p:sp>
        <p:nvSpPr>
          <p:cNvPr id="10" name="TextBox 9"/>
          <p:cNvSpPr txBox="1"/>
          <p:nvPr/>
        </p:nvSpPr>
        <p:spPr>
          <a:xfrm>
            <a:off x="1524000" y="4541520"/>
            <a:ext cx="9906000" cy="426719"/>
          </a:xfrm>
          <a:prstGeom prst="rect">
            <a:avLst/>
          </a:prstGeom>
          <a:noFill/>
        </p:spPr>
        <p:txBody>
          <a:bodyPr wrap="square" lIns="0" rIns="0" tIns="0" bIns="0" anchor="t">
            <a:spAutoFit/>
          </a:bodyPr>
          <a:lstStyle/>
          <a:p>
            <a:pPr algn="l">
              <a:lnSpc>
                <a:spcPct val="115000"/>
              </a:lnSpc>
            </a:pPr>
            <a:r>
              <a:rPr sz="2400" b="0">
                <a:solidFill>
                  <a:srgbClr val="F4F6FA"/>
                </a:solidFill>
                <a:latin typeface="Plus Jakarta Sans"/>
              </a:rPr>
              <a:t>Put the tables in a public dashboard that refreshes after each run.</a:t>
            </a:r>
          </a:p>
        </p:txBody>
      </p:sp>
      <p:cxnSp>
        <p:nvCxnSpPr>
          <p:cNvPr id="11" name="motif-line-rail"/>
          <p:cNvCxnSpPr/>
          <p:nvPr/>
        </p:nvCxnSpPr>
        <p:spPr>
          <a:xfrm>
            <a:off x="1282700" y="1859279"/>
            <a:ext cx="0" cy="3009901"/>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cxnSp>
        <p:nvCxnSpPr>
          <p:cNvPr id="12" name="motif-line-stop-1"/>
          <p:cNvCxnSpPr/>
          <p:nvPr/>
        </p:nvCxnSpPr>
        <p:spPr>
          <a:xfrm>
            <a:off x="1238250" y="1973579"/>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3" name="motif-line-stop-2"/>
          <p:cNvCxnSpPr/>
          <p:nvPr/>
        </p:nvCxnSpPr>
        <p:spPr>
          <a:xfrm>
            <a:off x="1238250" y="3042919"/>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4" name="motif-line-stop-3"/>
          <p:cNvCxnSpPr/>
          <p:nvPr/>
        </p:nvCxnSpPr>
        <p:spPr>
          <a:xfrm>
            <a:off x="1238250" y="368554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5" name="motif-line-stop-4"/>
          <p:cNvCxnSpPr/>
          <p:nvPr/>
        </p:nvCxnSpPr>
        <p:spPr>
          <a:xfrm>
            <a:off x="1238250" y="4754880"/>
            <a:ext cx="88900" cy="0"/>
          </a:xfrm>
          <a:prstGeom prst="line">
            <a:avLst/>
          </a:prstGeom>
          <a:ln w="19050">
            <a:solidFill>
              <a:srgbClr val="7FC0F5"/>
            </a:solidFill>
          </a:ln>
        </p:spPr>
        <p:style>
          <a:lnRef idx="2">
            <a:schemeClr val="accent1"/>
          </a:lnRef>
          <a:fillRef idx="0">
            <a:schemeClr val="accent1"/>
          </a:fillRef>
          <a:effectRef idx="1">
            <a:schemeClr val="accent1"/>
          </a:effectRef>
          <a:fontRef idx="minor">
            <a:schemeClr val="tx1"/>
          </a:fontRef>
        </p:style>
      </p:cxnSp>
      <p:cxnSp>
        <p:nvCxnSpPr>
          <p:cNvPr id="16" name="motif-line-mark"/>
          <p:cNvCxnSpPr/>
          <p:nvPr/>
        </p:nvCxnSpPr>
        <p:spPr>
          <a:xfrm>
            <a:off x="762000" y="546100"/>
            <a:ext cx="203200" cy="0"/>
          </a:xfrm>
          <a:prstGeom prst="line">
            <a:avLst/>
          </a:prstGeom>
          <a:ln w="25400">
            <a:solidFill>
              <a:srgbClr val="7FC0F5"/>
            </a:solidFill>
          </a:ln>
        </p:spPr>
        <p:style>
          <a:lnRef idx="2">
            <a:schemeClr val="accent1"/>
          </a:lnRef>
          <a:fillRef idx="0">
            <a:schemeClr val="accent1"/>
          </a:fillRef>
          <a:effectRef idx="1">
            <a:schemeClr val="accent1"/>
          </a:effectRef>
          <a:fontRef idx="minor">
            <a:schemeClr val="tx1"/>
          </a:fontRef>
        </p:style>
      </p:cxnSp>
      <p:sp>
        <p:nvSpPr>
          <p:cNvPr id="17" name="chrome-part"/>
          <p:cNvSpPr txBox="1"/>
          <p:nvPr/>
        </p:nvSpPr>
        <p:spPr>
          <a:xfrm>
            <a:off x="1066800" y="457200"/>
            <a:ext cx="5715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Part IV: What it means</a:t>
            </a:r>
          </a:p>
        </p:txBody>
      </p:sp>
      <p:cxnSp>
        <p:nvCxnSpPr>
          <p:cNvPr id="18" name="motif-line-footer"/>
          <p:cNvCxnSpPr/>
          <p:nvPr/>
        </p:nvCxnSpPr>
        <p:spPr>
          <a:xfrm>
            <a:off x="762000" y="6045200"/>
            <a:ext cx="10668000" cy="0"/>
          </a:xfrm>
          <a:prstGeom prst="line">
            <a:avLst/>
          </a:prstGeom>
          <a:ln w="9525">
            <a:solidFill>
              <a:srgbClr val="3B5A85"/>
            </a:solidFill>
          </a:ln>
        </p:spPr>
        <p:style>
          <a:lnRef idx="2">
            <a:schemeClr val="accent1"/>
          </a:lnRef>
          <a:fillRef idx="0">
            <a:schemeClr val="accent1"/>
          </a:fillRef>
          <a:effectRef idx="1">
            <a:schemeClr val="accent1"/>
          </a:effectRef>
          <a:fontRef idx="minor">
            <a:schemeClr val="tx1"/>
          </a:fontRef>
        </p:style>
      </p:cxnSp>
      <p:sp>
        <p:nvSpPr>
          <p:cNvPr id="19" name="chrome-page"/>
          <p:cNvSpPr txBox="1"/>
          <p:nvPr/>
        </p:nvSpPr>
        <p:spPr>
          <a:xfrm>
            <a:off x="10795000" y="6223000"/>
            <a:ext cx="635000" cy="177800"/>
          </a:xfrm>
          <a:prstGeom prst="rect">
            <a:avLst/>
          </a:prstGeom>
          <a:noFill/>
        </p:spPr>
        <p:txBody>
          <a:bodyPr wrap="square" lIns="0" rIns="0" tIns="0" bIns="0" anchor="t">
            <a:spAutoFit/>
          </a:bodyPr>
          <a:lstStyle/>
          <a:p>
            <a:pPr algn="r">
              <a:lnSpc>
                <a:spcPct val="115000"/>
              </a:lnSpc>
            </a:pPr>
            <a:r>
              <a:rPr sz="1000" b="0">
                <a:solidFill>
                  <a:srgbClr val="AFC0D8"/>
                </a:solidFill>
                <a:latin typeface="IBM Plex Mono"/>
              </a:rPr>
              <a:t>31 / 32</a:t>
            </a:r>
          </a:p>
        </p:txBody>
      </p:sp>
      <p:cxnSp>
        <p:nvCxnSpPr>
          <p:cNvPr id="20" name="motif-line-tick-01"/>
          <p:cNvCxnSpPr/>
          <p:nvPr/>
        </p:nvCxnSpPr>
        <p:spPr>
          <a:xfrm>
            <a:off x="7620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1" name="motif-line-tick-02"/>
          <p:cNvCxnSpPr/>
          <p:nvPr/>
        </p:nvCxnSpPr>
        <p:spPr>
          <a:xfrm>
            <a:off x="7715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2" name="motif-line-tick-03"/>
          <p:cNvCxnSpPr/>
          <p:nvPr/>
        </p:nvCxnSpPr>
        <p:spPr>
          <a:xfrm>
            <a:off x="7810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3" name="motif-line-tick-04"/>
          <p:cNvCxnSpPr/>
          <p:nvPr/>
        </p:nvCxnSpPr>
        <p:spPr>
          <a:xfrm>
            <a:off x="7905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4" name="motif-line-tick-05"/>
          <p:cNvCxnSpPr/>
          <p:nvPr/>
        </p:nvCxnSpPr>
        <p:spPr>
          <a:xfrm>
            <a:off x="8001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5" name="motif-line-tick-06"/>
          <p:cNvCxnSpPr/>
          <p:nvPr/>
        </p:nvCxnSpPr>
        <p:spPr>
          <a:xfrm>
            <a:off x="8096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6" name="motif-line-tick-07"/>
          <p:cNvCxnSpPr/>
          <p:nvPr/>
        </p:nvCxnSpPr>
        <p:spPr>
          <a:xfrm>
            <a:off x="8191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7" name="motif-line-tick-08"/>
          <p:cNvCxnSpPr/>
          <p:nvPr/>
        </p:nvCxnSpPr>
        <p:spPr>
          <a:xfrm>
            <a:off x="8286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8" name="motif-line-tick-09"/>
          <p:cNvCxnSpPr/>
          <p:nvPr/>
        </p:nvCxnSpPr>
        <p:spPr>
          <a:xfrm>
            <a:off x="8382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29" name="motif-line-tick-10"/>
          <p:cNvCxnSpPr/>
          <p:nvPr/>
        </p:nvCxnSpPr>
        <p:spPr>
          <a:xfrm>
            <a:off x="8477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0" name="motif-line-tick-11"/>
          <p:cNvCxnSpPr/>
          <p:nvPr/>
        </p:nvCxnSpPr>
        <p:spPr>
          <a:xfrm>
            <a:off x="8572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1" name="motif-line-tick-12"/>
          <p:cNvCxnSpPr/>
          <p:nvPr/>
        </p:nvCxnSpPr>
        <p:spPr>
          <a:xfrm>
            <a:off x="8667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2" name="motif-line-tick-13"/>
          <p:cNvCxnSpPr/>
          <p:nvPr/>
        </p:nvCxnSpPr>
        <p:spPr>
          <a:xfrm>
            <a:off x="8763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3" name="motif-line-tick-14"/>
          <p:cNvCxnSpPr/>
          <p:nvPr/>
        </p:nvCxnSpPr>
        <p:spPr>
          <a:xfrm>
            <a:off x="8858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4" name="motif-line-tick-15"/>
          <p:cNvCxnSpPr/>
          <p:nvPr/>
        </p:nvCxnSpPr>
        <p:spPr>
          <a:xfrm>
            <a:off x="8953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5" name="motif-line-tick-16"/>
          <p:cNvCxnSpPr/>
          <p:nvPr/>
        </p:nvCxnSpPr>
        <p:spPr>
          <a:xfrm>
            <a:off x="9048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6" name="motif-line-tick-17"/>
          <p:cNvCxnSpPr/>
          <p:nvPr/>
        </p:nvCxnSpPr>
        <p:spPr>
          <a:xfrm>
            <a:off x="9144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7" name="motif-line-tick-18"/>
          <p:cNvCxnSpPr/>
          <p:nvPr/>
        </p:nvCxnSpPr>
        <p:spPr>
          <a:xfrm>
            <a:off x="9239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8" name="motif-line-tick-19"/>
          <p:cNvCxnSpPr/>
          <p:nvPr/>
        </p:nvCxnSpPr>
        <p:spPr>
          <a:xfrm>
            <a:off x="9334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39" name="motif-line-tick-20"/>
          <p:cNvCxnSpPr/>
          <p:nvPr/>
        </p:nvCxnSpPr>
        <p:spPr>
          <a:xfrm>
            <a:off x="9429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0" name="motif-line-tick-21"/>
          <p:cNvCxnSpPr/>
          <p:nvPr/>
        </p:nvCxnSpPr>
        <p:spPr>
          <a:xfrm>
            <a:off x="9525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1" name="motif-line-tick-22"/>
          <p:cNvCxnSpPr/>
          <p:nvPr/>
        </p:nvCxnSpPr>
        <p:spPr>
          <a:xfrm>
            <a:off x="9620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2" name="motif-line-tick-23"/>
          <p:cNvCxnSpPr/>
          <p:nvPr/>
        </p:nvCxnSpPr>
        <p:spPr>
          <a:xfrm>
            <a:off x="9715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3" name="motif-line-tick-24"/>
          <p:cNvCxnSpPr/>
          <p:nvPr/>
        </p:nvCxnSpPr>
        <p:spPr>
          <a:xfrm>
            <a:off x="9810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4" name="motif-line-tick-25"/>
          <p:cNvCxnSpPr/>
          <p:nvPr/>
        </p:nvCxnSpPr>
        <p:spPr>
          <a:xfrm>
            <a:off x="9906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5" name="motif-line-tick-26"/>
          <p:cNvCxnSpPr/>
          <p:nvPr/>
        </p:nvCxnSpPr>
        <p:spPr>
          <a:xfrm>
            <a:off x="10001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6" name="motif-line-tick-27"/>
          <p:cNvCxnSpPr/>
          <p:nvPr/>
        </p:nvCxnSpPr>
        <p:spPr>
          <a:xfrm>
            <a:off x="100965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7" name="motif-line-tick-28"/>
          <p:cNvCxnSpPr/>
          <p:nvPr/>
        </p:nvCxnSpPr>
        <p:spPr>
          <a:xfrm>
            <a:off x="101917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8" name="motif-line-tick-29"/>
          <p:cNvCxnSpPr/>
          <p:nvPr/>
        </p:nvCxnSpPr>
        <p:spPr>
          <a:xfrm>
            <a:off x="1028700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49" name="motif-line-tick-30"/>
          <p:cNvCxnSpPr/>
          <p:nvPr/>
        </p:nvCxnSpPr>
        <p:spPr>
          <a:xfrm>
            <a:off x="10382250" y="6273800"/>
            <a:ext cx="0" cy="76200"/>
          </a:xfrm>
          <a:prstGeom prst="line">
            <a:avLst/>
          </a:prstGeom>
          <a:ln w="12700">
            <a:solidFill>
              <a:srgbClr val="AFC0D8"/>
            </a:solidFill>
          </a:ln>
        </p:spPr>
        <p:style>
          <a:lnRef idx="2">
            <a:schemeClr val="accent1"/>
          </a:lnRef>
          <a:fillRef idx="0">
            <a:schemeClr val="accent1"/>
          </a:fillRef>
          <a:effectRef idx="1">
            <a:schemeClr val="accent1"/>
          </a:effectRef>
          <a:fontRef idx="minor">
            <a:schemeClr val="tx1"/>
          </a:fontRef>
        </p:style>
      </p:cxnSp>
      <p:cxnSp>
        <p:nvCxnSpPr>
          <p:cNvPr id="50" name="motif-line-tick-31"/>
          <p:cNvCxnSpPr/>
          <p:nvPr/>
        </p:nvCxnSpPr>
        <p:spPr>
          <a:xfrm>
            <a:off x="10477500" y="6223000"/>
            <a:ext cx="0" cy="177800"/>
          </a:xfrm>
          <a:prstGeom prst="line">
            <a:avLst/>
          </a:prstGeom>
          <a:ln w="25400">
            <a:solidFill>
              <a:srgbClr val="F4F6FA"/>
            </a:solidFill>
          </a:ln>
        </p:spPr>
        <p:style>
          <a:lnRef idx="2">
            <a:schemeClr val="accent1"/>
          </a:lnRef>
          <a:fillRef idx="0">
            <a:schemeClr val="accent1"/>
          </a:fillRef>
          <a:effectRef idx="1">
            <a:schemeClr val="accent1"/>
          </a:effectRef>
          <a:fontRef idx="minor">
            <a:schemeClr val="tx1"/>
          </a:fontRef>
        </p:style>
      </p:cxnSp>
      <p:cxnSp>
        <p:nvCxnSpPr>
          <p:cNvPr id="51" name="motif-line-tick-32"/>
          <p:cNvCxnSpPr/>
          <p:nvPr/>
        </p:nvCxnSpPr>
        <p:spPr>
          <a:xfrm>
            <a:off x="10572750" y="6273800"/>
            <a:ext cx="0" cy="76200"/>
          </a:xfrm>
          <a:prstGeom prst="line">
            <a:avLst/>
          </a:prstGeom>
          <a:ln w="12700">
            <a:solidFill>
              <a:srgbClr val="3B5A85"/>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F2747"/>
        </a:solidFill>
        <a:effectLst/>
      </p:bgPr>
    </p:bg>
    <p:spTree>
      <p:nvGrpSpPr>
        <p:cNvPr id="1" name=""/>
        <p:cNvGrpSpPr/>
        <p:nvPr/>
      </p:nvGrpSpPr>
      <p:grpSpPr/>
      <p:sp>
        <p:nvSpPr>
          <p:cNvPr id="2" name="TextBox 1"/>
          <p:cNvSpPr txBox="1"/>
          <p:nvPr/>
        </p:nvSpPr>
        <p:spPr>
          <a:xfrm>
            <a:off x="762000" y="952500"/>
            <a:ext cx="10668000" cy="711200"/>
          </a:xfrm>
          <a:prstGeom prst="rect">
            <a:avLst/>
          </a:prstGeom>
          <a:noFill/>
        </p:spPr>
        <p:txBody>
          <a:bodyPr wrap="square" lIns="0" rIns="0" tIns="0" bIns="0" anchor="t">
            <a:spAutoFit/>
          </a:bodyPr>
          <a:lstStyle/>
          <a:p>
            <a:pPr algn="l">
              <a:lnSpc>
                <a:spcPct val="115000"/>
              </a:lnSpc>
            </a:pPr>
            <a:r>
              <a:rPr sz="4000" b="1">
                <a:solidFill>
                  <a:srgbClr val="F4F6FA"/>
                </a:solidFill>
                <a:latin typeface="Plus Jakarta Sans"/>
              </a:rPr>
              <a:t>Favoured Banks in ChatGPT and Gemini</a:t>
            </a:r>
          </a:p>
        </p:txBody>
      </p:sp>
      <p:sp>
        <p:nvSpPr>
          <p:cNvPr id="3" name="TextBox 2"/>
          <p:cNvSpPr txBox="1"/>
          <p:nvPr/>
        </p:nvSpPr>
        <p:spPr>
          <a:xfrm>
            <a:off x="762000" y="1752600"/>
            <a:ext cx="10160000" cy="302259"/>
          </a:xfrm>
          <a:prstGeom prst="rect">
            <a:avLst/>
          </a:prstGeom>
          <a:noFill/>
        </p:spPr>
        <p:txBody>
          <a:bodyPr wrap="square" lIns="0" rIns="0" tIns="0" bIns="0" anchor="t">
            <a:spAutoFit/>
          </a:bodyPr>
          <a:lstStyle/>
          <a:p>
            <a:pPr algn="l">
              <a:lnSpc>
                <a:spcPct val="115000"/>
              </a:lnSpc>
            </a:pPr>
            <a:r>
              <a:rPr sz="1700" b="0">
                <a:solidFill>
                  <a:srgbClr val="F4F6FA"/>
                </a:solidFill>
                <a:latin typeface="IBM Plex Mono"/>
              </a:rPr>
              <a:t>Data, code and method: github.com/rgmwnn/geo-bank-visibility</a:t>
            </a:r>
          </a:p>
        </p:txBody>
      </p:sp>
      <p:sp>
        <p:nvSpPr>
          <p:cNvPr id="4" name="TextBox 3"/>
          <p:cNvSpPr txBox="1"/>
          <p:nvPr/>
        </p:nvSpPr>
        <p:spPr>
          <a:xfrm>
            <a:off x="762000" y="2476500"/>
            <a:ext cx="2540000" cy="266700"/>
          </a:xfrm>
          <a:prstGeom prst="rect">
            <a:avLst/>
          </a:prstGeom>
          <a:noFill/>
        </p:spPr>
        <p:txBody>
          <a:bodyPr wrap="square" lIns="0" rIns="0" tIns="0" bIns="0" anchor="t">
            <a:spAutoFit/>
          </a:bodyPr>
          <a:lstStyle/>
          <a:p>
            <a:pPr algn="l">
              <a:lnSpc>
                <a:spcPct val="115000"/>
              </a:lnSpc>
            </a:pPr>
            <a:r>
              <a:rPr sz="1500" b="0">
                <a:solidFill>
                  <a:srgbClr val="AFC0D8"/>
                </a:solidFill>
                <a:latin typeface="Plus Jakarta Sans"/>
              </a:rPr>
              <a:t>Sources</a:t>
            </a:r>
          </a:p>
        </p:txBody>
      </p:sp>
      <p:sp>
        <p:nvSpPr>
          <p:cNvPr id="5" name="TextBox 4"/>
          <p:cNvSpPr txBox="1"/>
          <p:nvPr/>
        </p:nvSpPr>
        <p:spPr>
          <a:xfrm>
            <a:off x="762000" y="27686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Aggarwal et al. (2024). GEO: Generative Engine Optimization. KDD 2024. arXiv 2311.09735</a:t>
            </a:r>
          </a:p>
        </p:txBody>
      </p:sp>
      <p:sp>
        <p:nvSpPr>
          <p:cNvPr id="6" name="TextBox 5"/>
          <p:cNvSpPr txBox="1"/>
          <p:nvPr/>
        </p:nvSpPr>
        <p:spPr>
          <a:xfrm>
            <a:off x="762000" y="30099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Writesonic. AI citation source overlap study</a:t>
            </a:r>
          </a:p>
        </p:txBody>
      </p:sp>
      <p:sp>
        <p:nvSpPr>
          <p:cNvPr id="7" name="TextBox 6"/>
          <p:cNvSpPr txBox="1"/>
          <p:nvPr/>
        </p:nvSpPr>
        <p:spPr>
          <a:xfrm>
            <a:off x="762000" y="32512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Ahrefs. AI search overlap with Google results</a:t>
            </a:r>
          </a:p>
        </p:txBody>
      </p:sp>
      <p:sp>
        <p:nvSpPr>
          <p:cNvPr id="8" name="TextBox 7"/>
          <p:cNvSpPr txBox="1"/>
          <p:nvPr/>
        </p:nvSpPr>
        <p:spPr>
          <a:xfrm>
            <a:off x="762000" y="34925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Search Engine Land. AI recommendation lists rarely repeat (SparkToro and Gumshoe)</a:t>
            </a:r>
          </a:p>
        </p:txBody>
      </p:sp>
      <p:sp>
        <p:nvSpPr>
          <p:cNvPr id="9" name="TextBox 8"/>
          <p:cNvSpPr txBox="1"/>
          <p:nvPr/>
        </p:nvSpPr>
        <p:spPr>
          <a:xfrm>
            <a:off x="762000" y="37338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Nieman Lab (2025). Tow Center study of AI search citations</a:t>
            </a:r>
          </a:p>
        </p:txBody>
      </p:sp>
      <p:sp>
        <p:nvSpPr>
          <p:cNvPr id="10" name="TextBox 9"/>
          <p:cNvSpPr txBox="1"/>
          <p:nvPr/>
        </p:nvSpPr>
        <p:spPr>
          <a:xfrm>
            <a:off x="762000" y="39751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Google Search Central. AI features and your website</a:t>
            </a:r>
          </a:p>
        </p:txBody>
      </p:sp>
      <p:sp>
        <p:nvSpPr>
          <p:cNvPr id="11" name="TextBox 10"/>
          <p:cNvSpPr txBox="1"/>
          <p:nvPr/>
        </p:nvSpPr>
        <p:spPr>
          <a:xfrm>
            <a:off x="762000" y="42164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Search Engine Journal. OpenAI usage study</a:t>
            </a:r>
          </a:p>
        </p:txBody>
      </p:sp>
      <p:sp>
        <p:nvSpPr>
          <p:cNvPr id="12" name="TextBox 11"/>
          <p:cNvSpPr txBox="1"/>
          <p:nvPr/>
        </p:nvSpPr>
        <p:spPr>
          <a:xfrm>
            <a:off x="762000" y="44577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Bisnis (2023). Akulaku stake in Bank Neo Commerce</a:t>
            </a:r>
          </a:p>
        </p:txBody>
      </p:sp>
      <p:sp>
        <p:nvSpPr>
          <p:cNvPr id="13" name="TextBox 12"/>
          <p:cNvSpPr txBox="1"/>
          <p:nvPr/>
        </p:nvSpPr>
        <p:spPr>
          <a:xfrm>
            <a:off x="762000" y="46990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OpenAI. Overview of OpenAI crawlers</a:t>
            </a:r>
          </a:p>
        </p:txBody>
      </p:sp>
      <p:sp>
        <p:nvSpPr>
          <p:cNvPr id="14" name="TextBox 13"/>
          <p:cNvSpPr txBox="1"/>
          <p:nvPr/>
        </p:nvSpPr>
        <p:spPr>
          <a:xfrm>
            <a:off x="762000" y="4940300"/>
            <a:ext cx="10160000" cy="213359"/>
          </a:xfrm>
          <a:prstGeom prst="rect">
            <a:avLst/>
          </a:prstGeom>
          <a:noFill/>
        </p:spPr>
        <p:txBody>
          <a:bodyPr wrap="square" lIns="0" rIns="0" tIns="0" bIns="0" anchor="t">
            <a:spAutoFit/>
          </a:bodyPr>
          <a:lstStyle/>
          <a:p>
            <a:pPr algn="l">
              <a:lnSpc>
                <a:spcPct val="115000"/>
              </a:lnSpc>
            </a:pPr>
            <a:r>
              <a:rPr sz="1200" b="0">
                <a:solidFill>
                  <a:srgbClr val="AFC0D8"/>
                </a:solidFill>
                <a:latin typeface="IBM Plex Mono"/>
              </a:rPr>
              <a:t>AirOps (2025). Third-party sources drive 85% of brand discovery</a:t>
            </a:r>
          </a:p>
        </p:txBody>
      </p:sp>
      <p:sp>
        <p:nvSpPr>
          <p:cNvPr id="15" name="TextBox 14"/>
          <p:cNvSpPr txBox="1"/>
          <p:nvPr/>
        </p:nvSpPr>
        <p:spPr>
          <a:xfrm>
            <a:off x="762000" y="5334000"/>
            <a:ext cx="8255000" cy="248919"/>
          </a:xfrm>
          <a:prstGeom prst="rect">
            <a:avLst/>
          </a:prstGeom>
          <a:noFill/>
        </p:spPr>
        <p:txBody>
          <a:bodyPr wrap="square" lIns="0" rIns="0" tIns="0" bIns="0" anchor="t">
            <a:spAutoFit/>
          </a:bodyPr>
          <a:lstStyle/>
          <a:p>
            <a:pPr algn="l">
              <a:lnSpc>
                <a:spcPct val="115000"/>
              </a:lnSpc>
            </a:pPr>
            <a:r>
              <a:rPr sz="1400" b="0">
                <a:solidFill>
                  <a:srgbClr val="F4F6FA"/>
                </a:solidFill>
                <a:latin typeface="IBM Plex Mono"/>
              </a:rPr>
              <a:t>Rahmananda Ridho Gamawan, data analyst, Indonesia</a:t>
            </a:r>
          </a:p>
        </p:txBody>
      </p:sp>
      <p:pic>
        <p:nvPicPr>
          <p:cNvPr id="16" name="motif-horizon" descr="motif-horizon.png"/>
          <p:cNvPicPr>
            <a:picLocks noChangeAspect="1"/>
          </p:cNvPicPr>
          <p:nvPr/>
        </p:nvPicPr>
        <p:blipFill>
          <a:blip r:embed="rId2"/>
          <a:stretch>
            <a:fillRect/>
          </a:stretch>
        </p:blipFill>
        <p:spPr>
          <a:xfrm>
            <a:off x="0" y="5715000"/>
            <a:ext cx="12192000" cy="1143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