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study of how two AI engines answer everyday banking questions in Indonesia, and which sources they cite. Everything here is built from public code and data in the repo named on the last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freelancer asks which bank fits irregular income. Both engines answer with a short list of banks. There is no results page to compete on: a bank is either in the answer or it is not.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outside numbers set the scene. Information-seeking is a growing share of ChatGPT use, and the pages AI assistants cite are mostly not the pages that rank on Google.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rest of the deck answers these three questions in order.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set is written to be unbranded so share of voice is fair. Only the head-to-head comparisons name banks.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Parse the answers, split them into sentences, match bank names, extract the listed sources, deduplicate the pages, then crawl them from GitHub's servers while respecting robots.txt.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PAWC uses the position-adjusted word count from the GEO paper, applied to banks instead of sources. The chart shows the weight each sentence gets in a ten-sentence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funnel shows how much of the cited web could be read. The list is what the data cannot tell you.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dot per engine. The line between the dots is the gap between the engines for that bank.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 combines prominence in the answer, the authority of the pages cited alongside the bank, sentiment and whether both engines name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Apps and subsidiaries credit their parent bank, so Jenius counts for Bank BTPN and blu for BCA.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comparison prompts name banks, which puts those banks in the answer, so they are left out here. Outlined cells lead their row, ties together. Every lead is a tie or one answer, so read the rows as close.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PAWC rises when a bank is named early and talked about at length.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mark is one bank in one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about how something works get general answers without bank names.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Site types were labelled per domain. Percentages are rounded.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bank that wants to appear in both engines cannot rely on one set of pages.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fold in the middle is the comparison: the same sites, two very different weights.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Gemini keeps citing the same few articles, a bank's place in them could carry into many answers.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Higher concentration means a few sites carry more of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positive gap means the engines talk about the bank more than the cited pages 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redirect wrapper is where Gemini's broken links concentrate in this data.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suggests schema did not decide which pages got cited. It is a pattern, not a test.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likely levers based on one snapshot, not tested interventions.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came from a bug or a check during the build. The fixes and tests are in the repo history.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runs would turn each number into a range.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motif-ring-orbit-wide"/>
          <p:cNvSpPr/>
          <p:nvPr/>
        </p:nvSpPr>
        <p:spPr>
          <a:xfrm>
            <a:off x="8064500" y="2400300"/>
            <a:ext cx="3683000" cy="787400"/>
          </a:xfrm>
          <a:prstGeom prst="ellipse">
            <a:avLst/>
          </a:prstGeom>
          <a:noFill/>
          <a:ln w="12700">
            <a:solidFill>
              <a:srgbClr val="3A3D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otif-ring-orbit-near"/>
          <p:cNvSpPr/>
          <p:nvPr/>
        </p:nvSpPr>
        <p:spPr>
          <a:xfrm>
            <a:off x="8445500" y="2514600"/>
            <a:ext cx="2920999" cy="558800"/>
          </a:xfrm>
          <a:prstGeom prst="ellipse">
            <a:avLst/>
          </a:prstGeom>
          <a:noFill/>
          <a:ln w="12700">
            <a:solidFill>
              <a:srgbClr val="3A3D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motif-ring-halo"/>
          <p:cNvSpPr/>
          <p:nvPr/>
        </p:nvSpPr>
        <p:spPr>
          <a:xfrm>
            <a:off x="8159750" y="1047750"/>
            <a:ext cx="3492500" cy="3492500"/>
          </a:xfrm>
          <a:prstGeom prst="ellipse">
            <a:avLst/>
          </a:prstGeom>
          <a:noFill/>
          <a:ln w="9525">
            <a:solidFill>
              <a:srgbClr val="3A3D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motif-ring-photon"/>
          <p:cNvSpPr/>
          <p:nvPr/>
        </p:nvSpPr>
        <p:spPr>
          <a:xfrm>
            <a:off x="8636000" y="1524000"/>
            <a:ext cx="2540000" cy="2540000"/>
          </a:xfrm>
          <a:prstGeom prst="ellipse">
            <a:avLst/>
          </a:prstGeom>
          <a:solidFill>
            <a:srgbClr val="000000"/>
          </a:solidFill>
          <a:ln w="19050">
            <a:solidFill>
              <a:srgbClr val="ECE7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motif-ring-inner"/>
          <p:cNvSpPr/>
          <p:nvPr/>
        </p:nvSpPr>
        <p:spPr>
          <a:xfrm>
            <a:off x="8724900" y="1612900"/>
            <a:ext cx="2362200" cy="2362200"/>
          </a:xfrm>
          <a:prstGeom prst="ellipse">
            <a:avLst/>
          </a:prstGeom>
          <a:noFill/>
          <a:ln w="9525">
            <a:solidFill>
              <a:srgbClr val="3A3D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motif-line-disk-gpt"/>
          <p:cNvCxnSpPr/>
          <p:nvPr/>
        </p:nvCxnSpPr>
        <p:spPr>
          <a:xfrm>
            <a:off x="7874000" y="2755900"/>
            <a:ext cx="4064000" cy="0"/>
          </a:xfrm>
          <a:prstGeom prst="line">
            <a:avLst/>
          </a:prstGeom>
          <a:ln w="19050">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8" name="motif-line-disk-gem"/>
          <p:cNvCxnSpPr/>
          <p:nvPr/>
        </p:nvCxnSpPr>
        <p:spPr>
          <a:xfrm>
            <a:off x="7874000" y="2832100"/>
            <a:ext cx="4064000" cy="0"/>
          </a:xfrm>
          <a:prstGeom prst="line">
            <a:avLst/>
          </a:prstGeom>
          <a:ln w="19050">
            <a:solidFill>
              <a:srgbClr val="4790D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62000" y="1905000"/>
            <a:ext cx="5969000" cy="195579"/>
          </a:xfrm>
          <a:prstGeom prst="rect">
            <a:avLst/>
          </a:prstGeom>
          <a:noFill/>
        </p:spPr>
        <p:txBody>
          <a:bodyPr wrap="square" lIns="0" rIns="0" tIns="0" bIns="0" anchor="t">
            <a:spAutoFit/>
          </a:bodyPr>
          <a:lstStyle/>
          <a:p>
            <a:pPr algn="l">
              <a:lnSpc>
                <a:spcPct val="115000"/>
              </a:lnSpc>
            </a:pPr>
            <a:r>
              <a:rPr sz="1100" b="0" spc="200">
                <a:solidFill>
                  <a:srgbClr val="9A9EA6"/>
                </a:solidFill>
                <a:latin typeface="IBM Plex Mono"/>
              </a:rPr>
              <a:t>A GEO STUDY  ·  40 AI ANSWERS  ·  09.10.2026</a:t>
            </a:r>
          </a:p>
        </p:txBody>
      </p:sp>
      <p:sp>
        <p:nvSpPr>
          <p:cNvPr id="10" name="TextBox 9"/>
          <p:cNvSpPr txBox="1"/>
          <p:nvPr/>
        </p:nvSpPr>
        <p:spPr>
          <a:xfrm>
            <a:off x="762000" y="2159000"/>
            <a:ext cx="7048500" cy="1209039"/>
          </a:xfrm>
          <a:prstGeom prst="rect">
            <a:avLst/>
          </a:prstGeom>
          <a:noFill/>
        </p:spPr>
        <p:txBody>
          <a:bodyPr wrap="square" lIns="0" rIns="0" tIns="0" bIns="0" anchor="t">
            <a:spAutoFit/>
          </a:bodyPr>
          <a:lstStyle/>
          <a:p>
            <a:pPr algn="l">
              <a:lnSpc>
                <a:spcPct val="115000"/>
              </a:lnSpc>
            </a:pPr>
            <a:r>
              <a:rPr sz="6800" b="0">
                <a:solidFill>
                  <a:srgbClr val="ECE7DD"/>
                </a:solidFill>
                <a:latin typeface="Work Sans"/>
              </a:rPr>
              <a:t>Favoured Banks</a:t>
            </a:r>
          </a:p>
        </p:txBody>
      </p:sp>
      <p:sp>
        <p:nvSpPr>
          <p:cNvPr id="11" name="TextBox 10"/>
          <p:cNvSpPr txBox="1"/>
          <p:nvPr/>
        </p:nvSpPr>
        <p:spPr>
          <a:xfrm>
            <a:off x="762000" y="3495040"/>
            <a:ext cx="6731000" cy="711200"/>
          </a:xfrm>
          <a:prstGeom prst="rect">
            <a:avLst/>
          </a:prstGeom>
          <a:noFill/>
        </p:spPr>
        <p:txBody>
          <a:bodyPr wrap="square" lIns="0" rIns="0" tIns="0" bIns="0" anchor="t">
            <a:spAutoFit/>
          </a:bodyPr>
          <a:lstStyle/>
          <a:p>
            <a:pPr algn="l">
              <a:lnSpc>
                <a:spcPct val="115000"/>
              </a:lnSpc>
            </a:pPr>
            <a:r>
              <a:rPr sz="2000" b="0">
                <a:solidFill>
                  <a:srgbClr val="9A9EA6"/>
                </a:solidFill>
                <a:latin typeface="Work Sans"/>
              </a:rPr>
              <a:t>Which Indonesian banks ChatGPT and Gemini recommend, and which web pages they lean on</a:t>
            </a:r>
          </a:p>
        </p:txBody>
      </p:sp>
      <p:sp>
        <p:nvSpPr>
          <p:cNvPr id="12" name="TextBox 11"/>
          <p:cNvSpPr txBox="1"/>
          <p:nvPr/>
        </p:nvSpPr>
        <p:spPr>
          <a:xfrm>
            <a:off x="762000" y="5461000"/>
            <a:ext cx="5969000" cy="215900"/>
          </a:xfrm>
          <a:prstGeom prst="rect">
            <a:avLst/>
          </a:prstGeom>
          <a:noFill/>
        </p:spPr>
        <p:txBody>
          <a:bodyPr wrap="square" lIns="0" rIns="0" tIns="0" bIns="0" anchor="t">
            <a:spAutoFit/>
          </a:bodyPr>
          <a:lstStyle/>
          <a:p>
            <a:pPr algn="l">
              <a:lnSpc>
                <a:spcPct val="115000"/>
              </a:lnSpc>
            </a:pPr>
            <a:r>
              <a:rPr sz="1200" b="0">
                <a:solidFill>
                  <a:srgbClr val="ECE7DD"/>
                </a:solidFill>
                <a:latin typeface="IBM Plex Mono"/>
              </a:rPr>
              <a:t>Rahmananda Ridho Gamawan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10668000" cy="4622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One question, two answers</a:t>
            </a:r>
          </a:p>
        </p:txBody>
      </p:sp>
      <p:sp>
        <p:nvSpPr>
          <p:cNvPr id="7" name="TextBox 6"/>
          <p:cNvSpPr txBox="1"/>
          <p:nvPr/>
        </p:nvSpPr>
        <p:spPr>
          <a:xfrm>
            <a:off x="762000" y="1859280"/>
            <a:ext cx="9525000" cy="1173480"/>
          </a:xfrm>
          <a:prstGeom prst="rect">
            <a:avLst/>
          </a:prstGeom>
          <a:noFill/>
        </p:spPr>
        <p:txBody>
          <a:bodyPr wrap="square" lIns="0" rIns="0" tIns="0" bIns="0" anchor="t">
            <a:spAutoFit/>
          </a:bodyPr>
          <a:lstStyle/>
          <a:p>
            <a:pPr algn="l">
              <a:lnSpc>
                <a:spcPct val="115000"/>
              </a:lnSpc>
            </a:pPr>
            <a:r>
              <a:rPr sz="2200" b="0">
                <a:solidFill>
                  <a:srgbClr val="ECE7DD"/>
                </a:solidFill>
                <a:latin typeface="Work Sans"/>
              </a:rPr>
              <a:t>“Saya freelancer dengan penghasilan tidak tetap, butuh rekening tanpa saldo minimum dan bisa pisah kantong. Bank apa yang cocok?”</a:t>
            </a:r>
          </a:p>
        </p:txBody>
      </p:sp>
      <p:sp>
        <p:nvSpPr>
          <p:cNvPr id="8" name="TextBox 7"/>
          <p:cNvSpPr txBox="1"/>
          <p:nvPr/>
        </p:nvSpPr>
        <p:spPr>
          <a:xfrm>
            <a:off x="762000" y="3185160"/>
            <a:ext cx="9525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I'm a freelancer with irregular income. I need an account with no minimum balance that lets me split money into pockets. Which bank fits?</a:t>
            </a:r>
          </a:p>
        </p:txBody>
      </p:sp>
      <p:sp>
        <p:nvSpPr>
          <p:cNvPr id="9" name="Rectangle 8"/>
          <p:cNvSpPr/>
          <p:nvPr/>
        </p:nvSpPr>
        <p:spPr>
          <a:xfrm>
            <a:off x="762000" y="4114800"/>
            <a:ext cx="88900" cy="88900"/>
          </a:xfrm>
          <a:prstGeom prst="rect">
            <a:avLst/>
          </a:prstGeom>
          <a:solidFill>
            <a:srgbClr val="D0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2500" y="4064000"/>
            <a:ext cx="3810000" cy="195579"/>
          </a:xfrm>
          <a:prstGeom prst="rect">
            <a:avLst/>
          </a:prstGeom>
          <a:noFill/>
        </p:spPr>
        <p:txBody>
          <a:bodyPr wrap="square" lIns="0" rIns="0" tIns="0" bIns="0" anchor="t">
            <a:spAutoFit/>
          </a:bodyPr>
          <a:lstStyle/>
          <a:p>
            <a:pPr algn="l">
              <a:lnSpc>
                <a:spcPct val="115000"/>
              </a:lnSpc>
            </a:pPr>
            <a:r>
              <a:rPr sz="1100" b="0" spc="200">
                <a:solidFill>
                  <a:srgbClr val="9A9EA6"/>
                </a:solidFill>
                <a:latin typeface="IBM Plex Mono"/>
              </a:rPr>
              <a:t>CHATGPT NAMED</a:t>
            </a:r>
          </a:p>
        </p:txBody>
      </p:sp>
      <p:sp>
        <p:nvSpPr>
          <p:cNvPr id="11" name="TextBox 10"/>
          <p:cNvSpPr txBox="1"/>
          <p:nvPr/>
        </p:nvSpPr>
        <p:spPr>
          <a:xfrm>
            <a:off x="762000" y="4381500"/>
            <a:ext cx="4318000" cy="1280159"/>
          </a:xfrm>
          <a:prstGeom prst="rect">
            <a:avLst/>
          </a:prstGeom>
          <a:noFill/>
        </p:spPr>
        <p:txBody>
          <a:bodyPr wrap="square" lIns="0" rIns="0" tIns="0" bIns="0" anchor="t">
            <a:spAutoFit/>
          </a:bodyPr>
          <a:lstStyle/>
          <a:p>
            <a:pPr algn="l">
              <a:lnSpc>
                <a:spcPct val="115000"/>
              </a:lnSpc>
            </a:pPr>
            <a:r>
              <a:rPr sz="2400" b="0">
                <a:solidFill>
                  <a:srgbClr val="ECE7DD"/>
                </a:solidFill>
                <a:latin typeface="Work Sans"/>
              </a:rPr>
              <a:t>BCA</a:t>
            </a:r>
          </a:p>
          <a:p>
            <a:pPr algn="l">
              <a:lnSpc>
                <a:spcPct val="115000"/>
              </a:lnSpc>
            </a:pPr>
            <a:r>
              <a:rPr sz="2400" b="0">
                <a:solidFill>
                  <a:srgbClr val="ECE7DD"/>
                </a:solidFill>
                <a:latin typeface="Work Sans"/>
              </a:rPr>
              <a:t>Bank Jago</a:t>
            </a:r>
          </a:p>
          <a:p>
            <a:pPr algn="l">
              <a:lnSpc>
                <a:spcPct val="115000"/>
              </a:lnSpc>
            </a:pPr>
            <a:r>
              <a:rPr sz="2400" b="0">
                <a:solidFill>
                  <a:srgbClr val="ECE7DD"/>
                </a:solidFill>
                <a:latin typeface="Work Sans"/>
              </a:rPr>
              <a:t>SeaBank</a:t>
            </a:r>
          </a:p>
        </p:txBody>
      </p:sp>
      <p:sp>
        <p:nvSpPr>
          <p:cNvPr id="12" name="Rectangle 11"/>
          <p:cNvSpPr/>
          <p:nvPr/>
        </p:nvSpPr>
        <p:spPr>
          <a:xfrm>
            <a:off x="5588000" y="4114800"/>
            <a:ext cx="88900" cy="88900"/>
          </a:xfrm>
          <a:prstGeom prst="rect">
            <a:avLst/>
          </a:prstGeom>
          <a:solidFill>
            <a:srgbClr val="479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78500" y="4064000"/>
            <a:ext cx="3810000" cy="195579"/>
          </a:xfrm>
          <a:prstGeom prst="rect">
            <a:avLst/>
          </a:prstGeom>
          <a:noFill/>
        </p:spPr>
        <p:txBody>
          <a:bodyPr wrap="square" lIns="0" rIns="0" tIns="0" bIns="0" anchor="t">
            <a:spAutoFit/>
          </a:bodyPr>
          <a:lstStyle/>
          <a:p>
            <a:pPr algn="l">
              <a:lnSpc>
                <a:spcPct val="115000"/>
              </a:lnSpc>
            </a:pPr>
            <a:r>
              <a:rPr sz="1100" b="0" spc="200">
                <a:solidFill>
                  <a:srgbClr val="9A9EA6"/>
                </a:solidFill>
                <a:latin typeface="IBM Plex Mono"/>
              </a:rPr>
              <a:t>GEMINI NAMED</a:t>
            </a:r>
          </a:p>
        </p:txBody>
      </p:sp>
      <p:sp>
        <p:nvSpPr>
          <p:cNvPr id="14" name="TextBox 13"/>
          <p:cNvSpPr txBox="1"/>
          <p:nvPr/>
        </p:nvSpPr>
        <p:spPr>
          <a:xfrm>
            <a:off x="5588000" y="4381500"/>
            <a:ext cx="4318000" cy="1280159"/>
          </a:xfrm>
          <a:prstGeom prst="rect">
            <a:avLst/>
          </a:prstGeom>
          <a:noFill/>
        </p:spPr>
        <p:txBody>
          <a:bodyPr wrap="square" lIns="0" rIns="0" tIns="0" bIns="0" anchor="t">
            <a:spAutoFit/>
          </a:bodyPr>
          <a:lstStyle/>
          <a:p>
            <a:pPr algn="l">
              <a:lnSpc>
                <a:spcPct val="115000"/>
              </a:lnSpc>
            </a:pPr>
            <a:r>
              <a:rPr sz="2400" b="0">
                <a:solidFill>
                  <a:srgbClr val="ECE7DD"/>
                </a:solidFill>
                <a:latin typeface="Work Sans"/>
              </a:rPr>
              <a:t>BCA</a:t>
            </a:r>
          </a:p>
          <a:p>
            <a:pPr algn="l">
              <a:lnSpc>
                <a:spcPct val="115000"/>
              </a:lnSpc>
            </a:pPr>
            <a:r>
              <a:rPr sz="2400" b="0">
                <a:solidFill>
                  <a:srgbClr val="ECE7DD"/>
                </a:solidFill>
                <a:latin typeface="Work Sans"/>
              </a:rPr>
              <a:t>Bank BTPN (Jenius)</a:t>
            </a:r>
          </a:p>
          <a:p>
            <a:pPr algn="l">
              <a:lnSpc>
                <a:spcPct val="115000"/>
              </a:lnSpc>
            </a:pPr>
            <a:r>
              <a:rPr sz="2400" b="0">
                <a:solidFill>
                  <a:srgbClr val="ECE7DD"/>
                </a:solidFill>
                <a:latin typeface="Work Sans"/>
              </a:rPr>
              <a:t>Bank Jago</a:t>
            </a:r>
          </a:p>
        </p:txBody>
      </p:sp>
      <p:sp>
        <p:nvSpPr>
          <p:cNvPr id="15" name="TextBox 14"/>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6" name="TextBox 15"/>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COLD OPEN</a:t>
            </a:r>
          </a:p>
        </p:txBody>
      </p:sp>
      <p:sp>
        <p:nvSpPr>
          <p:cNvPr id="17" name="TextBox 16"/>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02</a:t>
            </a:r>
          </a:p>
        </p:txBody>
      </p:sp>
      <p:sp>
        <p:nvSpPr>
          <p:cNvPr id="18" name="TextBox 17"/>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Prompt 13 of 20  ·  run on 09.10.2026  ·  source: data/interim/mentions.csv</a:t>
            </a:r>
          </a:p>
        </p:txBody>
      </p:sp>
      <p:cxnSp>
        <p:nvCxnSpPr>
          <p:cNvPr id="19"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2"/>
          <p:cNvCxnSpPr/>
          <p:nvPr/>
        </p:nvCxnSpPr>
        <p:spPr>
          <a:xfrm>
            <a:off x="79883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21" name="motif-line-tick-03"/>
          <p:cNvCxnSpPr/>
          <p:nvPr/>
        </p:nvCxnSpPr>
        <p:spPr>
          <a:xfrm>
            <a:off x="8102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2" name="motif-line-tick-04"/>
          <p:cNvCxnSpPr/>
          <p:nvPr/>
        </p:nvCxnSpPr>
        <p:spPr>
          <a:xfrm>
            <a:off x="8216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3" name="motif-line-tick-05"/>
          <p:cNvCxnSpPr/>
          <p:nvPr/>
        </p:nvCxnSpPr>
        <p:spPr>
          <a:xfrm>
            <a:off x="8331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4" name="motif-line-tick-06"/>
          <p:cNvCxnSpPr/>
          <p:nvPr/>
        </p:nvCxnSpPr>
        <p:spPr>
          <a:xfrm>
            <a:off x="8445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5" name="motif-line-tick-07"/>
          <p:cNvCxnSpPr/>
          <p:nvPr/>
        </p:nvCxnSpPr>
        <p:spPr>
          <a:xfrm>
            <a:off x="8559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6" name="motif-line-tick-08"/>
          <p:cNvCxnSpPr/>
          <p:nvPr/>
        </p:nvCxnSpPr>
        <p:spPr>
          <a:xfrm>
            <a:off x="8674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tick-09"/>
          <p:cNvCxnSpPr/>
          <p:nvPr/>
        </p:nvCxnSpPr>
        <p:spPr>
          <a:xfrm>
            <a:off x="8788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tick-10"/>
          <p:cNvCxnSpPr/>
          <p:nvPr/>
        </p:nvCxnSpPr>
        <p:spPr>
          <a:xfrm>
            <a:off x="8902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1"/>
          <p:cNvCxnSpPr/>
          <p:nvPr/>
        </p:nvCxnSpPr>
        <p:spPr>
          <a:xfrm>
            <a:off x="9017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2"/>
          <p:cNvCxnSpPr/>
          <p:nvPr/>
        </p:nvCxnSpPr>
        <p:spPr>
          <a:xfrm>
            <a:off x="9131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13"/>
          <p:cNvCxnSpPr/>
          <p:nvPr/>
        </p:nvCxnSpPr>
        <p:spPr>
          <a:xfrm>
            <a:off x="9245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14"/>
          <p:cNvCxnSpPr/>
          <p:nvPr/>
        </p:nvCxnSpPr>
        <p:spPr>
          <a:xfrm>
            <a:off x="9359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15"/>
          <p:cNvCxnSpPr/>
          <p:nvPr/>
        </p:nvCxnSpPr>
        <p:spPr>
          <a:xfrm>
            <a:off x="9474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6"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7"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8"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9"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0"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TextBox 1"/>
          <p:cNvSpPr txBox="1"/>
          <p:nvPr/>
        </p:nvSpPr>
        <p:spPr>
          <a:xfrm>
            <a:off x="762000" y="1079500"/>
            <a:ext cx="9525000" cy="9245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People now ask for answers. A strong Google rank is a weak guide to who gets cited.</a:t>
            </a:r>
          </a:p>
        </p:txBody>
      </p:sp>
      <p:sp>
        <p:nvSpPr>
          <p:cNvPr id="3" name="TextBox 2"/>
          <p:cNvSpPr txBox="1"/>
          <p:nvPr/>
        </p:nvSpPr>
        <p:spPr>
          <a:xfrm>
            <a:off x="762000" y="2476500"/>
            <a:ext cx="5207000" cy="1280160"/>
          </a:xfrm>
          <a:prstGeom prst="rect">
            <a:avLst/>
          </a:prstGeom>
          <a:noFill/>
        </p:spPr>
        <p:txBody>
          <a:bodyPr wrap="square" lIns="0" rIns="0" tIns="0" bIns="0" anchor="t">
            <a:spAutoFit/>
          </a:bodyPr>
          <a:lstStyle/>
          <a:p>
            <a:pPr algn="l">
              <a:lnSpc>
                <a:spcPct val="115000"/>
              </a:lnSpc>
            </a:pPr>
            <a:r>
              <a:rPr sz="7200" b="0">
                <a:solidFill>
                  <a:srgbClr val="ECE7DD"/>
                </a:solidFill>
                <a:latin typeface="Work Sans"/>
              </a:rPr>
              <a:t>14% → 24%</a:t>
            </a:r>
          </a:p>
        </p:txBody>
      </p:sp>
      <p:sp>
        <p:nvSpPr>
          <p:cNvPr id="4" name="TextBox 3"/>
          <p:cNvSpPr txBox="1"/>
          <p:nvPr/>
        </p:nvSpPr>
        <p:spPr>
          <a:xfrm>
            <a:off x="762000" y="3810000"/>
            <a:ext cx="4572000" cy="568960"/>
          </a:xfrm>
          <a:prstGeom prst="rect">
            <a:avLst/>
          </a:prstGeom>
          <a:noFill/>
        </p:spPr>
        <p:txBody>
          <a:bodyPr wrap="square" lIns="0" rIns="0" tIns="0" bIns="0" anchor="t">
            <a:spAutoFit/>
          </a:bodyPr>
          <a:lstStyle/>
          <a:p>
            <a:pPr algn="l">
              <a:lnSpc>
                <a:spcPct val="115000"/>
              </a:lnSpc>
            </a:pPr>
            <a:r>
              <a:rPr sz="1600" b="0">
                <a:solidFill>
                  <a:srgbClr val="9A9EA6"/>
                </a:solidFill>
                <a:latin typeface="Work Sans"/>
              </a:rPr>
              <a:t>share of ChatGPT conversations that seek information, a year apart</a:t>
            </a:r>
          </a:p>
        </p:txBody>
      </p:sp>
      <p:sp>
        <p:nvSpPr>
          <p:cNvPr id="5" name="TextBox 4"/>
          <p:cNvSpPr txBox="1"/>
          <p:nvPr/>
        </p:nvSpPr>
        <p:spPr>
          <a:xfrm>
            <a:off x="762000" y="4572000"/>
            <a:ext cx="4572000" cy="1905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OpenAI usage study, via Search Engine Journal</a:t>
            </a:r>
          </a:p>
        </p:txBody>
      </p:sp>
      <p:sp>
        <p:nvSpPr>
          <p:cNvPr id="6" name="TextBox 5"/>
          <p:cNvSpPr txBox="1"/>
          <p:nvPr/>
        </p:nvSpPr>
        <p:spPr>
          <a:xfrm>
            <a:off x="6223000" y="2476500"/>
            <a:ext cx="5207000" cy="1280160"/>
          </a:xfrm>
          <a:prstGeom prst="rect">
            <a:avLst/>
          </a:prstGeom>
          <a:noFill/>
        </p:spPr>
        <p:txBody>
          <a:bodyPr wrap="square" lIns="0" rIns="0" tIns="0" bIns="0" anchor="t">
            <a:spAutoFit/>
          </a:bodyPr>
          <a:lstStyle/>
          <a:p>
            <a:pPr algn="l">
              <a:lnSpc>
                <a:spcPct val="115000"/>
              </a:lnSpc>
            </a:pPr>
            <a:r>
              <a:rPr sz="7200" b="0">
                <a:solidFill>
                  <a:srgbClr val="ECE7DD"/>
                </a:solidFill>
                <a:latin typeface="Work Sans"/>
              </a:rPr>
              <a:t>12%</a:t>
            </a:r>
          </a:p>
        </p:txBody>
      </p:sp>
      <p:sp>
        <p:nvSpPr>
          <p:cNvPr id="7" name="TextBox 6"/>
          <p:cNvSpPr txBox="1"/>
          <p:nvPr/>
        </p:nvSpPr>
        <p:spPr>
          <a:xfrm>
            <a:off x="6223000" y="3810000"/>
            <a:ext cx="4572000" cy="568960"/>
          </a:xfrm>
          <a:prstGeom prst="rect">
            <a:avLst/>
          </a:prstGeom>
          <a:noFill/>
        </p:spPr>
        <p:txBody>
          <a:bodyPr wrap="square" lIns="0" rIns="0" tIns="0" bIns="0" anchor="t">
            <a:spAutoFit/>
          </a:bodyPr>
          <a:lstStyle/>
          <a:p>
            <a:pPr algn="l">
              <a:lnSpc>
                <a:spcPct val="115000"/>
              </a:lnSpc>
            </a:pPr>
            <a:r>
              <a:rPr sz="1600" b="0">
                <a:solidFill>
                  <a:srgbClr val="9A9EA6"/>
                </a:solidFill>
                <a:latin typeface="Work Sans"/>
              </a:rPr>
              <a:t>of URLs cited by AI assistants rank in Google's top 10 for the same query</a:t>
            </a:r>
          </a:p>
        </p:txBody>
      </p:sp>
      <p:sp>
        <p:nvSpPr>
          <p:cNvPr id="8" name="TextBox 7"/>
          <p:cNvSpPr txBox="1"/>
          <p:nvPr/>
        </p:nvSpPr>
        <p:spPr>
          <a:xfrm>
            <a:off x="6223000" y="4572000"/>
            <a:ext cx="4572000" cy="1905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Ahrefs, 15,000 prompts</a:t>
            </a:r>
          </a:p>
        </p:txBody>
      </p:sp>
      <p:pic>
        <p:nvPicPr>
          <p:cNvPr id="9" name="motif-horizon" descr="motif-horizon.png"/>
          <p:cNvPicPr>
            <a:picLocks noChangeAspect="1"/>
          </p:cNvPicPr>
          <p:nvPr/>
        </p:nvPicPr>
        <p:blipFill>
          <a:blip r:embed="rId2"/>
          <a:stretch>
            <a:fillRect/>
          </a:stretch>
        </p:blipFill>
        <p:spPr>
          <a:xfrm>
            <a:off x="0" y="5511800"/>
            <a:ext cx="12192000" cy="13462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70000"/>
            <a:ext cx="10668000" cy="5334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Three questions</a:t>
            </a:r>
          </a:p>
        </p:txBody>
      </p:sp>
      <p:sp>
        <p:nvSpPr>
          <p:cNvPr id="7" name="TextBox 6"/>
          <p:cNvSpPr txBox="1"/>
          <p:nvPr/>
        </p:nvSpPr>
        <p:spPr>
          <a:xfrm>
            <a:off x="762000" y="204470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01</a:t>
            </a:r>
          </a:p>
        </p:txBody>
      </p:sp>
      <p:sp>
        <p:nvSpPr>
          <p:cNvPr id="8" name="TextBox 7"/>
          <p:cNvSpPr txBox="1"/>
          <p:nvPr/>
        </p:nvSpPr>
        <p:spPr>
          <a:xfrm>
            <a:off x="1524000" y="2019300"/>
            <a:ext cx="8636000" cy="30225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Which banks does each engine name, how early, and in what tone?</a:t>
            </a:r>
          </a:p>
        </p:txBody>
      </p:sp>
      <p:sp>
        <p:nvSpPr>
          <p:cNvPr id="9" name="TextBox 8"/>
          <p:cNvSpPr txBox="1"/>
          <p:nvPr/>
        </p:nvSpPr>
        <p:spPr>
          <a:xfrm>
            <a:off x="762000" y="248666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02</a:t>
            </a:r>
          </a:p>
        </p:txBody>
      </p:sp>
      <p:sp>
        <p:nvSpPr>
          <p:cNvPr id="10" name="TextBox 9"/>
          <p:cNvSpPr txBox="1"/>
          <p:nvPr/>
        </p:nvSpPr>
        <p:spPr>
          <a:xfrm>
            <a:off x="1524000" y="2461260"/>
            <a:ext cx="8636000" cy="30225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Which sources does each engine cite, and do the two engines agree?</a:t>
            </a:r>
          </a:p>
        </p:txBody>
      </p:sp>
      <p:sp>
        <p:nvSpPr>
          <p:cNvPr id="11" name="TextBox 10"/>
          <p:cNvSpPr txBox="1"/>
          <p:nvPr/>
        </p:nvSpPr>
        <p:spPr>
          <a:xfrm>
            <a:off x="762000" y="292862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03</a:t>
            </a:r>
          </a:p>
        </p:txBody>
      </p:sp>
      <p:sp>
        <p:nvSpPr>
          <p:cNvPr id="12" name="TextBox 11"/>
          <p:cNvSpPr txBox="1"/>
          <p:nvPr/>
        </p:nvSpPr>
        <p:spPr>
          <a:xfrm>
            <a:off x="1524000" y="2903220"/>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Where does a bank's share of the answers differ from its share of the cited pages?</a:t>
            </a:r>
          </a:p>
        </p:txBody>
      </p:sp>
      <p:cxnSp>
        <p:nvCxnSpPr>
          <p:cNvPr id="13" name="motif-line-rail"/>
          <p:cNvCxnSpPr/>
          <p:nvPr/>
        </p:nvCxnSpPr>
        <p:spPr>
          <a:xfrm>
            <a:off x="1282700" y="2056130"/>
            <a:ext cx="0" cy="111252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4" name="motif-line-stop-1"/>
          <p:cNvCxnSpPr/>
          <p:nvPr/>
        </p:nvCxnSpPr>
        <p:spPr>
          <a:xfrm>
            <a:off x="1238250" y="217043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stop-2"/>
          <p:cNvCxnSpPr/>
          <p:nvPr/>
        </p:nvCxnSpPr>
        <p:spPr>
          <a:xfrm>
            <a:off x="1238250" y="261239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stop-3"/>
          <p:cNvCxnSpPr/>
          <p:nvPr/>
        </p:nvCxnSpPr>
        <p:spPr>
          <a:xfrm>
            <a:off x="1238250" y="305435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8" name="TextBox 1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COLD OPEN</a:t>
            </a:r>
          </a:p>
        </p:txBody>
      </p:sp>
      <p:sp>
        <p:nvSpPr>
          <p:cNvPr id="19" name="TextBox 1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04</a:t>
            </a:r>
          </a:p>
        </p:txBody>
      </p:sp>
      <p:cxnSp>
        <p:nvCxnSpPr>
          <p:cNvPr id="20"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04"/>
          <p:cNvCxnSpPr/>
          <p:nvPr/>
        </p:nvCxnSpPr>
        <p:spPr>
          <a:xfrm>
            <a:off x="82169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24" name="motif-line-tick-05"/>
          <p:cNvCxnSpPr/>
          <p:nvPr/>
        </p:nvCxnSpPr>
        <p:spPr>
          <a:xfrm>
            <a:off x="8331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5" name="motif-line-tick-06"/>
          <p:cNvCxnSpPr/>
          <p:nvPr/>
        </p:nvCxnSpPr>
        <p:spPr>
          <a:xfrm>
            <a:off x="8445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6" name="motif-line-tick-07"/>
          <p:cNvCxnSpPr/>
          <p:nvPr/>
        </p:nvCxnSpPr>
        <p:spPr>
          <a:xfrm>
            <a:off x="8559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tick-08"/>
          <p:cNvCxnSpPr/>
          <p:nvPr/>
        </p:nvCxnSpPr>
        <p:spPr>
          <a:xfrm>
            <a:off x="8674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tick-09"/>
          <p:cNvCxnSpPr/>
          <p:nvPr/>
        </p:nvCxnSpPr>
        <p:spPr>
          <a:xfrm>
            <a:off x="8788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0"/>
          <p:cNvCxnSpPr/>
          <p:nvPr/>
        </p:nvCxnSpPr>
        <p:spPr>
          <a:xfrm>
            <a:off x="8902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1"/>
          <p:cNvCxnSpPr/>
          <p:nvPr/>
        </p:nvCxnSpPr>
        <p:spPr>
          <a:xfrm>
            <a:off x="9017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12"/>
          <p:cNvCxnSpPr/>
          <p:nvPr/>
        </p:nvCxnSpPr>
        <p:spPr>
          <a:xfrm>
            <a:off x="9131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13"/>
          <p:cNvCxnSpPr/>
          <p:nvPr/>
        </p:nvCxnSpPr>
        <p:spPr>
          <a:xfrm>
            <a:off x="9245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14"/>
          <p:cNvCxnSpPr/>
          <p:nvPr/>
        </p:nvCxnSpPr>
        <p:spPr>
          <a:xfrm>
            <a:off x="9359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15"/>
          <p:cNvCxnSpPr/>
          <p:nvPr/>
        </p:nvCxnSpPr>
        <p:spPr>
          <a:xfrm>
            <a:off x="9474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6"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7"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8"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9"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0"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1"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cxnSp>
        <p:nvCxnSpPr>
          <p:cNvPr id="2" name="motif-line-corridor-corner-0"/>
          <p:cNvCxnSpPr/>
          <p:nvPr/>
        </p:nvCxnSpPr>
        <p:spPr>
          <a:xfrm>
            <a:off x="0" y="0"/>
            <a:ext cx="2794000" cy="2095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 name="motif-line-corridor-corner-1"/>
          <p:cNvCxnSpPr/>
          <p:nvPr/>
        </p:nvCxnSpPr>
        <p:spPr>
          <a:xfrm flipH="1">
            <a:off x="9398000" y="0"/>
            <a:ext cx="2794000" cy="2095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 name="motif-line-corridor-corner-2"/>
          <p:cNvCxnSpPr/>
          <p:nvPr/>
        </p:nvCxnSpPr>
        <p:spPr>
          <a:xfrm flipV="1">
            <a:off x="0" y="5016500"/>
            <a:ext cx="2794000" cy="1841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corridor-corner-3"/>
          <p:cNvCxnSpPr/>
          <p:nvPr/>
        </p:nvCxnSpPr>
        <p:spPr>
          <a:xfrm flipH="1" flipV="1">
            <a:off x="9398000" y="5016500"/>
            <a:ext cx="2794000" cy="1841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6" name="motif-line-corridor-top-1"/>
          <p:cNvCxnSpPr/>
          <p:nvPr/>
        </p:nvCxnSpPr>
        <p:spPr>
          <a:xfrm>
            <a:off x="2032000" y="0"/>
            <a:ext cx="1862666"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7" name="motif-line-corridor-floor-1"/>
          <p:cNvCxnSpPr/>
          <p:nvPr/>
        </p:nvCxnSpPr>
        <p:spPr>
          <a:xfrm flipV="1">
            <a:off x="2032000" y="5016500"/>
            <a:ext cx="1862666"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8" name="motif-line-corridor-top-2"/>
          <p:cNvCxnSpPr/>
          <p:nvPr/>
        </p:nvCxnSpPr>
        <p:spPr>
          <a:xfrm>
            <a:off x="4064000" y="0"/>
            <a:ext cx="931333"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9" name="motif-line-corridor-floor-2"/>
          <p:cNvCxnSpPr/>
          <p:nvPr/>
        </p:nvCxnSpPr>
        <p:spPr>
          <a:xfrm flipV="1">
            <a:off x="4064000" y="5016500"/>
            <a:ext cx="931333"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0" name="motif-line-corridor-top-3"/>
          <p:cNvCxnSpPr/>
          <p:nvPr/>
        </p:nvCxnSpPr>
        <p:spPr>
          <a:xfrm>
            <a:off x="6096000" y="0"/>
            <a:ext cx="0"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1" name="motif-line-corridor-floor-3"/>
          <p:cNvCxnSpPr/>
          <p:nvPr/>
        </p:nvCxnSpPr>
        <p:spPr>
          <a:xfrm flipV="1">
            <a:off x="6096000" y="5016500"/>
            <a:ext cx="0"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2" name="motif-line-corridor-top-4"/>
          <p:cNvCxnSpPr/>
          <p:nvPr/>
        </p:nvCxnSpPr>
        <p:spPr>
          <a:xfrm flipH="1">
            <a:off x="7196666" y="0"/>
            <a:ext cx="931334"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3" name="motif-line-corridor-floor-4"/>
          <p:cNvCxnSpPr/>
          <p:nvPr/>
        </p:nvCxnSpPr>
        <p:spPr>
          <a:xfrm flipH="1" flipV="1">
            <a:off x="7196666" y="5016500"/>
            <a:ext cx="931334"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4" name="motif-line-corridor-top-5"/>
          <p:cNvCxnSpPr/>
          <p:nvPr/>
        </p:nvCxnSpPr>
        <p:spPr>
          <a:xfrm flipH="1">
            <a:off x="8297333" y="0"/>
            <a:ext cx="1862667"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5" name="motif-line-corridor-floor-5"/>
          <p:cNvCxnSpPr/>
          <p:nvPr/>
        </p:nvCxnSpPr>
        <p:spPr>
          <a:xfrm flipH="1" flipV="1">
            <a:off x="8297333" y="5016500"/>
            <a:ext cx="1862667"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6" name="motif-line-corridor-left-1"/>
          <p:cNvCxnSpPr/>
          <p:nvPr/>
        </p:nvCxnSpPr>
        <p:spPr>
          <a:xfrm>
            <a:off x="0" y="1714500"/>
            <a:ext cx="2794000" cy="1111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7" name="motif-line-corridor-right-1"/>
          <p:cNvCxnSpPr/>
          <p:nvPr/>
        </p:nvCxnSpPr>
        <p:spPr>
          <a:xfrm flipH="1">
            <a:off x="9398000" y="1714500"/>
            <a:ext cx="2794000" cy="1111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8" name="motif-line-corridor-left-2"/>
          <p:cNvCxnSpPr/>
          <p:nvPr/>
        </p:nvCxnSpPr>
        <p:spPr>
          <a:xfrm>
            <a:off x="0" y="3429000"/>
            <a:ext cx="2794000" cy="1270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9" name="motif-line-corridor-right-2"/>
          <p:cNvCxnSpPr/>
          <p:nvPr/>
        </p:nvCxnSpPr>
        <p:spPr>
          <a:xfrm flipH="1">
            <a:off x="9398000" y="3429000"/>
            <a:ext cx="2794000" cy="1270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0" name="motif-line-corridor-left-3"/>
          <p:cNvCxnSpPr/>
          <p:nvPr/>
        </p:nvCxnSpPr>
        <p:spPr>
          <a:xfrm flipV="1">
            <a:off x="0" y="4286250"/>
            <a:ext cx="2794000" cy="857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1" name="motif-line-corridor-right-3"/>
          <p:cNvCxnSpPr/>
          <p:nvPr/>
        </p:nvCxnSpPr>
        <p:spPr>
          <a:xfrm flipH="1" flipV="1">
            <a:off x="9398000" y="4286250"/>
            <a:ext cx="2794000" cy="857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2" name="motif-line-depth-1-t"/>
          <p:cNvCxnSpPr/>
          <p:nvPr/>
        </p:nvCxnSpPr>
        <p:spPr>
          <a:xfrm>
            <a:off x="1397000" y="1047750"/>
            <a:ext cx="9398000" cy="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depth-1-b"/>
          <p:cNvCxnSpPr/>
          <p:nvPr/>
        </p:nvCxnSpPr>
        <p:spPr>
          <a:xfrm>
            <a:off x="1397000" y="5937250"/>
            <a:ext cx="9398000" cy="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depth-1-l"/>
          <p:cNvCxnSpPr/>
          <p:nvPr/>
        </p:nvCxnSpPr>
        <p:spPr>
          <a:xfrm>
            <a:off x="1397000" y="1047750"/>
            <a:ext cx="0" cy="48895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depth-1-r"/>
          <p:cNvCxnSpPr/>
          <p:nvPr/>
        </p:nvCxnSpPr>
        <p:spPr>
          <a:xfrm>
            <a:off x="10795000" y="1047750"/>
            <a:ext cx="0" cy="48895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984500" y="2540000"/>
            <a:ext cx="6223000" cy="215900"/>
          </a:xfrm>
          <a:prstGeom prst="rect">
            <a:avLst/>
          </a:prstGeom>
          <a:noFill/>
        </p:spPr>
        <p:txBody>
          <a:bodyPr wrap="square" lIns="0" rIns="0" tIns="0" bIns="0" anchor="t">
            <a:spAutoFit/>
          </a:bodyPr>
          <a:lstStyle/>
          <a:p>
            <a:pPr algn="ctr">
              <a:lnSpc>
                <a:spcPct val="115000"/>
              </a:lnSpc>
            </a:pPr>
            <a:r>
              <a:rPr sz="1200" b="0" spc="400">
                <a:solidFill>
                  <a:srgbClr val="9A9EA6"/>
                </a:solidFill>
                <a:latin typeface="IBM Plex Mono"/>
              </a:rPr>
              <a:t>PART I</a:t>
            </a:r>
          </a:p>
        </p:txBody>
      </p:sp>
      <p:sp>
        <p:nvSpPr>
          <p:cNvPr id="27" name="TextBox 26"/>
          <p:cNvSpPr txBox="1"/>
          <p:nvPr/>
        </p:nvSpPr>
        <p:spPr>
          <a:xfrm>
            <a:off x="2984500" y="2794000"/>
            <a:ext cx="6223000" cy="1066800"/>
          </a:xfrm>
          <a:prstGeom prst="rect">
            <a:avLst/>
          </a:prstGeom>
          <a:noFill/>
        </p:spPr>
        <p:txBody>
          <a:bodyPr wrap="square" lIns="0" rIns="0" tIns="0" bIns="0" anchor="t">
            <a:spAutoFit/>
          </a:bodyPr>
          <a:lstStyle/>
          <a:p>
            <a:pPr algn="ctr">
              <a:lnSpc>
                <a:spcPct val="115000"/>
              </a:lnSpc>
            </a:pPr>
            <a:r>
              <a:rPr sz="6000" b="0">
                <a:solidFill>
                  <a:srgbClr val="ECE7DD"/>
                </a:solidFill>
                <a:latin typeface="Work Sans"/>
              </a:rPr>
              <a:t>Method</a:t>
            </a:r>
          </a:p>
        </p:txBody>
      </p:sp>
      <p:sp>
        <p:nvSpPr>
          <p:cNvPr id="28" name="TextBox 27"/>
          <p:cNvSpPr txBox="1"/>
          <p:nvPr/>
        </p:nvSpPr>
        <p:spPr>
          <a:xfrm>
            <a:off x="2984500" y="3937000"/>
            <a:ext cx="6223000" cy="320040"/>
          </a:xfrm>
          <a:prstGeom prst="rect">
            <a:avLst/>
          </a:prstGeom>
          <a:noFill/>
        </p:spPr>
        <p:txBody>
          <a:bodyPr wrap="square" lIns="0" rIns="0" tIns="0" bIns="0" anchor="t">
            <a:spAutoFit/>
          </a:bodyPr>
          <a:lstStyle/>
          <a:p>
            <a:pPr algn="ctr">
              <a:lnSpc>
                <a:spcPct val="115000"/>
              </a:lnSpc>
            </a:pPr>
            <a:r>
              <a:rPr sz="1800" b="0">
                <a:solidFill>
                  <a:srgbClr val="9A9EA6"/>
                </a:solidFill>
                <a:latin typeface="Work Sans"/>
              </a:rPr>
              <a:t>20 prompts, 2 engines, one day</a:t>
            </a:r>
          </a:p>
        </p:txBody>
      </p:sp>
      <p:cxnSp>
        <p:nvCxnSpPr>
          <p:cNvPr id="29" name="Connector 28"/>
          <p:cNvCxnSpPr/>
          <p:nvPr/>
        </p:nvCxnSpPr>
        <p:spPr>
          <a:xfrm>
            <a:off x="5588000" y="4572000"/>
            <a:ext cx="1016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588000" y="4648200"/>
            <a:ext cx="1016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1386839"/>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20 everyday banking questions, asked in Bahasa Indonesia</a:t>
            </a:r>
          </a:p>
        </p:txBody>
      </p:sp>
      <p:sp>
        <p:nvSpPr>
          <p:cNvPr id="7" name="TextBox 6"/>
          <p:cNvSpPr txBox="1"/>
          <p:nvPr/>
        </p:nvSpPr>
        <p:spPr>
          <a:xfrm>
            <a:off x="762000" y="275844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5 customer needs by 5 question types. Only 3 prompts name a bank, all of them comparisons.</a:t>
            </a:r>
          </a:p>
        </p:txBody>
      </p:sp>
      <p:sp>
        <p:nvSpPr>
          <p:cNvPr id="8" name="TextBox 7"/>
          <p:cNvSpPr txBox="1"/>
          <p:nvPr/>
        </p:nvSpPr>
        <p:spPr>
          <a:xfrm>
            <a:off x="762000" y="359410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Each prompt was asked once in ChatGPT and once in Gemini, with a request for 10 sources.</a:t>
            </a:r>
          </a:p>
        </p:txBody>
      </p:sp>
      <p:sp>
        <p:nvSpPr>
          <p:cNvPr id="9" name="TextBox 8"/>
          <p:cNvSpPr txBox="1"/>
          <p:nvPr/>
        </p:nvSpPr>
        <p:spPr>
          <a:xfrm>
            <a:off x="762000" y="4429760"/>
            <a:ext cx="3810000" cy="24891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The lit circle is prompt 13, the cold open.</a:t>
            </a:r>
          </a:p>
        </p:txBody>
      </p:sp>
      <p:pic>
        <p:nvPicPr>
          <p:cNvPr id="10" name="Picture 9" descr="prompt_grid.png"/>
          <p:cNvPicPr>
            <a:picLocks noChangeAspect="1"/>
          </p:cNvPicPr>
          <p:nvPr/>
        </p:nvPicPr>
        <p:blipFill>
          <a:blip r:embed="rId2"/>
          <a:stretch>
            <a:fillRect/>
          </a:stretch>
        </p:blipFill>
        <p:spPr>
          <a:xfrm>
            <a:off x="4889500" y="1794933"/>
            <a:ext cx="6731000" cy="3141133"/>
          </a:xfrm>
          <a:prstGeom prst="rect">
            <a:avLst/>
          </a:prstGeom>
        </p:spPr>
      </p:pic>
      <p:sp>
        <p:nvSpPr>
          <p:cNvPr id="11" name="TextBox 10"/>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2" name="TextBox 11"/>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 · METHOD</a:t>
            </a:r>
          </a:p>
        </p:txBody>
      </p:sp>
      <p:sp>
        <p:nvSpPr>
          <p:cNvPr id="13" name="TextBox 12"/>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06</a:t>
            </a:r>
          </a:p>
        </p:txBody>
      </p:sp>
      <p:sp>
        <p:nvSpPr>
          <p:cNvPr id="14" name="TextBox 13"/>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data/interim/answers.csv  ·  n = 20 prompts</a:t>
            </a:r>
          </a:p>
        </p:txBody>
      </p:sp>
      <p:cxnSp>
        <p:nvCxnSpPr>
          <p:cNvPr id="15"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6"/>
          <p:cNvCxnSpPr/>
          <p:nvPr/>
        </p:nvCxnSpPr>
        <p:spPr>
          <a:xfrm>
            <a:off x="84455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21" name="motif-line-tick-07"/>
          <p:cNvCxnSpPr/>
          <p:nvPr/>
        </p:nvCxnSpPr>
        <p:spPr>
          <a:xfrm>
            <a:off x="8559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2" name="motif-line-tick-08"/>
          <p:cNvCxnSpPr/>
          <p:nvPr/>
        </p:nvCxnSpPr>
        <p:spPr>
          <a:xfrm>
            <a:off x="8674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3" name="motif-line-tick-09"/>
          <p:cNvCxnSpPr/>
          <p:nvPr/>
        </p:nvCxnSpPr>
        <p:spPr>
          <a:xfrm>
            <a:off x="8788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4" name="motif-line-tick-10"/>
          <p:cNvCxnSpPr/>
          <p:nvPr/>
        </p:nvCxnSpPr>
        <p:spPr>
          <a:xfrm>
            <a:off x="8902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5" name="motif-line-tick-11"/>
          <p:cNvCxnSpPr/>
          <p:nvPr/>
        </p:nvCxnSpPr>
        <p:spPr>
          <a:xfrm>
            <a:off x="9017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6" name="motif-line-tick-12"/>
          <p:cNvCxnSpPr/>
          <p:nvPr/>
        </p:nvCxnSpPr>
        <p:spPr>
          <a:xfrm>
            <a:off x="9131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tick-13"/>
          <p:cNvCxnSpPr/>
          <p:nvPr/>
        </p:nvCxnSpPr>
        <p:spPr>
          <a:xfrm>
            <a:off x="9245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tick-14"/>
          <p:cNvCxnSpPr/>
          <p:nvPr/>
        </p:nvCxnSpPr>
        <p:spPr>
          <a:xfrm>
            <a:off x="9359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5"/>
          <p:cNvCxnSpPr/>
          <p:nvPr/>
        </p:nvCxnSpPr>
        <p:spPr>
          <a:xfrm>
            <a:off x="9474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6"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181100"/>
            <a:ext cx="10668000" cy="4622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From 40 answers to 195 readable source pages</a:t>
            </a:r>
          </a:p>
        </p:txBody>
      </p:sp>
      <p:sp>
        <p:nvSpPr>
          <p:cNvPr id="7" name="TextBox 6"/>
          <p:cNvSpPr txBox="1"/>
          <p:nvPr/>
        </p:nvSpPr>
        <p:spPr>
          <a:xfrm>
            <a:off x="762000" y="1732280"/>
            <a:ext cx="85725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Each step is code in the public repo, covered by tests. Only links under each answer's source list count as citations.</a:t>
            </a:r>
          </a:p>
        </p:txBody>
      </p:sp>
      <p:pic>
        <p:nvPicPr>
          <p:cNvPr id="8" name="Picture 7" descr="pipeline.png"/>
          <p:cNvPicPr>
            <a:picLocks noChangeAspect="1"/>
          </p:cNvPicPr>
          <p:nvPr/>
        </p:nvPicPr>
        <p:blipFill>
          <a:blip r:embed="rId2"/>
          <a:stretch>
            <a:fillRect/>
          </a:stretch>
        </p:blipFill>
        <p:spPr>
          <a:xfrm>
            <a:off x="1537208" y="2344420"/>
            <a:ext cx="9117584" cy="3256279"/>
          </a:xfrm>
          <a:prstGeom prst="rect">
            <a:avLst/>
          </a:prstGeom>
        </p:spPr>
      </p:pic>
      <p:sp>
        <p:nvSpPr>
          <p:cNvPr id="9" name="TextBox 8"/>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0" name="TextBox 9"/>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 · METHOD</a:t>
            </a:r>
          </a:p>
        </p:txBody>
      </p:sp>
      <p:sp>
        <p:nvSpPr>
          <p:cNvPr id="11" name="TextBox 10"/>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07</a:t>
            </a:r>
          </a:p>
        </p:txBody>
      </p:sp>
      <p:sp>
        <p:nvSpPr>
          <p:cNvPr id="12" name="TextBox 1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code and data: github.com/rgmwnn/geo-bank-visibility  ·  n = 40 answers</a:t>
            </a:r>
          </a:p>
        </p:txBody>
      </p:sp>
      <p:cxnSp>
        <p:nvCxnSpPr>
          <p:cNvPr id="13"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7"/>
          <p:cNvCxnSpPr/>
          <p:nvPr/>
        </p:nvCxnSpPr>
        <p:spPr>
          <a:xfrm>
            <a:off x="85598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20" name="motif-line-tick-08"/>
          <p:cNvCxnSpPr/>
          <p:nvPr/>
        </p:nvCxnSpPr>
        <p:spPr>
          <a:xfrm>
            <a:off x="8674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1" name="motif-line-tick-09"/>
          <p:cNvCxnSpPr/>
          <p:nvPr/>
        </p:nvCxnSpPr>
        <p:spPr>
          <a:xfrm>
            <a:off x="8788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2" name="motif-line-tick-10"/>
          <p:cNvCxnSpPr/>
          <p:nvPr/>
        </p:nvCxnSpPr>
        <p:spPr>
          <a:xfrm>
            <a:off x="8902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3" name="motif-line-tick-11"/>
          <p:cNvCxnSpPr/>
          <p:nvPr/>
        </p:nvCxnSpPr>
        <p:spPr>
          <a:xfrm>
            <a:off x="9017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4" name="motif-line-tick-12"/>
          <p:cNvCxnSpPr/>
          <p:nvPr/>
        </p:nvCxnSpPr>
        <p:spPr>
          <a:xfrm>
            <a:off x="9131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5" name="motif-line-tick-13"/>
          <p:cNvCxnSpPr/>
          <p:nvPr/>
        </p:nvCxnSpPr>
        <p:spPr>
          <a:xfrm>
            <a:off x="9245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6" name="motif-line-tick-14"/>
          <p:cNvCxnSpPr/>
          <p:nvPr/>
        </p:nvCxnSpPr>
        <p:spPr>
          <a:xfrm>
            <a:off x="9359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tick-15"/>
          <p:cNvCxnSpPr/>
          <p:nvPr/>
        </p:nvCxnSpPr>
        <p:spPr>
          <a:xfrm>
            <a:off x="9474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181100"/>
            <a:ext cx="10668000" cy="4622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What is measured</a:t>
            </a:r>
          </a:p>
        </p:txBody>
      </p:sp>
      <p:sp>
        <p:nvSpPr>
          <p:cNvPr id="7" name="TextBox 6"/>
          <p:cNvSpPr txBox="1"/>
          <p:nvPr/>
        </p:nvSpPr>
        <p:spPr>
          <a:xfrm>
            <a:off x="762000" y="1757680"/>
            <a:ext cx="5207000" cy="248919"/>
          </a:xfrm>
          <a:prstGeom prst="rect">
            <a:avLst/>
          </a:prstGeom>
          <a:noFill/>
        </p:spPr>
        <p:txBody>
          <a:bodyPr wrap="square" lIns="0" rIns="0" tIns="0" bIns="0" anchor="t">
            <a:spAutoFit/>
          </a:bodyPr>
          <a:lstStyle/>
          <a:p>
            <a:pPr algn="l">
              <a:lnSpc>
                <a:spcPct val="115000"/>
              </a:lnSpc>
            </a:pPr>
            <a:r>
              <a:rPr sz="1400" b="0">
                <a:solidFill>
                  <a:srgbClr val="ECE7DD"/>
                </a:solidFill>
                <a:latin typeface="Work Sans"/>
              </a:rPr>
              <a:t>Mention rate</a:t>
            </a:r>
          </a:p>
        </p:txBody>
      </p:sp>
      <p:sp>
        <p:nvSpPr>
          <p:cNvPr id="8" name="TextBox 7"/>
          <p:cNvSpPr txBox="1"/>
          <p:nvPr/>
        </p:nvSpPr>
        <p:spPr>
          <a:xfrm>
            <a:off x="762000" y="2019300"/>
            <a:ext cx="5207000" cy="213359"/>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share of answers that name the bank</a:t>
            </a:r>
          </a:p>
        </p:txBody>
      </p:sp>
      <p:sp>
        <p:nvSpPr>
          <p:cNvPr id="9" name="TextBox 8"/>
          <p:cNvSpPr txBox="1"/>
          <p:nvPr/>
        </p:nvSpPr>
        <p:spPr>
          <a:xfrm>
            <a:off x="762000" y="2296160"/>
            <a:ext cx="5207000" cy="248919"/>
          </a:xfrm>
          <a:prstGeom prst="rect">
            <a:avLst/>
          </a:prstGeom>
          <a:noFill/>
        </p:spPr>
        <p:txBody>
          <a:bodyPr wrap="square" lIns="0" rIns="0" tIns="0" bIns="0" anchor="t">
            <a:spAutoFit/>
          </a:bodyPr>
          <a:lstStyle/>
          <a:p>
            <a:pPr algn="l">
              <a:lnSpc>
                <a:spcPct val="115000"/>
              </a:lnSpc>
            </a:pPr>
            <a:r>
              <a:rPr sz="1400" b="0">
                <a:solidFill>
                  <a:srgbClr val="ECE7DD"/>
                </a:solidFill>
                <a:latin typeface="Work Sans"/>
              </a:rPr>
              <a:t>AI share of voice</a:t>
            </a:r>
          </a:p>
        </p:txBody>
      </p:sp>
      <p:sp>
        <p:nvSpPr>
          <p:cNvPr id="10" name="TextBox 9"/>
          <p:cNvSpPr txBox="1"/>
          <p:nvPr/>
        </p:nvSpPr>
        <p:spPr>
          <a:xfrm>
            <a:off x="762000" y="2557780"/>
            <a:ext cx="5207000" cy="213359"/>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the bank's share of bank mentions, each answer weighted equally</a:t>
            </a:r>
          </a:p>
        </p:txBody>
      </p:sp>
      <p:sp>
        <p:nvSpPr>
          <p:cNvPr id="11" name="TextBox 10"/>
          <p:cNvSpPr txBox="1"/>
          <p:nvPr/>
        </p:nvSpPr>
        <p:spPr>
          <a:xfrm>
            <a:off x="762000" y="2834640"/>
            <a:ext cx="5207000" cy="248919"/>
          </a:xfrm>
          <a:prstGeom prst="rect">
            <a:avLst/>
          </a:prstGeom>
          <a:noFill/>
        </p:spPr>
        <p:txBody>
          <a:bodyPr wrap="square" lIns="0" rIns="0" tIns="0" bIns="0" anchor="t">
            <a:spAutoFit/>
          </a:bodyPr>
          <a:lstStyle/>
          <a:p>
            <a:pPr algn="l">
              <a:lnSpc>
                <a:spcPct val="115000"/>
              </a:lnSpc>
            </a:pPr>
            <a:r>
              <a:rPr sz="1400" b="0">
                <a:solidFill>
                  <a:srgbClr val="ECE7DD"/>
                </a:solidFill>
                <a:latin typeface="Work Sans"/>
              </a:rPr>
              <a:t>Brand PAWC</a:t>
            </a:r>
          </a:p>
        </p:txBody>
      </p:sp>
      <p:sp>
        <p:nvSpPr>
          <p:cNvPr id="12" name="TextBox 11"/>
          <p:cNvSpPr txBox="1"/>
          <p:nvPr/>
        </p:nvSpPr>
        <p:spPr>
          <a:xfrm>
            <a:off x="762000" y="3096260"/>
            <a:ext cx="5207000" cy="426719"/>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how much of an answer is about the bank, earlier sentences weighted more</a:t>
            </a:r>
          </a:p>
        </p:txBody>
      </p:sp>
      <p:sp>
        <p:nvSpPr>
          <p:cNvPr id="13" name="TextBox 12"/>
          <p:cNvSpPr txBox="1"/>
          <p:nvPr/>
        </p:nvSpPr>
        <p:spPr>
          <a:xfrm>
            <a:off x="762000" y="3586479"/>
            <a:ext cx="5207000" cy="248919"/>
          </a:xfrm>
          <a:prstGeom prst="rect">
            <a:avLst/>
          </a:prstGeom>
          <a:noFill/>
        </p:spPr>
        <p:txBody>
          <a:bodyPr wrap="square" lIns="0" rIns="0" tIns="0" bIns="0" anchor="t">
            <a:spAutoFit/>
          </a:bodyPr>
          <a:lstStyle/>
          <a:p>
            <a:pPr algn="l">
              <a:lnSpc>
                <a:spcPct val="115000"/>
              </a:lnSpc>
            </a:pPr>
            <a:r>
              <a:rPr sz="1400" b="0">
                <a:solidFill>
                  <a:srgbClr val="ECE7DD"/>
                </a:solidFill>
                <a:latin typeface="Work Sans"/>
              </a:rPr>
              <a:t>Source share of voice</a:t>
            </a:r>
          </a:p>
        </p:txBody>
      </p:sp>
      <p:sp>
        <p:nvSpPr>
          <p:cNvPr id="14" name="TextBox 13"/>
          <p:cNvSpPr txBox="1"/>
          <p:nvPr/>
        </p:nvSpPr>
        <p:spPr>
          <a:xfrm>
            <a:off x="762000" y="3848100"/>
            <a:ext cx="5207000" cy="213359"/>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the bank's share of bank mentions in the readable cited pages</a:t>
            </a:r>
          </a:p>
        </p:txBody>
      </p:sp>
      <p:sp>
        <p:nvSpPr>
          <p:cNvPr id="15" name="TextBox 14"/>
          <p:cNvSpPr txBox="1"/>
          <p:nvPr/>
        </p:nvSpPr>
        <p:spPr>
          <a:xfrm>
            <a:off x="762000" y="4124959"/>
            <a:ext cx="5207000" cy="248919"/>
          </a:xfrm>
          <a:prstGeom prst="rect">
            <a:avLst/>
          </a:prstGeom>
          <a:noFill/>
        </p:spPr>
        <p:txBody>
          <a:bodyPr wrap="square" lIns="0" rIns="0" tIns="0" bIns="0" anchor="t">
            <a:spAutoFit/>
          </a:bodyPr>
          <a:lstStyle/>
          <a:p>
            <a:pPr algn="l">
              <a:lnSpc>
                <a:spcPct val="115000"/>
              </a:lnSpc>
            </a:pPr>
            <a:r>
              <a:rPr sz="1400" b="0">
                <a:solidFill>
                  <a:srgbClr val="ECE7DD"/>
                </a:solidFill>
                <a:latin typeface="Work Sans"/>
              </a:rPr>
              <a:t>SOV gap</a:t>
            </a:r>
          </a:p>
        </p:txBody>
      </p:sp>
      <p:sp>
        <p:nvSpPr>
          <p:cNvPr id="16" name="TextBox 15"/>
          <p:cNvSpPr txBox="1"/>
          <p:nvPr/>
        </p:nvSpPr>
        <p:spPr>
          <a:xfrm>
            <a:off x="762000" y="4386580"/>
            <a:ext cx="5207000" cy="213359"/>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AI share of voice minus source share of voice</a:t>
            </a:r>
          </a:p>
        </p:txBody>
      </p:sp>
      <p:sp>
        <p:nvSpPr>
          <p:cNvPr id="17" name="TextBox 16"/>
          <p:cNvSpPr txBox="1"/>
          <p:nvPr/>
        </p:nvSpPr>
        <p:spPr>
          <a:xfrm>
            <a:off x="762000" y="4663439"/>
            <a:ext cx="5207000" cy="248919"/>
          </a:xfrm>
          <a:prstGeom prst="rect">
            <a:avLst/>
          </a:prstGeom>
          <a:noFill/>
        </p:spPr>
        <p:txBody>
          <a:bodyPr wrap="square" lIns="0" rIns="0" tIns="0" bIns="0" anchor="t">
            <a:spAutoFit/>
          </a:bodyPr>
          <a:lstStyle/>
          <a:p>
            <a:pPr algn="l">
              <a:lnSpc>
                <a:spcPct val="115000"/>
              </a:lnSpc>
            </a:pPr>
            <a:r>
              <a:rPr sz="1400" b="0">
                <a:solidFill>
                  <a:srgbClr val="ECE7DD"/>
                </a:solidFill>
                <a:latin typeface="Work Sans"/>
              </a:rPr>
              <a:t>VIS</a:t>
            </a:r>
          </a:p>
        </p:txBody>
      </p:sp>
      <p:sp>
        <p:nvSpPr>
          <p:cNvPr id="18" name="TextBox 17"/>
          <p:cNvSpPr txBox="1"/>
          <p:nvPr/>
        </p:nvSpPr>
        <p:spPr>
          <a:xfrm>
            <a:off x="762000" y="4925059"/>
            <a:ext cx="5207000" cy="426719"/>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0 to 100: equal mix of PAWC, source authority, sentiment and coverage of both engines</a:t>
            </a:r>
          </a:p>
        </p:txBody>
      </p:sp>
      <p:pic>
        <p:nvPicPr>
          <p:cNvPr id="19" name="Picture 18" descr="pawc_curve.png"/>
          <p:cNvPicPr>
            <a:picLocks noChangeAspect="1"/>
          </p:cNvPicPr>
          <p:nvPr/>
        </p:nvPicPr>
        <p:blipFill>
          <a:blip r:embed="rId2"/>
          <a:stretch>
            <a:fillRect/>
          </a:stretch>
        </p:blipFill>
        <p:spPr>
          <a:xfrm>
            <a:off x="6350000" y="1905000"/>
            <a:ext cx="5080000" cy="2540000"/>
          </a:xfrm>
          <a:prstGeom prst="rect">
            <a:avLst/>
          </a:prstGeom>
        </p:spPr>
      </p:pic>
      <p:sp>
        <p:nvSpPr>
          <p:cNvPr id="20" name="TextBox 19"/>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21" name="TextBox 20"/>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 · METHOD</a:t>
            </a:r>
          </a:p>
        </p:txBody>
      </p:sp>
      <p:sp>
        <p:nvSpPr>
          <p:cNvPr id="22" name="TextBox 21"/>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08</a:t>
            </a:r>
          </a:p>
        </p:txBody>
      </p:sp>
      <p:sp>
        <p:nvSpPr>
          <p:cNvPr id="23" name="TextBox 22"/>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PAWC adapted from Aggarwal et al., GEO: Generative Engine Optimization, KDD 2024</a:t>
            </a:r>
          </a:p>
        </p:txBody>
      </p:sp>
      <p:cxnSp>
        <p:nvCxnSpPr>
          <p:cNvPr id="24"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08"/>
          <p:cNvCxnSpPr/>
          <p:nvPr/>
        </p:nvCxnSpPr>
        <p:spPr>
          <a:xfrm>
            <a:off x="86741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32" name="motif-line-tick-09"/>
          <p:cNvCxnSpPr/>
          <p:nvPr/>
        </p:nvCxnSpPr>
        <p:spPr>
          <a:xfrm>
            <a:off x="8788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10"/>
          <p:cNvCxnSpPr/>
          <p:nvPr/>
        </p:nvCxnSpPr>
        <p:spPr>
          <a:xfrm>
            <a:off x="8902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11"/>
          <p:cNvCxnSpPr/>
          <p:nvPr/>
        </p:nvCxnSpPr>
        <p:spPr>
          <a:xfrm>
            <a:off x="9017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12"/>
          <p:cNvCxnSpPr/>
          <p:nvPr/>
        </p:nvCxnSpPr>
        <p:spPr>
          <a:xfrm>
            <a:off x="9131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13"/>
          <p:cNvCxnSpPr/>
          <p:nvPr/>
        </p:nvCxnSpPr>
        <p:spPr>
          <a:xfrm>
            <a:off x="9245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14"/>
          <p:cNvCxnSpPr/>
          <p:nvPr/>
        </p:nvCxnSpPr>
        <p:spPr>
          <a:xfrm>
            <a:off x="9359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15"/>
          <p:cNvCxnSpPr/>
          <p:nvPr/>
        </p:nvCxnSpPr>
        <p:spPr>
          <a:xfrm>
            <a:off x="9474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6"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7"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8"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9"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0"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1"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2"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3"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4"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5"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9245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The evidence, and what it cannot show</a:t>
            </a:r>
          </a:p>
        </p:txBody>
      </p:sp>
      <p:sp>
        <p:nvSpPr>
          <p:cNvPr id="7" name="TextBox 6"/>
          <p:cNvSpPr txBox="1"/>
          <p:nvPr/>
        </p:nvSpPr>
        <p:spPr>
          <a:xfrm>
            <a:off x="762000" y="229616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One run per prompt per engine: a snapshot.</a:t>
            </a:r>
          </a:p>
        </p:txBody>
      </p:sp>
      <p:sp>
        <p:nvSpPr>
          <p:cNvPr id="8" name="TextBox 7"/>
          <p:cNvSpPr txBox="1"/>
          <p:nvPr/>
        </p:nvSpPr>
        <p:spPr>
          <a:xfrm>
            <a:off x="762000" y="285750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Asking for 10 sources makes both engines cite more than usual.</a:t>
            </a:r>
          </a:p>
        </p:txBody>
      </p:sp>
      <p:sp>
        <p:nvSpPr>
          <p:cNvPr id="9" name="TextBox 8"/>
          <p:cNvSpPr txBox="1"/>
          <p:nvPr/>
        </p:nvSpPr>
        <p:spPr>
          <a:xfrm>
            <a:off x="762000" y="341884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10 of 20 prompts lean digital: they name digital banks or ask about apps.</a:t>
            </a:r>
          </a:p>
        </p:txBody>
      </p:sp>
      <p:sp>
        <p:nvSpPr>
          <p:cNvPr id="10" name="TextBox 9"/>
          <p:cNvSpPr txBox="1"/>
          <p:nvPr/>
        </p:nvSpPr>
        <p:spPr>
          <a:xfrm>
            <a:off x="762000" y="3980179"/>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Claude labelled sentiment and site types; RG spot-checked a sample.</a:t>
            </a:r>
          </a:p>
        </p:txBody>
      </p:sp>
      <p:sp>
        <p:nvSpPr>
          <p:cNvPr id="11" name="TextBox 10"/>
          <p:cNvSpPr txBox="1"/>
          <p:nvPr/>
        </p:nvSpPr>
        <p:spPr>
          <a:xfrm>
            <a:off x="762000" y="454152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Pages that blocked the crawler drop out of page-level measures.</a:t>
            </a:r>
          </a:p>
        </p:txBody>
      </p:sp>
      <p:sp>
        <p:nvSpPr>
          <p:cNvPr id="12" name="TextBox 11"/>
          <p:cNvSpPr txBox="1"/>
          <p:nvPr/>
        </p:nvSpPr>
        <p:spPr>
          <a:xfrm>
            <a:off x="762000" y="5102859"/>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Banks named in fewer than 3 answers are marked low n.</a:t>
            </a:r>
          </a:p>
        </p:txBody>
      </p:sp>
      <p:pic>
        <p:nvPicPr>
          <p:cNvPr id="13" name="Picture 12" descr="funnel.png"/>
          <p:cNvPicPr>
            <a:picLocks noChangeAspect="1"/>
          </p:cNvPicPr>
          <p:nvPr/>
        </p:nvPicPr>
        <p:blipFill>
          <a:blip r:embed="rId2"/>
          <a:stretch>
            <a:fillRect/>
          </a:stretch>
        </p:blipFill>
        <p:spPr>
          <a:xfrm>
            <a:off x="4889500" y="1750060"/>
            <a:ext cx="6731000" cy="3230880"/>
          </a:xfrm>
          <a:prstGeom prst="rect">
            <a:avLst/>
          </a:prstGeom>
        </p:spPr>
      </p:pic>
      <p:sp>
        <p:nvSpPr>
          <p:cNvPr id="14" name="TextBox 13"/>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5" name="TextBox 14"/>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 · METHOD</a:t>
            </a:r>
          </a:p>
        </p:txBody>
      </p:sp>
      <p:sp>
        <p:nvSpPr>
          <p:cNvPr id="16" name="TextBox 15"/>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09</a:t>
            </a:r>
          </a:p>
        </p:txBody>
      </p:sp>
      <p:sp>
        <p:nvSpPr>
          <p:cNvPr id="17" name="TextBox 16"/>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data/interim/pages.csv, page_brand_counts.csv  ·  n = 243 pages</a:t>
            </a:r>
          </a:p>
        </p:txBody>
      </p:sp>
      <p:cxnSp>
        <p:nvCxnSpPr>
          <p:cNvPr id="18"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09"/>
          <p:cNvCxnSpPr/>
          <p:nvPr/>
        </p:nvCxnSpPr>
        <p:spPr>
          <a:xfrm>
            <a:off x="87884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27" name="motif-line-tick-10"/>
          <p:cNvCxnSpPr/>
          <p:nvPr/>
        </p:nvCxnSpPr>
        <p:spPr>
          <a:xfrm>
            <a:off x="8902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tick-11"/>
          <p:cNvCxnSpPr/>
          <p:nvPr/>
        </p:nvCxnSpPr>
        <p:spPr>
          <a:xfrm>
            <a:off x="9017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2"/>
          <p:cNvCxnSpPr/>
          <p:nvPr/>
        </p:nvCxnSpPr>
        <p:spPr>
          <a:xfrm>
            <a:off x="9131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3"/>
          <p:cNvCxnSpPr/>
          <p:nvPr/>
        </p:nvCxnSpPr>
        <p:spPr>
          <a:xfrm>
            <a:off x="9245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14"/>
          <p:cNvCxnSpPr/>
          <p:nvPr/>
        </p:nvCxnSpPr>
        <p:spPr>
          <a:xfrm>
            <a:off x="9359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15"/>
          <p:cNvCxnSpPr/>
          <p:nvPr/>
        </p:nvCxnSpPr>
        <p:spPr>
          <a:xfrm>
            <a:off x="9474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6"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7"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8"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9"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cxnSp>
        <p:nvCxnSpPr>
          <p:cNvPr id="2" name="motif-line-corridor-corner-0"/>
          <p:cNvCxnSpPr/>
          <p:nvPr/>
        </p:nvCxnSpPr>
        <p:spPr>
          <a:xfrm>
            <a:off x="0" y="0"/>
            <a:ext cx="2794000" cy="2095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 name="motif-line-corridor-corner-1"/>
          <p:cNvCxnSpPr/>
          <p:nvPr/>
        </p:nvCxnSpPr>
        <p:spPr>
          <a:xfrm flipH="1">
            <a:off x="9398000" y="0"/>
            <a:ext cx="2794000" cy="2095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 name="motif-line-corridor-corner-2"/>
          <p:cNvCxnSpPr/>
          <p:nvPr/>
        </p:nvCxnSpPr>
        <p:spPr>
          <a:xfrm flipV="1">
            <a:off x="0" y="5016500"/>
            <a:ext cx="2794000" cy="1841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corridor-corner-3"/>
          <p:cNvCxnSpPr/>
          <p:nvPr/>
        </p:nvCxnSpPr>
        <p:spPr>
          <a:xfrm flipH="1" flipV="1">
            <a:off x="9398000" y="5016500"/>
            <a:ext cx="2794000" cy="1841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6" name="motif-line-corridor-top-1"/>
          <p:cNvCxnSpPr/>
          <p:nvPr/>
        </p:nvCxnSpPr>
        <p:spPr>
          <a:xfrm>
            <a:off x="2032000" y="0"/>
            <a:ext cx="1862666"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7" name="motif-line-corridor-floor-1"/>
          <p:cNvCxnSpPr/>
          <p:nvPr/>
        </p:nvCxnSpPr>
        <p:spPr>
          <a:xfrm flipV="1">
            <a:off x="2032000" y="5016500"/>
            <a:ext cx="1862666"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8" name="motif-line-corridor-top-2"/>
          <p:cNvCxnSpPr/>
          <p:nvPr/>
        </p:nvCxnSpPr>
        <p:spPr>
          <a:xfrm>
            <a:off x="4064000" y="0"/>
            <a:ext cx="931333"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9" name="motif-line-corridor-floor-2"/>
          <p:cNvCxnSpPr/>
          <p:nvPr/>
        </p:nvCxnSpPr>
        <p:spPr>
          <a:xfrm flipV="1">
            <a:off x="4064000" y="5016500"/>
            <a:ext cx="931333"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0" name="motif-line-corridor-top-3"/>
          <p:cNvCxnSpPr/>
          <p:nvPr/>
        </p:nvCxnSpPr>
        <p:spPr>
          <a:xfrm>
            <a:off x="6096000" y="0"/>
            <a:ext cx="0"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1" name="motif-line-corridor-floor-3"/>
          <p:cNvCxnSpPr/>
          <p:nvPr/>
        </p:nvCxnSpPr>
        <p:spPr>
          <a:xfrm flipV="1">
            <a:off x="6096000" y="5016500"/>
            <a:ext cx="0"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2" name="motif-line-corridor-top-4"/>
          <p:cNvCxnSpPr/>
          <p:nvPr/>
        </p:nvCxnSpPr>
        <p:spPr>
          <a:xfrm flipH="1">
            <a:off x="7196666" y="0"/>
            <a:ext cx="931334"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3" name="motif-line-corridor-floor-4"/>
          <p:cNvCxnSpPr/>
          <p:nvPr/>
        </p:nvCxnSpPr>
        <p:spPr>
          <a:xfrm flipH="1" flipV="1">
            <a:off x="7196666" y="5016500"/>
            <a:ext cx="931334"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4" name="motif-line-corridor-top-5"/>
          <p:cNvCxnSpPr/>
          <p:nvPr/>
        </p:nvCxnSpPr>
        <p:spPr>
          <a:xfrm flipH="1">
            <a:off x="8297333" y="0"/>
            <a:ext cx="1862667"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5" name="motif-line-corridor-floor-5"/>
          <p:cNvCxnSpPr/>
          <p:nvPr/>
        </p:nvCxnSpPr>
        <p:spPr>
          <a:xfrm flipH="1" flipV="1">
            <a:off x="8297333" y="5016500"/>
            <a:ext cx="1862667"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6" name="motif-line-corridor-left-1"/>
          <p:cNvCxnSpPr/>
          <p:nvPr/>
        </p:nvCxnSpPr>
        <p:spPr>
          <a:xfrm>
            <a:off x="0" y="1714500"/>
            <a:ext cx="2794000" cy="1111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7" name="motif-line-corridor-right-1"/>
          <p:cNvCxnSpPr/>
          <p:nvPr/>
        </p:nvCxnSpPr>
        <p:spPr>
          <a:xfrm flipH="1">
            <a:off x="9398000" y="1714500"/>
            <a:ext cx="2794000" cy="1111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8" name="motif-line-corridor-left-2"/>
          <p:cNvCxnSpPr/>
          <p:nvPr/>
        </p:nvCxnSpPr>
        <p:spPr>
          <a:xfrm>
            <a:off x="0" y="3429000"/>
            <a:ext cx="2794000" cy="1270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9" name="motif-line-corridor-right-2"/>
          <p:cNvCxnSpPr/>
          <p:nvPr/>
        </p:nvCxnSpPr>
        <p:spPr>
          <a:xfrm flipH="1">
            <a:off x="9398000" y="3429000"/>
            <a:ext cx="2794000" cy="1270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0" name="motif-line-corridor-left-3"/>
          <p:cNvCxnSpPr/>
          <p:nvPr/>
        </p:nvCxnSpPr>
        <p:spPr>
          <a:xfrm flipV="1">
            <a:off x="0" y="4286250"/>
            <a:ext cx="2794000" cy="857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1" name="motif-line-corridor-right-3"/>
          <p:cNvCxnSpPr/>
          <p:nvPr/>
        </p:nvCxnSpPr>
        <p:spPr>
          <a:xfrm flipH="1" flipV="1">
            <a:off x="9398000" y="4286250"/>
            <a:ext cx="2794000" cy="857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2" name="motif-line-depth-1-t"/>
          <p:cNvCxnSpPr/>
          <p:nvPr/>
        </p:nvCxnSpPr>
        <p:spPr>
          <a:xfrm>
            <a:off x="1397000" y="1047750"/>
            <a:ext cx="93980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3" name="motif-line-depth-1-b"/>
          <p:cNvCxnSpPr/>
          <p:nvPr/>
        </p:nvCxnSpPr>
        <p:spPr>
          <a:xfrm>
            <a:off x="1397000" y="5937250"/>
            <a:ext cx="93980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4" name="motif-line-depth-1-l"/>
          <p:cNvCxnSpPr/>
          <p:nvPr/>
        </p:nvCxnSpPr>
        <p:spPr>
          <a:xfrm>
            <a:off x="1397000" y="1047750"/>
            <a:ext cx="0" cy="4889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5" name="motif-line-depth-1-r"/>
          <p:cNvCxnSpPr/>
          <p:nvPr/>
        </p:nvCxnSpPr>
        <p:spPr>
          <a:xfrm>
            <a:off x="10795000" y="1047750"/>
            <a:ext cx="0" cy="4889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6" name="motif-line-depth-2-t"/>
          <p:cNvCxnSpPr/>
          <p:nvPr/>
        </p:nvCxnSpPr>
        <p:spPr>
          <a:xfrm>
            <a:off x="2095500" y="1571625"/>
            <a:ext cx="8001000" cy="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depth-2-b"/>
          <p:cNvCxnSpPr/>
          <p:nvPr/>
        </p:nvCxnSpPr>
        <p:spPr>
          <a:xfrm>
            <a:off x="2095500" y="5476875"/>
            <a:ext cx="8001000" cy="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depth-2-l"/>
          <p:cNvCxnSpPr/>
          <p:nvPr/>
        </p:nvCxnSpPr>
        <p:spPr>
          <a:xfrm>
            <a:off x="2095500" y="1571625"/>
            <a:ext cx="0" cy="390525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depth-2-r"/>
          <p:cNvCxnSpPr/>
          <p:nvPr/>
        </p:nvCxnSpPr>
        <p:spPr>
          <a:xfrm>
            <a:off x="10096500" y="1571625"/>
            <a:ext cx="0" cy="390525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984500" y="2540000"/>
            <a:ext cx="6223000" cy="215900"/>
          </a:xfrm>
          <a:prstGeom prst="rect">
            <a:avLst/>
          </a:prstGeom>
          <a:noFill/>
        </p:spPr>
        <p:txBody>
          <a:bodyPr wrap="square" lIns="0" rIns="0" tIns="0" bIns="0" anchor="t">
            <a:spAutoFit/>
          </a:bodyPr>
          <a:lstStyle/>
          <a:p>
            <a:pPr algn="ctr">
              <a:lnSpc>
                <a:spcPct val="115000"/>
              </a:lnSpc>
            </a:pPr>
            <a:r>
              <a:rPr sz="1200" b="0" spc="400">
                <a:solidFill>
                  <a:srgbClr val="9A9EA6"/>
                </a:solidFill>
                <a:latin typeface="IBM Plex Mono"/>
              </a:rPr>
              <a:t>PART II</a:t>
            </a:r>
          </a:p>
        </p:txBody>
      </p:sp>
      <p:sp>
        <p:nvSpPr>
          <p:cNvPr id="31" name="TextBox 30"/>
          <p:cNvSpPr txBox="1"/>
          <p:nvPr/>
        </p:nvSpPr>
        <p:spPr>
          <a:xfrm>
            <a:off x="2984500" y="2794000"/>
            <a:ext cx="6223000" cy="1066800"/>
          </a:xfrm>
          <a:prstGeom prst="rect">
            <a:avLst/>
          </a:prstGeom>
          <a:noFill/>
        </p:spPr>
        <p:txBody>
          <a:bodyPr wrap="square" lIns="0" rIns="0" tIns="0" bIns="0" anchor="t">
            <a:spAutoFit/>
          </a:bodyPr>
          <a:lstStyle/>
          <a:p>
            <a:pPr algn="ctr">
              <a:lnSpc>
                <a:spcPct val="115000"/>
              </a:lnSpc>
            </a:pPr>
            <a:r>
              <a:rPr sz="6000" b="0">
                <a:solidFill>
                  <a:srgbClr val="ECE7DD"/>
                </a:solidFill>
                <a:latin typeface="Work Sans"/>
              </a:rPr>
              <a:t>The answers</a:t>
            </a:r>
          </a:p>
        </p:txBody>
      </p:sp>
      <p:sp>
        <p:nvSpPr>
          <p:cNvPr id="32" name="TextBox 31"/>
          <p:cNvSpPr txBox="1"/>
          <p:nvPr/>
        </p:nvSpPr>
        <p:spPr>
          <a:xfrm>
            <a:off x="2984500" y="3937000"/>
            <a:ext cx="6223000" cy="320040"/>
          </a:xfrm>
          <a:prstGeom prst="rect">
            <a:avLst/>
          </a:prstGeom>
          <a:noFill/>
        </p:spPr>
        <p:txBody>
          <a:bodyPr wrap="square" lIns="0" rIns="0" tIns="0" bIns="0" anchor="t">
            <a:spAutoFit/>
          </a:bodyPr>
          <a:lstStyle/>
          <a:p>
            <a:pPr algn="ctr">
              <a:lnSpc>
                <a:spcPct val="115000"/>
              </a:lnSpc>
            </a:pPr>
            <a:r>
              <a:rPr sz="1800" b="0">
                <a:solidFill>
                  <a:srgbClr val="9A9EA6"/>
                </a:solidFill>
                <a:latin typeface="Work Sans"/>
              </a:rPr>
              <a:t>Who gets named, how early, and in what tone</a:t>
            </a:r>
          </a:p>
        </p:txBody>
      </p:sp>
      <p:cxnSp>
        <p:nvCxnSpPr>
          <p:cNvPr id="33" name="Connector 32"/>
          <p:cNvCxnSpPr/>
          <p:nvPr/>
        </p:nvCxnSpPr>
        <p:spPr>
          <a:xfrm>
            <a:off x="5588000" y="4572000"/>
            <a:ext cx="1016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588000" y="4648200"/>
            <a:ext cx="1016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184912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BCA, Bank Jago and SeaBank are each named in more than half of all answers</a:t>
            </a:r>
          </a:p>
        </p:txBody>
      </p:sp>
      <p:sp>
        <p:nvSpPr>
          <p:cNvPr id="7" name="TextBox 6"/>
          <p:cNvSpPr txBox="1"/>
          <p:nvPr/>
        </p:nvSpPr>
        <p:spPr>
          <a:xfrm>
            <a:off x="762000" y="322072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BCA and Bank Jago appear in 22 of 40 answers, SeaBank in 21, BRI in 12.</a:t>
            </a:r>
          </a:p>
        </p:txBody>
      </p:sp>
      <p:pic>
        <p:nvPicPr>
          <p:cNvPr id="8" name="Picture 7" descr="mention_dots.png"/>
          <p:cNvPicPr>
            <a:picLocks noChangeAspect="1"/>
          </p:cNvPicPr>
          <p:nvPr/>
        </p:nvPicPr>
        <p:blipFill>
          <a:blip r:embed="rId2"/>
          <a:stretch>
            <a:fillRect/>
          </a:stretch>
        </p:blipFill>
        <p:spPr>
          <a:xfrm>
            <a:off x="4889500" y="1540144"/>
            <a:ext cx="6731000" cy="3650711"/>
          </a:xfrm>
          <a:prstGeom prst="rect">
            <a:avLst/>
          </a:prstGeom>
        </p:spPr>
      </p:pic>
      <p:sp>
        <p:nvSpPr>
          <p:cNvPr id="9" name="TextBox 8"/>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0" name="TextBox 9"/>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 · THE ANSWERS</a:t>
            </a:r>
          </a:p>
        </p:txBody>
      </p:sp>
      <p:sp>
        <p:nvSpPr>
          <p:cNvPr id="11" name="TextBox 10"/>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11</a:t>
            </a:r>
          </a:p>
        </p:txBody>
      </p:sp>
      <p:sp>
        <p:nvSpPr>
          <p:cNvPr id="12" name="TextBox 1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data/processed/brand_engine.csv  ·  top 10 banks  ·  n = 20 answers per engine</a:t>
            </a:r>
          </a:p>
        </p:txBody>
      </p:sp>
      <p:cxnSp>
        <p:nvCxnSpPr>
          <p:cNvPr id="13"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1"/>
          <p:cNvCxnSpPr/>
          <p:nvPr/>
        </p:nvCxnSpPr>
        <p:spPr>
          <a:xfrm>
            <a:off x="90170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24" name="motif-line-tick-12"/>
          <p:cNvCxnSpPr/>
          <p:nvPr/>
        </p:nvCxnSpPr>
        <p:spPr>
          <a:xfrm>
            <a:off x="9131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5" name="motif-line-tick-13"/>
          <p:cNvCxnSpPr/>
          <p:nvPr/>
        </p:nvCxnSpPr>
        <p:spPr>
          <a:xfrm>
            <a:off x="9245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6" name="motif-line-tick-14"/>
          <p:cNvCxnSpPr/>
          <p:nvPr/>
        </p:nvCxnSpPr>
        <p:spPr>
          <a:xfrm>
            <a:off x="9359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tick-15"/>
          <p:cNvCxnSpPr/>
          <p:nvPr/>
        </p:nvCxnSpPr>
        <p:spPr>
          <a:xfrm>
            <a:off x="9474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1386839"/>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BCA scores highest, with Bank Jago and BRI close behind</a:t>
            </a:r>
          </a:p>
        </p:txBody>
      </p:sp>
      <p:sp>
        <p:nvSpPr>
          <p:cNvPr id="7" name="TextBox 6"/>
          <p:cNvSpPr txBox="1"/>
          <p:nvPr/>
        </p:nvSpPr>
        <p:spPr>
          <a:xfrm>
            <a:off x="762000" y="275844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VIS 93.2 for BCA, then Bank Jago 89.6, BRI 89.5 and SeaBank 85.7.</a:t>
            </a:r>
          </a:p>
        </p:txBody>
      </p:sp>
      <p:sp>
        <p:nvSpPr>
          <p:cNvPr id="8" name="TextBox 7"/>
          <p:cNvSpPr txBox="1"/>
          <p:nvPr/>
        </p:nvSpPr>
        <p:spPr>
          <a:xfrm>
            <a:off x="762000" y="3345179"/>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Dashed bars are banks named in fewer than 3 answers. Read those as unranked.</a:t>
            </a:r>
          </a:p>
        </p:txBody>
      </p:sp>
      <p:pic>
        <p:nvPicPr>
          <p:cNvPr id="9" name="Picture 8" descr="vis_rank.png"/>
          <p:cNvPicPr>
            <a:picLocks noChangeAspect="1"/>
          </p:cNvPicPr>
          <p:nvPr/>
        </p:nvPicPr>
        <p:blipFill>
          <a:blip r:embed="rId2"/>
          <a:stretch>
            <a:fillRect/>
          </a:stretch>
        </p:blipFill>
        <p:spPr>
          <a:xfrm>
            <a:off x="4889500" y="1369016"/>
            <a:ext cx="6731000" cy="3992966"/>
          </a:xfrm>
          <a:prstGeom prst="rect">
            <a:avLst/>
          </a:prstGeom>
        </p:spPr>
      </p:pic>
      <p:sp>
        <p:nvSpPr>
          <p:cNvPr id="10" name="TextBox 9"/>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1" name="TextBox 10"/>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 · THE ANSWERS</a:t>
            </a:r>
          </a:p>
        </p:txBody>
      </p:sp>
      <p:sp>
        <p:nvSpPr>
          <p:cNvPr id="12" name="TextBox 11"/>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12</a:t>
            </a:r>
          </a:p>
        </p:txBody>
      </p:sp>
      <p:sp>
        <p:nvSpPr>
          <p:cNvPr id="13" name="TextBox 12"/>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data/processed/vis.csv  ·  n = 40 answers</a:t>
            </a:r>
          </a:p>
        </p:txBody>
      </p:sp>
      <p:cxnSp>
        <p:nvCxnSpPr>
          <p:cNvPr id="14"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2"/>
          <p:cNvCxnSpPr/>
          <p:nvPr/>
        </p:nvCxnSpPr>
        <p:spPr>
          <a:xfrm>
            <a:off x="91313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26" name="motif-line-tick-13"/>
          <p:cNvCxnSpPr/>
          <p:nvPr/>
        </p:nvCxnSpPr>
        <p:spPr>
          <a:xfrm>
            <a:off x="9245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tick-14"/>
          <p:cNvCxnSpPr/>
          <p:nvPr/>
        </p:nvCxnSpPr>
        <p:spPr>
          <a:xfrm>
            <a:off x="9359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tick-15"/>
          <p:cNvCxnSpPr/>
          <p:nvPr/>
        </p:nvCxnSpPr>
        <p:spPr>
          <a:xfrm>
            <a:off x="9474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181100"/>
            <a:ext cx="10668000" cy="4622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Gemini names a wider field: 18 banks against ChatGPT's 11</a:t>
            </a:r>
          </a:p>
        </p:txBody>
      </p:sp>
      <p:sp>
        <p:nvSpPr>
          <p:cNvPr id="7" name="TextBox 6"/>
          <p:cNvSpPr txBox="1"/>
          <p:nvPr/>
        </p:nvSpPr>
        <p:spPr>
          <a:xfrm>
            <a:off x="762000" y="1732280"/>
            <a:ext cx="85725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Bright marks are banks only one engine named. Gemini alone named Bank BTPN (Jenius) in 5 answers and Superbank in 4.</a:t>
            </a:r>
          </a:p>
        </p:txBody>
      </p:sp>
      <p:pic>
        <p:nvPicPr>
          <p:cNvPr id="8" name="Picture 7" descr="wider_field.png"/>
          <p:cNvPicPr>
            <a:picLocks noChangeAspect="1"/>
          </p:cNvPicPr>
          <p:nvPr/>
        </p:nvPicPr>
        <p:blipFill>
          <a:blip r:embed="rId2"/>
          <a:stretch>
            <a:fillRect/>
          </a:stretch>
        </p:blipFill>
        <p:spPr>
          <a:xfrm>
            <a:off x="762000" y="2344420"/>
            <a:ext cx="10668000" cy="2730500"/>
          </a:xfrm>
          <a:prstGeom prst="rect">
            <a:avLst/>
          </a:prstGeom>
        </p:spPr>
      </p:pic>
      <p:sp>
        <p:nvSpPr>
          <p:cNvPr id="9" name="TextBox 8"/>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0" name="TextBox 9"/>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 · THE ANSWERS</a:t>
            </a:r>
          </a:p>
        </p:txBody>
      </p:sp>
      <p:sp>
        <p:nvSpPr>
          <p:cNvPr id="11" name="TextBox 10"/>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13</a:t>
            </a:r>
          </a:p>
        </p:txBody>
      </p:sp>
      <p:sp>
        <p:nvSpPr>
          <p:cNvPr id="12" name="TextBox 1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data/processed/brand_engine.csv  ·  n = 20 answers per engine</a:t>
            </a:r>
          </a:p>
        </p:txBody>
      </p:sp>
      <p:cxnSp>
        <p:nvCxnSpPr>
          <p:cNvPr id="13"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3"/>
          <p:cNvCxnSpPr/>
          <p:nvPr/>
        </p:nvCxnSpPr>
        <p:spPr>
          <a:xfrm>
            <a:off x="92456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26" name="motif-line-tick-14"/>
          <p:cNvCxnSpPr/>
          <p:nvPr/>
        </p:nvCxnSpPr>
        <p:spPr>
          <a:xfrm>
            <a:off x="9359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tick-15"/>
          <p:cNvCxnSpPr/>
          <p:nvPr/>
        </p:nvCxnSpPr>
        <p:spPr>
          <a:xfrm>
            <a:off x="9474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181100"/>
            <a:ext cx="10668000" cy="9245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No bank leads every customer need, and no lead is more than one answer</a:t>
            </a:r>
          </a:p>
        </p:txBody>
      </p:sp>
      <p:sp>
        <p:nvSpPr>
          <p:cNvPr id="7" name="TextBox 6"/>
          <p:cNvSpPr txBox="1"/>
          <p:nvPr/>
        </p:nvSpPr>
        <p:spPr>
          <a:xfrm>
            <a:off x="762000" y="2194560"/>
            <a:ext cx="85725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Counted on the 17 prompts that name no bank. Fees and rates: Bank Jago, Krom Bank and SeaBank, 6 of 8. Digital experience: Bank Jago and SeaBank, 6 of 6. Safety: Bank Jago, 5 of 8. Service: BCA, 4 of 6. Trust: BCA, 3 of 6.</a:t>
            </a:r>
          </a:p>
        </p:txBody>
      </p:sp>
      <p:pic>
        <p:nvPicPr>
          <p:cNvPr id="8" name="Picture 7" descr="pillar_heatmap.png"/>
          <p:cNvPicPr>
            <a:picLocks noChangeAspect="1"/>
          </p:cNvPicPr>
          <p:nvPr/>
        </p:nvPicPr>
        <p:blipFill>
          <a:blip r:embed="rId2"/>
          <a:stretch>
            <a:fillRect/>
          </a:stretch>
        </p:blipFill>
        <p:spPr>
          <a:xfrm>
            <a:off x="2278380" y="3055620"/>
            <a:ext cx="7635239" cy="2545079"/>
          </a:xfrm>
          <a:prstGeom prst="rect">
            <a:avLst/>
          </a:prstGeom>
        </p:spPr>
      </p:pic>
      <p:sp>
        <p:nvSpPr>
          <p:cNvPr id="9" name="TextBox 8"/>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0" name="TextBox 9"/>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 · THE ANSWERS</a:t>
            </a:r>
          </a:p>
        </p:txBody>
      </p:sp>
      <p:sp>
        <p:nvSpPr>
          <p:cNvPr id="11" name="TextBox 10"/>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14</a:t>
            </a:r>
          </a:p>
        </p:txBody>
      </p:sp>
      <p:sp>
        <p:nvSpPr>
          <p:cNvPr id="12" name="TextBox 1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data/interim/answers.csv, mentions.csv  ·  share of a need's answers that name the bank  ·  n = 34 answers</a:t>
            </a:r>
          </a:p>
        </p:txBody>
      </p:sp>
      <p:cxnSp>
        <p:nvCxnSpPr>
          <p:cNvPr id="13"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4"/>
          <p:cNvCxnSpPr/>
          <p:nvPr/>
        </p:nvCxnSpPr>
        <p:spPr>
          <a:xfrm>
            <a:off x="93599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27" name="motif-line-tick-15"/>
          <p:cNvCxnSpPr/>
          <p:nvPr/>
        </p:nvCxnSpPr>
        <p:spPr>
          <a:xfrm>
            <a:off x="9474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1386839"/>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Named often and named early go together</a:t>
            </a:r>
          </a:p>
        </p:txBody>
      </p:sp>
      <p:sp>
        <p:nvSpPr>
          <p:cNvPr id="7" name="TextBox 6"/>
          <p:cNvSpPr txBox="1"/>
          <p:nvPr/>
        </p:nvSpPr>
        <p:spPr>
          <a:xfrm>
            <a:off x="762000" y="275844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BCA and Bank Jago lead on both measures.</a:t>
            </a:r>
          </a:p>
        </p:txBody>
      </p:sp>
      <p:sp>
        <p:nvSpPr>
          <p:cNvPr id="8" name="TextBox 7"/>
          <p:cNvSpPr txBox="1"/>
          <p:nvPr/>
        </p:nvSpPr>
        <p:spPr>
          <a:xfrm>
            <a:off x="762000" y="3345179"/>
            <a:ext cx="3810000" cy="99567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BRI scores higher on PAWC than SeaBank while appearing in fewer answers: when BRI is named, it takes up more of the answer.</a:t>
            </a:r>
          </a:p>
        </p:txBody>
      </p:sp>
      <p:pic>
        <p:nvPicPr>
          <p:cNvPr id="9" name="Picture 8" descr="often_vs_early.png"/>
          <p:cNvPicPr>
            <a:picLocks noChangeAspect="1"/>
          </p:cNvPicPr>
          <p:nvPr/>
        </p:nvPicPr>
        <p:blipFill>
          <a:blip r:embed="rId2"/>
          <a:stretch>
            <a:fillRect/>
          </a:stretch>
        </p:blipFill>
        <p:spPr>
          <a:xfrm>
            <a:off x="4889500" y="1540144"/>
            <a:ext cx="6731000" cy="3650711"/>
          </a:xfrm>
          <a:prstGeom prst="rect">
            <a:avLst/>
          </a:prstGeom>
        </p:spPr>
      </p:pic>
      <p:sp>
        <p:nvSpPr>
          <p:cNvPr id="10" name="TextBox 9"/>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1" name="TextBox 10"/>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 · THE ANSWERS</a:t>
            </a:r>
          </a:p>
        </p:txBody>
      </p:sp>
      <p:sp>
        <p:nvSpPr>
          <p:cNvPr id="12" name="TextBox 11"/>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15</a:t>
            </a:r>
          </a:p>
        </p:txBody>
      </p:sp>
      <p:sp>
        <p:nvSpPr>
          <p:cNvPr id="13" name="TextBox 12"/>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data/processed/brand_engine.csv  ·  banks named in at least 3 answers  ·  n = 40 answers</a:t>
            </a:r>
          </a:p>
        </p:txBody>
      </p:sp>
      <p:cxnSp>
        <p:nvCxnSpPr>
          <p:cNvPr id="14"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5"/>
          <p:cNvCxnSpPr/>
          <p:nvPr/>
        </p:nvCxnSpPr>
        <p:spPr>
          <a:xfrm>
            <a:off x="94742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29"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181100"/>
            <a:ext cx="10668000" cy="4622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No answer was negative about a bank</a:t>
            </a:r>
          </a:p>
        </p:txBody>
      </p:sp>
      <p:sp>
        <p:nvSpPr>
          <p:cNvPr id="7" name="TextBox 6"/>
          <p:cNvSpPr txBox="1"/>
          <p:nvPr/>
        </p:nvSpPr>
        <p:spPr>
          <a:xfrm>
            <a:off x="762000" y="1732280"/>
            <a:ext cx="85725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Of 137 answer and bank pairs, 117 are positive. The 6 mixed labels attach a condition, such as a minimum balance for free transfers. Being named at all is what to measure.</a:t>
            </a:r>
          </a:p>
        </p:txBody>
      </p:sp>
      <p:pic>
        <p:nvPicPr>
          <p:cNvPr id="8" name="Picture 7" descr="sentiment_marks.png"/>
          <p:cNvPicPr>
            <a:picLocks noChangeAspect="1"/>
          </p:cNvPicPr>
          <p:nvPr/>
        </p:nvPicPr>
        <p:blipFill>
          <a:blip r:embed="rId2"/>
          <a:stretch>
            <a:fillRect/>
          </a:stretch>
        </p:blipFill>
        <p:spPr>
          <a:xfrm>
            <a:off x="762000" y="2344420"/>
            <a:ext cx="10668000" cy="2413000"/>
          </a:xfrm>
          <a:prstGeom prst="rect">
            <a:avLst/>
          </a:prstGeom>
        </p:spPr>
      </p:pic>
      <p:sp>
        <p:nvSpPr>
          <p:cNvPr id="9" name="TextBox 8"/>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0" name="TextBox 9"/>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 · THE ANSWERS</a:t>
            </a:r>
          </a:p>
        </p:txBody>
      </p:sp>
      <p:sp>
        <p:nvSpPr>
          <p:cNvPr id="11" name="TextBox 10"/>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16</a:t>
            </a:r>
          </a:p>
        </p:txBody>
      </p:sp>
      <p:sp>
        <p:nvSpPr>
          <p:cNvPr id="12" name="TextBox 1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data/labels/sentiment.csv  ·  labelled by Claude, spot-checked by RG  ·  n = 137 pairs</a:t>
            </a:r>
          </a:p>
        </p:txBody>
      </p:sp>
      <p:cxnSp>
        <p:nvCxnSpPr>
          <p:cNvPr id="13"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6"/>
          <p:cNvCxnSpPr/>
          <p:nvPr/>
        </p:nvCxnSpPr>
        <p:spPr>
          <a:xfrm>
            <a:off x="95885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29"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9245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How-to answers rarely name a bank</a:t>
            </a:r>
          </a:p>
        </p:txBody>
      </p:sp>
      <p:sp>
        <p:nvSpPr>
          <p:cNvPr id="7" name="TextBox 6"/>
          <p:cNvSpPr txBox="1"/>
          <p:nvPr/>
        </p:nvSpPr>
        <p:spPr>
          <a:xfrm>
            <a:off x="762000" y="229616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Every best and decision-brief answer named at least one bank.</a:t>
            </a:r>
          </a:p>
        </p:txBody>
      </p:sp>
      <p:sp>
        <p:nvSpPr>
          <p:cNvPr id="8" name="TextBox 7"/>
          <p:cNvSpPr txBox="1"/>
          <p:nvPr/>
        </p:nvSpPr>
        <p:spPr>
          <a:xfrm>
            <a:off x="762000" y="288290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Only 1 of 6 how-to answers did. Explainers on deposit insurance, scams and complaints look like a gap for banks.</a:t>
            </a:r>
          </a:p>
        </p:txBody>
      </p:sp>
      <p:pic>
        <p:nvPicPr>
          <p:cNvPr id="9" name="Picture 8" descr="intent_named.png"/>
          <p:cNvPicPr>
            <a:picLocks noChangeAspect="1"/>
          </p:cNvPicPr>
          <p:nvPr/>
        </p:nvPicPr>
        <p:blipFill>
          <a:blip r:embed="rId2"/>
          <a:stretch>
            <a:fillRect/>
          </a:stretch>
        </p:blipFill>
        <p:spPr>
          <a:xfrm>
            <a:off x="4889500" y="1896918"/>
            <a:ext cx="6731000" cy="2937163"/>
          </a:xfrm>
          <a:prstGeom prst="rect">
            <a:avLst/>
          </a:prstGeom>
        </p:spPr>
      </p:pic>
      <p:sp>
        <p:nvSpPr>
          <p:cNvPr id="10" name="TextBox 9"/>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1" name="TextBox 10"/>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 · THE ANSWERS</a:t>
            </a:r>
          </a:p>
        </p:txBody>
      </p:sp>
      <p:sp>
        <p:nvSpPr>
          <p:cNvPr id="12" name="TextBox 11"/>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17</a:t>
            </a:r>
          </a:p>
        </p:txBody>
      </p:sp>
      <p:sp>
        <p:nvSpPr>
          <p:cNvPr id="13" name="TextBox 12"/>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data/processed/no_brand_rate.csv  ·  n = 40 answers</a:t>
            </a:r>
          </a:p>
        </p:txBody>
      </p:sp>
      <p:cxnSp>
        <p:nvCxnSpPr>
          <p:cNvPr id="14"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17"/>
          <p:cNvCxnSpPr/>
          <p:nvPr/>
        </p:nvCxnSpPr>
        <p:spPr>
          <a:xfrm>
            <a:off x="97028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31"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cxnSp>
        <p:nvCxnSpPr>
          <p:cNvPr id="2" name="motif-line-corridor-corner-0"/>
          <p:cNvCxnSpPr/>
          <p:nvPr/>
        </p:nvCxnSpPr>
        <p:spPr>
          <a:xfrm>
            <a:off x="0" y="0"/>
            <a:ext cx="2794000" cy="2095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 name="motif-line-corridor-corner-1"/>
          <p:cNvCxnSpPr/>
          <p:nvPr/>
        </p:nvCxnSpPr>
        <p:spPr>
          <a:xfrm flipH="1">
            <a:off x="9398000" y="0"/>
            <a:ext cx="2794000" cy="2095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 name="motif-line-corridor-corner-2"/>
          <p:cNvCxnSpPr/>
          <p:nvPr/>
        </p:nvCxnSpPr>
        <p:spPr>
          <a:xfrm flipV="1">
            <a:off x="0" y="5016500"/>
            <a:ext cx="2794000" cy="1841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corridor-corner-3"/>
          <p:cNvCxnSpPr/>
          <p:nvPr/>
        </p:nvCxnSpPr>
        <p:spPr>
          <a:xfrm flipH="1" flipV="1">
            <a:off x="9398000" y="5016500"/>
            <a:ext cx="2794000" cy="1841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6" name="motif-line-corridor-top-1"/>
          <p:cNvCxnSpPr/>
          <p:nvPr/>
        </p:nvCxnSpPr>
        <p:spPr>
          <a:xfrm>
            <a:off x="2032000" y="0"/>
            <a:ext cx="1862666"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7" name="motif-line-corridor-floor-1"/>
          <p:cNvCxnSpPr/>
          <p:nvPr/>
        </p:nvCxnSpPr>
        <p:spPr>
          <a:xfrm flipV="1">
            <a:off x="2032000" y="5016500"/>
            <a:ext cx="1862666"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8" name="motif-line-corridor-top-2"/>
          <p:cNvCxnSpPr/>
          <p:nvPr/>
        </p:nvCxnSpPr>
        <p:spPr>
          <a:xfrm>
            <a:off x="4064000" y="0"/>
            <a:ext cx="931333"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9" name="motif-line-corridor-floor-2"/>
          <p:cNvCxnSpPr/>
          <p:nvPr/>
        </p:nvCxnSpPr>
        <p:spPr>
          <a:xfrm flipV="1">
            <a:off x="4064000" y="5016500"/>
            <a:ext cx="931333"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0" name="motif-line-corridor-top-3"/>
          <p:cNvCxnSpPr/>
          <p:nvPr/>
        </p:nvCxnSpPr>
        <p:spPr>
          <a:xfrm>
            <a:off x="6096000" y="0"/>
            <a:ext cx="0"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1" name="motif-line-corridor-floor-3"/>
          <p:cNvCxnSpPr/>
          <p:nvPr/>
        </p:nvCxnSpPr>
        <p:spPr>
          <a:xfrm flipV="1">
            <a:off x="6096000" y="5016500"/>
            <a:ext cx="0"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2" name="motif-line-corridor-top-4"/>
          <p:cNvCxnSpPr/>
          <p:nvPr/>
        </p:nvCxnSpPr>
        <p:spPr>
          <a:xfrm flipH="1">
            <a:off x="7196666" y="0"/>
            <a:ext cx="931334"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3" name="motif-line-corridor-floor-4"/>
          <p:cNvCxnSpPr/>
          <p:nvPr/>
        </p:nvCxnSpPr>
        <p:spPr>
          <a:xfrm flipH="1" flipV="1">
            <a:off x="7196666" y="5016500"/>
            <a:ext cx="931334"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4" name="motif-line-corridor-top-5"/>
          <p:cNvCxnSpPr/>
          <p:nvPr/>
        </p:nvCxnSpPr>
        <p:spPr>
          <a:xfrm flipH="1">
            <a:off x="8297333" y="0"/>
            <a:ext cx="1862667"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5" name="motif-line-corridor-floor-5"/>
          <p:cNvCxnSpPr/>
          <p:nvPr/>
        </p:nvCxnSpPr>
        <p:spPr>
          <a:xfrm flipH="1" flipV="1">
            <a:off x="8297333" y="5016500"/>
            <a:ext cx="1862667"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6" name="motif-line-corridor-left-1"/>
          <p:cNvCxnSpPr/>
          <p:nvPr/>
        </p:nvCxnSpPr>
        <p:spPr>
          <a:xfrm>
            <a:off x="0" y="1714500"/>
            <a:ext cx="2794000" cy="1111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7" name="motif-line-corridor-right-1"/>
          <p:cNvCxnSpPr/>
          <p:nvPr/>
        </p:nvCxnSpPr>
        <p:spPr>
          <a:xfrm flipH="1">
            <a:off x="9398000" y="1714500"/>
            <a:ext cx="2794000" cy="1111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8" name="motif-line-corridor-left-2"/>
          <p:cNvCxnSpPr/>
          <p:nvPr/>
        </p:nvCxnSpPr>
        <p:spPr>
          <a:xfrm>
            <a:off x="0" y="3429000"/>
            <a:ext cx="2794000" cy="1270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9" name="motif-line-corridor-right-2"/>
          <p:cNvCxnSpPr/>
          <p:nvPr/>
        </p:nvCxnSpPr>
        <p:spPr>
          <a:xfrm flipH="1">
            <a:off x="9398000" y="3429000"/>
            <a:ext cx="2794000" cy="1270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0" name="motif-line-corridor-left-3"/>
          <p:cNvCxnSpPr/>
          <p:nvPr/>
        </p:nvCxnSpPr>
        <p:spPr>
          <a:xfrm flipV="1">
            <a:off x="0" y="4286250"/>
            <a:ext cx="2794000" cy="857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1" name="motif-line-corridor-right-3"/>
          <p:cNvCxnSpPr/>
          <p:nvPr/>
        </p:nvCxnSpPr>
        <p:spPr>
          <a:xfrm flipH="1" flipV="1">
            <a:off x="9398000" y="4286250"/>
            <a:ext cx="2794000" cy="857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2" name="motif-line-depth-1-t"/>
          <p:cNvCxnSpPr/>
          <p:nvPr/>
        </p:nvCxnSpPr>
        <p:spPr>
          <a:xfrm>
            <a:off x="1397000" y="1047750"/>
            <a:ext cx="93980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3" name="motif-line-depth-1-b"/>
          <p:cNvCxnSpPr/>
          <p:nvPr/>
        </p:nvCxnSpPr>
        <p:spPr>
          <a:xfrm>
            <a:off x="1397000" y="5937250"/>
            <a:ext cx="93980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4" name="motif-line-depth-1-l"/>
          <p:cNvCxnSpPr/>
          <p:nvPr/>
        </p:nvCxnSpPr>
        <p:spPr>
          <a:xfrm>
            <a:off x="1397000" y="1047750"/>
            <a:ext cx="0" cy="4889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5" name="motif-line-depth-1-r"/>
          <p:cNvCxnSpPr/>
          <p:nvPr/>
        </p:nvCxnSpPr>
        <p:spPr>
          <a:xfrm>
            <a:off x="10795000" y="1047750"/>
            <a:ext cx="0" cy="4889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6" name="motif-line-depth-2-t"/>
          <p:cNvCxnSpPr/>
          <p:nvPr/>
        </p:nvCxnSpPr>
        <p:spPr>
          <a:xfrm>
            <a:off x="2095500" y="1571625"/>
            <a:ext cx="80010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depth-2-b"/>
          <p:cNvCxnSpPr/>
          <p:nvPr/>
        </p:nvCxnSpPr>
        <p:spPr>
          <a:xfrm>
            <a:off x="2095500" y="5476875"/>
            <a:ext cx="80010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depth-2-l"/>
          <p:cNvCxnSpPr/>
          <p:nvPr/>
        </p:nvCxnSpPr>
        <p:spPr>
          <a:xfrm>
            <a:off x="2095500" y="1571625"/>
            <a:ext cx="0" cy="390525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depth-2-r"/>
          <p:cNvCxnSpPr/>
          <p:nvPr/>
        </p:nvCxnSpPr>
        <p:spPr>
          <a:xfrm>
            <a:off x="10096500" y="1571625"/>
            <a:ext cx="0" cy="390525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depth-3-t"/>
          <p:cNvCxnSpPr/>
          <p:nvPr/>
        </p:nvCxnSpPr>
        <p:spPr>
          <a:xfrm>
            <a:off x="2444750" y="1833562"/>
            <a:ext cx="7302500" cy="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depth-3-b"/>
          <p:cNvCxnSpPr/>
          <p:nvPr/>
        </p:nvCxnSpPr>
        <p:spPr>
          <a:xfrm>
            <a:off x="2444750" y="5246687"/>
            <a:ext cx="7302500" cy="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depth-3-l"/>
          <p:cNvCxnSpPr/>
          <p:nvPr/>
        </p:nvCxnSpPr>
        <p:spPr>
          <a:xfrm>
            <a:off x="2444750" y="1833562"/>
            <a:ext cx="0" cy="3413125"/>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depth-3-r"/>
          <p:cNvCxnSpPr/>
          <p:nvPr/>
        </p:nvCxnSpPr>
        <p:spPr>
          <a:xfrm>
            <a:off x="9747250" y="1833562"/>
            <a:ext cx="0" cy="3413125"/>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984500" y="2540000"/>
            <a:ext cx="6223000" cy="215900"/>
          </a:xfrm>
          <a:prstGeom prst="rect">
            <a:avLst/>
          </a:prstGeom>
          <a:noFill/>
        </p:spPr>
        <p:txBody>
          <a:bodyPr wrap="square" lIns="0" rIns="0" tIns="0" bIns="0" anchor="t">
            <a:spAutoFit/>
          </a:bodyPr>
          <a:lstStyle/>
          <a:p>
            <a:pPr algn="ctr">
              <a:lnSpc>
                <a:spcPct val="115000"/>
              </a:lnSpc>
            </a:pPr>
            <a:r>
              <a:rPr sz="1200" b="0" spc="400">
                <a:solidFill>
                  <a:srgbClr val="9A9EA6"/>
                </a:solidFill>
                <a:latin typeface="IBM Plex Mono"/>
              </a:rPr>
              <a:t>PART III</a:t>
            </a:r>
          </a:p>
        </p:txBody>
      </p:sp>
      <p:sp>
        <p:nvSpPr>
          <p:cNvPr id="35" name="TextBox 34"/>
          <p:cNvSpPr txBox="1"/>
          <p:nvPr/>
        </p:nvSpPr>
        <p:spPr>
          <a:xfrm>
            <a:off x="2984500" y="2794000"/>
            <a:ext cx="6223000" cy="1066800"/>
          </a:xfrm>
          <a:prstGeom prst="rect">
            <a:avLst/>
          </a:prstGeom>
          <a:noFill/>
        </p:spPr>
        <p:txBody>
          <a:bodyPr wrap="square" lIns="0" rIns="0" tIns="0" bIns="0" anchor="t">
            <a:spAutoFit/>
          </a:bodyPr>
          <a:lstStyle/>
          <a:p>
            <a:pPr algn="ctr">
              <a:lnSpc>
                <a:spcPct val="115000"/>
              </a:lnSpc>
            </a:pPr>
            <a:r>
              <a:rPr sz="6000" b="0">
                <a:solidFill>
                  <a:srgbClr val="ECE7DD"/>
                </a:solidFill>
                <a:latin typeface="Work Sans"/>
              </a:rPr>
              <a:t>The sources</a:t>
            </a:r>
          </a:p>
        </p:txBody>
      </p:sp>
      <p:sp>
        <p:nvSpPr>
          <p:cNvPr id="36" name="TextBox 35"/>
          <p:cNvSpPr txBox="1"/>
          <p:nvPr/>
        </p:nvSpPr>
        <p:spPr>
          <a:xfrm>
            <a:off x="2984500" y="3937000"/>
            <a:ext cx="6223000" cy="320040"/>
          </a:xfrm>
          <a:prstGeom prst="rect">
            <a:avLst/>
          </a:prstGeom>
          <a:noFill/>
        </p:spPr>
        <p:txBody>
          <a:bodyPr wrap="square" lIns="0" rIns="0" tIns="0" bIns="0" anchor="t">
            <a:spAutoFit/>
          </a:bodyPr>
          <a:lstStyle/>
          <a:p>
            <a:pPr algn="ctr">
              <a:lnSpc>
                <a:spcPct val="115000"/>
              </a:lnSpc>
            </a:pPr>
            <a:r>
              <a:rPr sz="1800" b="0">
                <a:solidFill>
                  <a:srgbClr val="9A9EA6"/>
                </a:solidFill>
                <a:latin typeface="Work Sans"/>
              </a:rPr>
              <a:t>Which pages the engines lean on</a:t>
            </a:r>
          </a:p>
        </p:txBody>
      </p:sp>
      <p:cxnSp>
        <p:nvCxnSpPr>
          <p:cNvPr id="37" name="Connector 36"/>
          <p:cNvCxnSpPr/>
          <p:nvPr/>
        </p:nvCxnSpPr>
        <p:spPr>
          <a:xfrm>
            <a:off x="5588000" y="4572000"/>
            <a:ext cx="1016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5588000" y="4648200"/>
            <a:ext cx="1016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181100"/>
            <a:ext cx="10668000" cy="9245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ChatGPT cites banks and regulators. Gemini cites fintech, blog and news sites.</a:t>
            </a:r>
          </a:p>
        </p:txBody>
      </p:sp>
      <p:sp>
        <p:nvSpPr>
          <p:cNvPr id="7" name="TextBox 6"/>
          <p:cNvSpPr txBox="1"/>
          <p:nvPr/>
        </p:nvSpPr>
        <p:spPr>
          <a:xfrm>
            <a:off x="762000" y="2194560"/>
            <a:ext cx="85725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89% of ChatGPT's citations go to bank and regulator sites. 61% of Gemini's go to fintech platforms, blogs and news.</a:t>
            </a:r>
          </a:p>
        </p:txBody>
      </p:sp>
      <p:pic>
        <p:nvPicPr>
          <p:cNvPr id="8" name="Picture 7" descr="source_mix.png"/>
          <p:cNvPicPr>
            <a:picLocks noChangeAspect="1"/>
          </p:cNvPicPr>
          <p:nvPr/>
        </p:nvPicPr>
        <p:blipFill>
          <a:blip r:embed="rId2"/>
          <a:stretch>
            <a:fillRect/>
          </a:stretch>
        </p:blipFill>
        <p:spPr>
          <a:xfrm>
            <a:off x="993913" y="2806700"/>
            <a:ext cx="10204173" cy="2794000"/>
          </a:xfrm>
          <a:prstGeom prst="rect">
            <a:avLst/>
          </a:prstGeom>
        </p:spPr>
      </p:pic>
      <p:sp>
        <p:nvSpPr>
          <p:cNvPr id="9" name="TextBox 8"/>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0" name="TextBox 9"/>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11" name="TextBox 10"/>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19</a:t>
            </a:r>
          </a:p>
        </p:txBody>
      </p:sp>
      <p:sp>
        <p:nvSpPr>
          <p:cNvPr id="12" name="TextBox 1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data/processed/domain_type_mix.csv  ·  shares rounded on their own, sums can differ by 1 point  ·  n = 199 and 200 citations</a:t>
            </a:r>
          </a:p>
        </p:txBody>
      </p:sp>
      <p:cxnSp>
        <p:nvCxnSpPr>
          <p:cNvPr id="13"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19"/>
          <p:cNvCxnSpPr/>
          <p:nvPr/>
        </p:nvCxnSpPr>
        <p:spPr>
          <a:xfrm>
            <a:off x="99314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32"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184912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The engines share sites more than pages: 21 of 97 sites, 11 of 243 pages</a:t>
            </a:r>
          </a:p>
        </p:txBody>
      </p:sp>
      <p:sp>
        <p:nvSpPr>
          <p:cNvPr id="7" name="TextBox 6"/>
          <p:cNvSpPr txBox="1"/>
          <p:nvPr/>
        </p:nvSpPr>
        <p:spPr>
          <a:xfrm>
            <a:off x="762000" y="3220720"/>
            <a:ext cx="3810000" cy="99567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21 of ChatGPT's 46 sites are also cited by Gemini, but rarely the same page. The Jaccard overlap is 0.22 for sites and 0.05 for pages.</a:t>
            </a:r>
          </a:p>
        </p:txBody>
      </p:sp>
      <p:sp>
        <p:nvSpPr>
          <p:cNvPr id="8" name="TextBox 7"/>
          <p:cNvSpPr txBox="1"/>
          <p:nvPr/>
        </p:nvSpPr>
        <p:spPr>
          <a:xfrm>
            <a:off x="762000" y="4305300"/>
            <a:ext cx="3810000" cy="99567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Writesonic found 0.119 between ChatGPT and Gemini across 88,969 prompts, without saying whether it compared pages or sites.</a:t>
            </a:r>
          </a:p>
        </p:txBody>
      </p:sp>
      <p:pic>
        <p:nvPicPr>
          <p:cNvPr id="9" name="Picture 8" descr="overlap.png"/>
          <p:cNvPicPr>
            <a:picLocks noChangeAspect="1"/>
          </p:cNvPicPr>
          <p:nvPr/>
        </p:nvPicPr>
        <p:blipFill>
          <a:blip r:embed="rId2"/>
          <a:stretch>
            <a:fillRect/>
          </a:stretch>
        </p:blipFill>
        <p:spPr>
          <a:xfrm>
            <a:off x="4889500" y="1652154"/>
            <a:ext cx="6731000" cy="3426690"/>
          </a:xfrm>
          <a:prstGeom prst="rect">
            <a:avLst/>
          </a:prstGeom>
        </p:spPr>
      </p:pic>
      <p:sp>
        <p:nvSpPr>
          <p:cNvPr id="10" name="TextBox 9"/>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1" name="TextBox 10"/>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12" name="TextBox 11"/>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20</a:t>
            </a:r>
          </a:p>
        </p:txBody>
      </p:sp>
      <p:sp>
        <p:nvSpPr>
          <p:cNvPr id="13" name="TextBox 12"/>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data/interim/citations.csv  ·  Writesonic, AI citation source overlap study  ·  n = 97 sites, 243 pages</a:t>
            </a:r>
          </a:p>
        </p:txBody>
      </p:sp>
      <p:cxnSp>
        <p:nvCxnSpPr>
          <p:cNvPr id="14"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tick-20"/>
          <p:cNvCxnSpPr/>
          <p:nvPr/>
        </p:nvCxnSpPr>
        <p:spPr>
          <a:xfrm>
            <a:off x="100457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34"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181100"/>
            <a:ext cx="10668000" cy="4622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Most cited sites: ChatGPT on the left, Gemini on the right</a:t>
            </a:r>
          </a:p>
        </p:txBody>
      </p:sp>
      <p:sp>
        <p:nvSpPr>
          <p:cNvPr id="7" name="TextBox 6"/>
          <p:cNvSpPr txBox="1"/>
          <p:nvPr/>
        </p:nvSpPr>
        <p:spPr>
          <a:xfrm>
            <a:off x="762000" y="1732280"/>
            <a:ext cx="8572500" cy="24891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Bank and regulator sites lead for ChatGPT. Fazz, Akulaku and Zaipad are cited only by Gemini.</a:t>
            </a:r>
          </a:p>
        </p:txBody>
      </p:sp>
      <p:pic>
        <p:nvPicPr>
          <p:cNvPr id="8" name="Picture 7" descr="mirror_sites.png"/>
          <p:cNvPicPr>
            <a:picLocks noChangeAspect="1"/>
          </p:cNvPicPr>
          <p:nvPr/>
        </p:nvPicPr>
        <p:blipFill>
          <a:blip r:embed="rId2"/>
          <a:stretch>
            <a:fillRect/>
          </a:stretch>
        </p:blipFill>
        <p:spPr>
          <a:xfrm>
            <a:off x="1634836" y="2095500"/>
            <a:ext cx="8922327" cy="3505200"/>
          </a:xfrm>
          <a:prstGeom prst="rect">
            <a:avLst/>
          </a:prstGeom>
        </p:spPr>
      </p:pic>
      <p:sp>
        <p:nvSpPr>
          <p:cNvPr id="9" name="TextBox 8"/>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0" name="TextBox 9"/>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11" name="TextBox 10"/>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21</a:t>
            </a:r>
          </a:p>
        </p:txBody>
      </p:sp>
      <p:sp>
        <p:nvSpPr>
          <p:cNvPr id="12" name="TextBox 1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data/processed/domains.csv  ·  top sites by citations  ·  n = 399 citations</a:t>
            </a:r>
          </a:p>
        </p:txBody>
      </p:sp>
      <p:cxnSp>
        <p:nvCxnSpPr>
          <p:cNvPr id="13"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tick-21"/>
          <p:cNvCxnSpPr/>
          <p:nvPr/>
        </p:nvCxnSpPr>
        <p:spPr>
          <a:xfrm>
            <a:off x="101600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34"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181100"/>
            <a:ext cx="10668000" cy="4622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A few comparison articles appear across Gemini's answers</a:t>
            </a:r>
          </a:p>
        </p:txBody>
      </p:sp>
      <p:sp>
        <p:nvSpPr>
          <p:cNvPr id="7" name="TextBox 6"/>
          <p:cNvSpPr txBox="1"/>
          <p:nvPr/>
        </p:nvSpPr>
        <p:spPr>
          <a:xfrm>
            <a:off x="762000" y="1732280"/>
            <a:ext cx="85725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One Akulaku article is cited in 14 of Gemini's 20 answers, one Zaipad article in 12, and Fazz articles 20 times across 15 answers. ChatGPT cites none of them.</a:t>
            </a:r>
          </a:p>
        </p:txBody>
      </p:sp>
      <p:sp>
        <p:nvSpPr>
          <p:cNvPr id="8" name="TextBox 7"/>
          <p:cNvSpPr txBox="1"/>
          <p:nvPr/>
        </p:nvSpPr>
        <p:spPr>
          <a:xfrm>
            <a:off x="762000" y="2280920"/>
            <a:ext cx="85725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Akulaku held 27.24% of Bank Neo Commerce in May 2023 (Bisnis). The article has not been checked for bias.</a:t>
            </a:r>
          </a:p>
        </p:txBody>
      </p:sp>
      <p:pic>
        <p:nvPicPr>
          <p:cNvPr id="9" name="Picture 8" descr="top_pages.png"/>
          <p:cNvPicPr>
            <a:picLocks noChangeAspect="1"/>
          </p:cNvPicPr>
          <p:nvPr/>
        </p:nvPicPr>
        <p:blipFill>
          <a:blip r:embed="rId2"/>
          <a:stretch>
            <a:fillRect/>
          </a:stretch>
        </p:blipFill>
        <p:spPr>
          <a:xfrm>
            <a:off x="2305304" y="2893060"/>
            <a:ext cx="7581392" cy="2707640"/>
          </a:xfrm>
          <a:prstGeom prst="rect">
            <a:avLst/>
          </a:prstGeom>
        </p:spPr>
      </p:pic>
      <p:sp>
        <p:nvSpPr>
          <p:cNvPr id="10" name="TextBox 9"/>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1" name="TextBox 10"/>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12" name="TextBox 11"/>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22</a:t>
            </a:r>
          </a:p>
        </p:txBody>
      </p:sp>
      <p:sp>
        <p:nvSpPr>
          <p:cNvPr id="13" name="TextBox 12"/>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data/processed/pages_top.csv  ·  most cited pages  ·  n = 399 citations</a:t>
            </a:r>
          </a:p>
        </p:txBody>
      </p:sp>
      <p:cxnSp>
        <p:nvCxnSpPr>
          <p:cNvPr id="14"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4" name="motif-line-tick-21"/>
          <p:cNvCxnSpPr/>
          <p:nvPr/>
        </p:nvCxnSpPr>
        <p:spPr>
          <a:xfrm>
            <a:off x="10160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5" name="motif-line-tick-22"/>
          <p:cNvCxnSpPr/>
          <p:nvPr/>
        </p:nvCxnSpPr>
        <p:spPr>
          <a:xfrm>
            <a:off x="102743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36"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9245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ChatGPT leans on fewer sites</a:t>
            </a:r>
          </a:p>
        </p:txBody>
      </p:sp>
      <p:sp>
        <p:nvSpPr>
          <p:cNvPr id="7" name="TextBox 6"/>
          <p:cNvSpPr txBox="1"/>
          <p:nvPr/>
        </p:nvSpPr>
        <p:spPr>
          <a:xfrm>
            <a:off x="762000" y="229616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Its top five sites hold 50% of its citations. Gemini's top five hold 36%.</a:t>
            </a:r>
          </a:p>
        </p:txBody>
      </p:sp>
      <p:pic>
        <p:nvPicPr>
          <p:cNvPr id="8" name="Picture 7" descr="concentration.png"/>
          <p:cNvPicPr>
            <a:picLocks noChangeAspect="1"/>
          </p:cNvPicPr>
          <p:nvPr/>
        </p:nvPicPr>
        <p:blipFill>
          <a:blip r:embed="rId2"/>
          <a:stretch>
            <a:fillRect/>
          </a:stretch>
        </p:blipFill>
        <p:spPr>
          <a:xfrm>
            <a:off x="4889500" y="2264063"/>
            <a:ext cx="6731000" cy="2202872"/>
          </a:xfrm>
          <a:prstGeom prst="rect">
            <a:avLst/>
          </a:prstGeom>
        </p:spPr>
      </p:pic>
      <p:sp>
        <p:nvSpPr>
          <p:cNvPr id="9" name="TextBox 8"/>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0" name="TextBox 9"/>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11" name="TextBox 10"/>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23</a:t>
            </a:r>
          </a:p>
        </p:txBody>
      </p:sp>
      <p:sp>
        <p:nvSpPr>
          <p:cNvPr id="12" name="TextBox 1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data/processed/concentration.csv  ·  n = 199 and 200 citations</a:t>
            </a:r>
          </a:p>
        </p:txBody>
      </p:sp>
      <p:cxnSp>
        <p:nvCxnSpPr>
          <p:cNvPr id="13"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tick-21"/>
          <p:cNvCxnSpPr/>
          <p:nvPr/>
        </p:nvCxnSpPr>
        <p:spPr>
          <a:xfrm>
            <a:off x="10160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4" name="motif-line-tick-22"/>
          <p:cNvCxnSpPr/>
          <p:nvPr/>
        </p:nvCxnSpPr>
        <p:spPr>
          <a:xfrm>
            <a:off x="10274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5" name="motif-line-tick-23"/>
          <p:cNvCxnSpPr/>
          <p:nvPr/>
        </p:nvCxnSpPr>
        <p:spPr>
          <a:xfrm>
            <a:off x="103886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36"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1386839"/>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Bank Mandiri gets less of the answers than its sources give it</a:t>
            </a:r>
          </a:p>
        </p:txBody>
      </p:sp>
      <p:sp>
        <p:nvSpPr>
          <p:cNvPr id="7" name="TextBox 6"/>
          <p:cNvSpPr txBox="1"/>
          <p:nvPr/>
        </p:nvSpPr>
        <p:spPr>
          <a:xfrm>
            <a:off x="762000" y="275844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Bank Mandiri holds 11.5% of bank mentions in the cited pages and 5.9% in the answers.</a:t>
            </a:r>
          </a:p>
        </p:txBody>
      </p:sp>
      <p:sp>
        <p:nvSpPr>
          <p:cNvPr id="8" name="TextBox 7"/>
          <p:cNvSpPr txBox="1"/>
          <p:nvPr/>
        </p:nvSpPr>
        <p:spPr>
          <a:xfrm>
            <a:off x="762000" y="359410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Bank Jago and BCA lean the other way. Bank Jago holds 20.2% of mentions in the answers and 13.6% in the pages.</a:t>
            </a:r>
          </a:p>
        </p:txBody>
      </p:sp>
      <p:sp>
        <p:nvSpPr>
          <p:cNvPr id="9" name="TextBox 8"/>
          <p:cNvSpPr txBox="1"/>
          <p:nvPr/>
        </p:nvSpPr>
        <p:spPr>
          <a:xfrm>
            <a:off x="762000" y="4429760"/>
            <a:ext cx="3810000" cy="99567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Pages were counted without a bare “Jago” or “blu”, so these two banks' source share may be low and their gaps too wide.</a:t>
            </a:r>
          </a:p>
        </p:txBody>
      </p:sp>
      <p:pic>
        <p:nvPicPr>
          <p:cNvPr id="10" name="Picture 9" descr="sov_gap.png"/>
          <p:cNvPicPr>
            <a:picLocks noChangeAspect="1"/>
          </p:cNvPicPr>
          <p:nvPr/>
        </p:nvPicPr>
        <p:blipFill>
          <a:blip r:embed="rId2"/>
          <a:stretch>
            <a:fillRect/>
          </a:stretch>
        </p:blipFill>
        <p:spPr>
          <a:xfrm>
            <a:off x="4889500" y="1654228"/>
            <a:ext cx="6731000" cy="3422542"/>
          </a:xfrm>
          <a:prstGeom prst="rect">
            <a:avLst/>
          </a:prstGeom>
        </p:spPr>
      </p:pic>
      <p:sp>
        <p:nvSpPr>
          <p:cNvPr id="11" name="TextBox 10"/>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2" name="TextBox 11"/>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13" name="TextBox 12"/>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24</a:t>
            </a:r>
          </a:p>
        </p:txBody>
      </p:sp>
      <p:sp>
        <p:nvSpPr>
          <p:cNvPr id="14" name="TextBox 13"/>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data/processed/source_sov.csv  ·  answers and pages weighted equally  ·  n = 40 answers, 148 pages</a:t>
            </a:r>
          </a:p>
        </p:txBody>
      </p:sp>
      <p:cxnSp>
        <p:nvCxnSpPr>
          <p:cNvPr id="15"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4"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5" name="motif-line-tick-21"/>
          <p:cNvCxnSpPr/>
          <p:nvPr/>
        </p:nvCxnSpPr>
        <p:spPr>
          <a:xfrm>
            <a:off x="10160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6" name="motif-line-tick-22"/>
          <p:cNvCxnSpPr/>
          <p:nvPr/>
        </p:nvCxnSpPr>
        <p:spPr>
          <a:xfrm>
            <a:off x="10274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7" name="motif-line-tick-23"/>
          <p:cNvCxnSpPr/>
          <p:nvPr/>
        </p:nvCxnSpPr>
        <p:spPr>
          <a:xfrm>
            <a:off x="10388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8" name="motif-line-tick-24"/>
          <p:cNvCxnSpPr/>
          <p:nvPr/>
        </p:nvCxnSpPr>
        <p:spPr>
          <a:xfrm>
            <a:off x="105029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39"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6"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1386839"/>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Gemini's dead links all sit behind a Google redirect</a:t>
            </a:r>
          </a:p>
        </p:txBody>
      </p:sp>
      <p:sp>
        <p:nvSpPr>
          <p:cNvPr id="7" name="TextBox 6"/>
          <p:cNvSpPr txBox="1"/>
          <p:nvPr/>
        </p:nvSpPr>
        <p:spPr>
          <a:xfrm>
            <a:off x="762000" y="275844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13 of its 21 links wrapped in google.com/search were dead. None of its 179 direct links were.</a:t>
            </a:r>
          </a:p>
        </p:txBody>
      </p:sp>
      <p:sp>
        <p:nvSpPr>
          <p:cNvPr id="8" name="TextBox 7"/>
          <p:cNvSpPr txBox="1"/>
          <p:nvPr/>
        </p:nvSpPr>
        <p:spPr>
          <a:xfrm>
            <a:off x="762000" y="359410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The Tow Center found Gemini gave more fabricated links than correct ones in its 2025 tests (Nieman Lab).</a:t>
            </a:r>
          </a:p>
        </p:txBody>
      </p:sp>
      <p:pic>
        <p:nvPicPr>
          <p:cNvPr id="9" name="Picture 8" descr="dead_links.png"/>
          <p:cNvPicPr>
            <a:picLocks noChangeAspect="1"/>
          </p:cNvPicPr>
          <p:nvPr/>
        </p:nvPicPr>
        <p:blipFill>
          <a:blip r:embed="rId2"/>
          <a:stretch>
            <a:fillRect/>
          </a:stretch>
        </p:blipFill>
        <p:spPr>
          <a:xfrm>
            <a:off x="4889500" y="2281694"/>
            <a:ext cx="6731000" cy="2167610"/>
          </a:xfrm>
          <a:prstGeom prst="rect">
            <a:avLst/>
          </a:prstGeom>
        </p:spPr>
      </p:pic>
      <p:sp>
        <p:nvSpPr>
          <p:cNvPr id="10" name="TextBox 9"/>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1" name="TextBox 10"/>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12" name="TextBox 11"/>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25</a:t>
            </a:r>
          </a:p>
        </p:txBody>
      </p:sp>
      <p:sp>
        <p:nvSpPr>
          <p:cNvPr id="13" name="TextBox 12"/>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data/interim/citations.csv, pages.csv  ·  n = 200 Gemini citations</a:t>
            </a:r>
          </a:p>
        </p:txBody>
      </p:sp>
      <p:cxnSp>
        <p:nvCxnSpPr>
          <p:cNvPr id="14"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4" name="motif-line-tick-21"/>
          <p:cNvCxnSpPr/>
          <p:nvPr/>
        </p:nvCxnSpPr>
        <p:spPr>
          <a:xfrm>
            <a:off x="10160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5" name="motif-line-tick-22"/>
          <p:cNvCxnSpPr/>
          <p:nvPr/>
        </p:nvCxnSpPr>
        <p:spPr>
          <a:xfrm>
            <a:off x="10274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6" name="motif-line-tick-23"/>
          <p:cNvCxnSpPr/>
          <p:nvPr/>
        </p:nvCxnSpPr>
        <p:spPr>
          <a:xfrm>
            <a:off x="10388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7" name="motif-line-tick-24"/>
          <p:cNvCxnSpPr/>
          <p:nvPr/>
        </p:nvCxnSpPr>
        <p:spPr>
          <a:xfrm>
            <a:off x="10502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8" name="motif-line-tick-25"/>
          <p:cNvCxnSpPr/>
          <p:nvPr/>
        </p:nvCxnSpPr>
        <p:spPr>
          <a:xfrm>
            <a:off x="106172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39"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9245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Pages without schema still get cited</a:t>
            </a:r>
          </a:p>
        </p:txBody>
      </p:sp>
      <p:sp>
        <p:nvSpPr>
          <p:cNvPr id="7" name="TextBox 6"/>
          <p:cNvSpPr txBox="1"/>
          <p:nvPr/>
        </p:nvSpPr>
        <p:spPr>
          <a:xfrm>
            <a:off x="762000" y="229616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Bank sites carry schema on 32% of cited pages, against 95% for news and 86% for blogs, yet they are the most cited type.</a:t>
            </a:r>
          </a:p>
        </p:txBody>
      </p:sp>
      <p:sp>
        <p:nvSpPr>
          <p:cNvPr id="8" name="TextBox 7"/>
          <p:cNvSpPr txBox="1"/>
          <p:nvPr/>
        </p:nvSpPr>
        <p:spPr>
          <a:xfrm>
            <a:off x="762000" y="313182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Only 133 of 333 readable citations point to a page with a structured publish date.</a:t>
            </a:r>
          </a:p>
        </p:txBody>
      </p:sp>
      <p:sp>
        <p:nvSpPr>
          <p:cNvPr id="9" name="TextBox 8"/>
          <p:cNvSpPr txBox="1"/>
          <p:nvPr/>
        </p:nvSpPr>
        <p:spPr>
          <a:xfrm>
            <a:off x="762000" y="371856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Google: “there's also no special schema.org structured data that you need to add.”</a:t>
            </a:r>
          </a:p>
        </p:txBody>
      </p:sp>
      <p:pic>
        <p:nvPicPr>
          <p:cNvPr id="10" name="Picture 9" descr="schema.png"/>
          <p:cNvPicPr>
            <a:picLocks noChangeAspect="1"/>
          </p:cNvPicPr>
          <p:nvPr/>
        </p:nvPicPr>
        <p:blipFill>
          <a:blip r:embed="rId2"/>
          <a:stretch>
            <a:fillRect/>
          </a:stretch>
        </p:blipFill>
        <p:spPr>
          <a:xfrm>
            <a:off x="4889500" y="1711271"/>
            <a:ext cx="6731000" cy="3308457"/>
          </a:xfrm>
          <a:prstGeom prst="rect">
            <a:avLst/>
          </a:prstGeom>
        </p:spPr>
      </p:pic>
      <p:sp>
        <p:nvSpPr>
          <p:cNvPr id="11" name="TextBox 10"/>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2" name="TextBox 11"/>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13" name="TextBox 12"/>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26</a:t>
            </a:r>
          </a:p>
        </p:txBody>
      </p:sp>
      <p:sp>
        <p:nvSpPr>
          <p:cNvPr id="14" name="TextBox 13"/>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data/processed/schema.csv, recency.csv  ·  Google Search Central  ·  n = 191 pages, 333 citations</a:t>
            </a:r>
          </a:p>
        </p:txBody>
      </p:sp>
      <p:cxnSp>
        <p:nvCxnSpPr>
          <p:cNvPr id="15"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4"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5" name="motif-line-tick-21"/>
          <p:cNvCxnSpPr/>
          <p:nvPr/>
        </p:nvCxnSpPr>
        <p:spPr>
          <a:xfrm>
            <a:off x="10160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6" name="motif-line-tick-22"/>
          <p:cNvCxnSpPr/>
          <p:nvPr/>
        </p:nvCxnSpPr>
        <p:spPr>
          <a:xfrm>
            <a:off x="10274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7" name="motif-line-tick-23"/>
          <p:cNvCxnSpPr/>
          <p:nvPr/>
        </p:nvCxnSpPr>
        <p:spPr>
          <a:xfrm>
            <a:off x="10388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8" name="motif-line-tick-24"/>
          <p:cNvCxnSpPr/>
          <p:nvPr/>
        </p:nvCxnSpPr>
        <p:spPr>
          <a:xfrm>
            <a:off x="10502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9" name="motif-line-tick-25"/>
          <p:cNvCxnSpPr/>
          <p:nvPr/>
        </p:nvCxnSpPr>
        <p:spPr>
          <a:xfrm>
            <a:off x="10617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0" name="motif-line-tick-26"/>
          <p:cNvCxnSpPr/>
          <p:nvPr/>
        </p:nvCxnSpPr>
        <p:spPr>
          <a:xfrm>
            <a:off x="107315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41"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6"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cxnSp>
        <p:nvCxnSpPr>
          <p:cNvPr id="2" name="motif-line-corridor-corner-0"/>
          <p:cNvCxnSpPr/>
          <p:nvPr/>
        </p:nvCxnSpPr>
        <p:spPr>
          <a:xfrm>
            <a:off x="0" y="0"/>
            <a:ext cx="2794000" cy="2095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 name="motif-line-corridor-corner-1"/>
          <p:cNvCxnSpPr/>
          <p:nvPr/>
        </p:nvCxnSpPr>
        <p:spPr>
          <a:xfrm flipH="1">
            <a:off x="9398000" y="0"/>
            <a:ext cx="2794000" cy="2095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 name="motif-line-corridor-corner-2"/>
          <p:cNvCxnSpPr/>
          <p:nvPr/>
        </p:nvCxnSpPr>
        <p:spPr>
          <a:xfrm flipV="1">
            <a:off x="0" y="5016500"/>
            <a:ext cx="2794000" cy="1841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corridor-corner-3"/>
          <p:cNvCxnSpPr/>
          <p:nvPr/>
        </p:nvCxnSpPr>
        <p:spPr>
          <a:xfrm flipH="1" flipV="1">
            <a:off x="9398000" y="5016500"/>
            <a:ext cx="2794000" cy="1841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6" name="motif-line-corridor-top-1"/>
          <p:cNvCxnSpPr/>
          <p:nvPr/>
        </p:nvCxnSpPr>
        <p:spPr>
          <a:xfrm>
            <a:off x="2032000" y="0"/>
            <a:ext cx="1862666"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7" name="motif-line-corridor-floor-1"/>
          <p:cNvCxnSpPr/>
          <p:nvPr/>
        </p:nvCxnSpPr>
        <p:spPr>
          <a:xfrm flipV="1">
            <a:off x="2032000" y="5016500"/>
            <a:ext cx="1862666"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8" name="motif-line-corridor-top-2"/>
          <p:cNvCxnSpPr/>
          <p:nvPr/>
        </p:nvCxnSpPr>
        <p:spPr>
          <a:xfrm>
            <a:off x="4064000" y="0"/>
            <a:ext cx="931333"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9" name="motif-line-corridor-floor-2"/>
          <p:cNvCxnSpPr/>
          <p:nvPr/>
        </p:nvCxnSpPr>
        <p:spPr>
          <a:xfrm flipV="1">
            <a:off x="4064000" y="5016500"/>
            <a:ext cx="931333"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0" name="motif-line-corridor-top-3"/>
          <p:cNvCxnSpPr/>
          <p:nvPr/>
        </p:nvCxnSpPr>
        <p:spPr>
          <a:xfrm>
            <a:off x="6096000" y="0"/>
            <a:ext cx="0"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1" name="motif-line-corridor-floor-3"/>
          <p:cNvCxnSpPr/>
          <p:nvPr/>
        </p:nvCxnSpPr>
        <p:spPr>
          <a:xfrm flipV="1">
            <a:off x="6096000" y="5016500"/>
            <a:ext cx="0"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2" name="motif-line-corridor-top-4"/>
          <p:cNvCxnSpPr/>
          <p:nvPr/>
        </p:nvCxnSpPr>
        <p:spPr>
          <a:xfrm flipH="1">
            <a:off x="7196666" y="0"/>
            <a:ext cx="931334"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3" name="motif-line-corridor-floor-4"/>
          <p:cNvCxnSpPr/>
          <p:nvPr/>
        </p:nvCxnSpPr>
        <p:spPr>
          <a:xfrm flipH="1" flipV="1">
            <a:off x="7196666" y="5016500"/>
            <a:ext cx="931334"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4" name="motif-line-corridor-top-5"/>
          <p:cNvCxnSpPr/>
          <p:nvPr/>
        </p:nvCxnSpPr>
        <p:spPr>
          <a:xfrm flipH="1">
            <a:off x="8297333" y="0"/>
            <a:ext cx="1862667"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5" name="motif-line-corridor-floor-5"/>
          <p:cNvCxnSpPr/>
          <p:nvPr/>
        </p:nvCxnSpPr>
        <p:spPr>
          <a:xfrm flipH="1" flipV="1">
            <a:off x="8297333" y="5016500"/>
            <a:ext cx="1862667"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6" name="motif-line-corridor-left-1"/>
          <p:cNvCxnSpPr/>
          <p:nvPr/>
        </p:nvCxnSpPr>
        <p:spPr>
          <a:xfrm>
            <a:off x="0" y="1714500"/>
            <a:ext cx="2794000" cy="1111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7" name="motif-line-corridor-right-1"/>
          <p:cNvCxnSpPr/>
          <p:nvPr/>
        </p:nvCxnSpPr>
        <p:spPr>
          <a:xfrm flipH="1">
            <a:off x="9398000" y="1714500"/>
            <a:ext cx="2794000" cy="1111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8" name="motif-line-corridor-left-2"/>
          <p:cNvCxnSpPr/>
          <p:nvPr/>
        </p:nvCxnSpPr>
        <p:spPr>
          <a:xfrm>
            <a:off x="0" y="3429000"/>
            <a:ext cx="2794000" cy="1270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9" name="motif-line-corridor-right-2"/>
          <p:cNvCxnSpPr/>
          <p:nvPr/>
        </p:nvCxnSpPr>
        <p:spPr>
          <a:xfrm flipH="1">
            <a:off x="9398000" y="3429000"/>
            <a:ext cx="2794000" cy="1270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0" name="motif-line-corridor-left-3"/>
          <p:cNvCxnSpPr/>
          <p:nvPr/>
        </p:nvCxnSpPr>
        <p:spPr>
          <a:xfrm flipV="1">
            <a:off x="0" y="4286250"/>
            <a:ext cx="2794000" cy="857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1" name="motif-line-corridor-right-3"/>
          <p:cNvCxnSpPr/>
          <p:nvPr/>
        </p:nvCxnSpPr>
        <p:spPr>
          <a:xfrm flipH="1" flipV="1">
            <a:off x="9398000" y="4286250"/>
            <a:ext cx="2794000" cy="857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2" name="motif-line-depth-1-t"/>
          <p:cNvCxnSpPr/>
          <p:nvPr/>
        </p:nvCxnSpPr>
        <p:spPr>
          <a:xfrm>
            <a:off x="1397000" y="1047750"/>
            <a:ext cx="93980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3" name="motif-line-depth-1-b"/>
          <p:cNvCxnSpPr/>
          <p:nvPr/>
        </p:nvCxnSpPr>
        <p:spPr>
          <a:xfrm>
            <a:off x="1397000" y="5937250"/>
            <a:ext cx="93980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4" name="motif-line-depth-1-l"/>
          <p:cNvCxnSpPr/>
          <p:nvPr/>
        </p:nvCxnSpPr>
        <p:spPr>
          <a:xfrm>
            <a:off x="1397000" y="1047750"/>
            <a:ext cx="0" cy="4889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5" name="motif-line-depth-1-r"/>
          <p:cNvCxnSpPr/>
          <p:nvPr/>
        </p:nvCxnSpPr>
        <p:spPr>
          <a:xfrm>
            <a:off x="10795000" y="1047750"/>
            <a:ext cx="0" cy="4889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6" name="motif-line-depth-2-t"/>
          <p:cNvCxnSpPr/>
          <p:nvPr/>
        </p:nvCxnSpPr>
        <p:spPr>
          <a:xfrm>
            <a:off x="2095500" y="1571625"/>
            <a:ext cx="80010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depth-2-b"/>
          <p:cNvCxnSpPr/>
          <p:nvPr/>
        </p:nvCxnSpPr>
        <p:spPr>
          <a:xfrm>
            <a:off x="2095500" y="5476875"/>
            <a:ext cx="80010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depth-2-l"/>
          <p:cNvCxnSpPr/>
          <p:nvPr/>
        </p:nvCxnSpPr>
        <p:spPr>
          <a:xfrm>
            <a:off x="2095500" y="1571625"/>
            <a:ext cx="0" cy="390525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depth-2-r"/>
          <p:cNvCxnSpPr/>
          <p:nvPr/>
        </p:nvCxnSpPr>
        <p:spPr>
          <a:xfrm>
            <a:off x="10096500" y="1571625"/>
            <a:ext cx="0" cy="390525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depth-3-t"/>
          <p:cNvCxnSpPr/>
          <p:nvPr/>
        </p:nvCxnSpPr>
        <p:spPr>
          <a:xfrm>
            <a:off x="2444750" y="1833562"/>
            <a:ext cx="73025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depth-3-b"/>
          <p:cNvCxnSpPr/>
          <p:nvPr/>
        </p:nvCxnSpPr>
        <p:spPr>
          <a:xfrm>
            <a:off x="2444750" y="5246687"/>
            <a:ext cx="73025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depth-3-l"/>
          <p:cNvCxnSpPr/>
          <p:nvPr/>
        </p:nvCxnSpPr>
        <p:spPr>
          <a:xfrm>
            <a:off x="2444750" y="1833562"/>
            <a:ext cx="0" cy="3413125"/>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depth-3-r"/>
          <p:cNvCxnSpPr/>
          <p:nvPr/>
        </p:nvCxnSpPr>
        <p:spPr>
          <a:xfrm>
            <a:off x="9747250" y="1833562"/>
            <a:ext cx="0" cy="3413125"/>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depth-4-t"/>
          <p:cNvCxnSpPr/>
          <p:nvPr/>
        </p:nvCxnSpPr>
        <p:spPr>
          <a:xfrm>
            <a:off x="2619375" y="1964531"/>
            <a:ext cx="6953250" cy="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5" name="motif-line-depth-4-b"/>
          <p:cNvCxnSpPr/>
          <p:nvPr/>
        </p:nvCxnSpPr>
        <p:spPr>
          <a:xfrm>
            <a:off x="2619375" y="5131593"/>
            <a:ext cx="6953250" cy="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6" name="motif-line-depth-4-l"/>
          <p:cNvCxnSpPr/>
          <p:nvPr/>
        </p:nvCxnSpPr>
        <p:spPr>
          <a:xfrm>
            <a:off x="2619375" y="1964531"/>
            <a:ext cx="0" cy="3167062"/>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7" name="motif-line-depth-4-r"/>
          <p:cNvCxnSpPr/>
          <p:nvPr/>
        </p:nvCxnSpPr>
        <p:spPr>
          <a:xfrm>
            <a:off x="9572625" y="1964531"/>
            <a:ext cx="0" cy="3167062"/>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84500" y="2540000"/>
            <a:ext cx="6223000" cy="215900"/>
          </a:xfrm>
          <a:prstGeom prst="rect">
            <a:avLst/>
          </a:prstGeom>
          <a:noFill/>
        </p:spPr>
        <p:txBody>
          <a:bodyPr wrap="square" lIns="0" rIns="0" tIns="0" bIns="0" anchor="t">
            <a:spAutoFit/>
          </a:bodyPr>
          <a:lstStyle/>
          <a:p>
            <a:pPr algn="ctr">
              <a:lnSpc>
                <a:spcPct val="115000"/>
              </a:lnSpc>
            </a:pPr>
            <a:r>
              <a:rPr sz="1200" b="0" spc="400">
                <a:solidFill>
                  <a:srgbClr val="9A9EA6"/>
                </a:solidFill>
                <a:latin typeface="IBM Plex Mono"/>
              </a:rPr>
              <a:t>PART IV</a:t>
            </a:r>
          </a:p>
        </p:txBody>
      </p:sp>
      <p:sp>
        <p:nvSpPr>
          <p:cNvPr id="39" name="TextBox 38"/>
          <p:cNvSpPr txBox="1"/>
          <p:nvPr/>
        </p:nvSpPr>
        <p:spPr>
          <a:xfrm>
            <a:off x="2984500" y="2794000"/>
            <a:ext cx="6223000" cy="1066800"/>
          </a:xfrm>
          <a:prstGeom prst="rect">
            <a:avLst/>
          </a:prstGeom>
          <a:noFill/>
        </p:spPr>
        <p:txBody>
          <a:bodyPr wrap="square" lIns="0" rIns="0" tIns="0" bIns="0" anchor="t">
            <a:spAutoFit/>
          </a:bodyPr>
          <a:lstStyle/>
          <a:p>
            <a:pPr algn="ctr">
              <a:lnSpc>
                <a:spcPct val="115000"/>
              </a:lnSpc>
            </a:pPr>
            <a:r>
              <a:rPr sz="6000" b="0">
                <a:solidFill>
                  <a:srgbClr val="ECE7DD"/>
                </a:solidFill>
                <a:latin typeface="Work Sans"/>
              </a:rPr>
              <a:t>What it means</a:t>
            </a:r>
          </a:p>
        </p:txBody>
      </p:sp>
      <p:sp>
        <p:nvSpPr>
          <p:cNvPr id="40" name="TextBox 39"/>
          <p:cNvSpPr txBox="1"/>
          <p:nvPr/>
        </p:nvSpPr>
        <p:spPr>
          <a:xfrm>
            <a:off x="2984500" y="3937000"/>
            <a:ext cx="6223000" cy="320040"/>
          </a:xfrm>
          <a:prstGeom prst="rect">
            <a:avLst/>
          </a:prstGeom>
          <a:noFill/>
        </p:spPr>
        <p:txBody>
          <a:bodyPr wrap="square" lIns="0" rIns="0" tIns="0" bIns="0" anchor="t">
            <a:spAutoFit/>
          </a:bodyPr>
          <a:lstStyle/>
          <a:p>
            <a:pPr algn="ctr">
              <a:lnSpc>
                <a:spcPct val="115000"/>
              </a:lnSpc>
            </a:pPr>
            <a:r>
              <a:rPr sz="1800" b="0">
                <a:solidFill>
                  <a:srgbClr val="9A9EA6"/>
                </a:solidFill>
                <a:latin typeface="Work Sans"/>
              </a:rPr>
              <a:t>For banks, and for people who measure AI search</a:t>
            </a:r>
          </a:p>
        </p:txBody>
      </p:sp>
      <p:cxnSp>
        <p:nvCxnSpPr>
          <p:cNvPr id="41" name="Connector 40"/>
          <p:cNvCxnSpPr/>
          <p:nvPr/>
        </p:nvCxnSpPr>
        <p:spPr>
          <a:xfrm>
            <a:off x="5588000" y="4572000"/>
            <a:ext cx="1016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588000" y="4648200"/>
            <a:ext cx="1016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70000"/>
            <a:ext cx="10668000" cy="5334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For banks</a:t>
            </a:r>
          </a:p>
        </p:txBody>
      </p:sp>
      <p:sp>
        <p:nvSpPr>
          <p:cNvPr id="7" name="TextBox 6"/>
          <p:cNvSpPr txBox="1"/>
          <p:nvPr/>
        </p:nvSpPr>
        <p:spPr>
          <a:xfrm>
            <a:off x="762000" y="204470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01</a:t>
            </a:r>
          </a:p>
        </p:txBody>
      </p:sp>
      <p:sp>
        <p:nvSpPr>
          <p:cNvPr id="8" name="TextBox 7"/>
          <p:cNvSpPr txBox="1"/>
          <p:nvPr/>
        </p:nvSpPr>
        <p:spPr>
          <a:xfrm>
            <a:off x="1524000" y="2019300"/>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Plan for each engine. ChatGPT cites bank and regulator pages; Gemini cites comparison sites, blogs and news.</a:t>
            </a:r>
          </a:p>
        </p:txBody>
      </p:sp>
      <p:sp>
        <p:nvSpPr>
          <p:cNvPr id="9" name="TextBox 8"/>
          <p:cNvSpPr txBox="1"/>
          <p:nvPr/>
        </p:nvSpPr>
        <p:spPr>
          <a:xfrm>
            <a:off x="762000" y="278892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02</a:t>
            </a:r>
          </a:p>
        </p:txBody>
      </p:sp>
      <p:sp>
        <p:nvSpPr>
          <p:cNvPr id="10" name="TextBox 9"/>
          <p:cNvSpPr txBox="1"/>
          <p:nvPr/>
        </p:nvSpPr>
        <p:spPr>
          <a:xfrm>
            <a:off x="1524000" y="2763520"/>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Fee and rate pages look like the most direct route. ChatGPT cites SeaBank's and blu's fee pages by name.</a:t>
            </a:r>
          </a:p>
        </p:txBody>
      </p:sp>
      <p:sp>
        <p:nvSpPr>
          <p:cNvPr id="11" name="TextBox 10"/>
          <p:cNvSpPr txBox="1"/>
          <p:nvPr/>
        </p:nvSpPr>
        <p:spPr>
          <a:xfrm>
            <a:off x="762000" y="353314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03</a:t>
            </a:r>
          </a:p>
        </p:txBody>
      </p:sp>
      <p:sp>
        <p:nvSpPr>
          <p:cNvPr id="12" name="TextBox 11"/>
          <p:cNvSpPr txBox="1"/>
          <p:nvPr/>
        </p:nvSpPr>
        <p:spPr>
          <a:xfrm>
            <a:off x="1524000" y="3507740"/>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Know what the comparison sites say about you. Gemini cites Akulaku's, Zaipad's and Fazz's sites in 13 to 15 of its 20 answers.</a:t>
            </a:r>
          </a:p>
        </p:txBody>
      </p:sp>
      <p:sp>
        <p:nvSpPr>
          <p:cNvPr id="13" name="TextBox 12"/>
          <p:cNvSpPr txBox="1"/>
          <p:nvPr/>
        </p:nvSpPr>
        <p:spPr>
          <a:xfrm>
            <a:off x="762000" y="4277359"/>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04</a:t>
            </a:r>
          </a:p>
        </p:txBody>
      </p:sp>
      <p:sp>
        <p:nvSpPr>
          <p:cNvPr id="14" name="TextBox 13"/>
          <p:cNvSpPr txBox="1"/>
          <p:nvPr/>
        </p:nvSpPr>
        <p:spPr>
          <a:xfrm>
            <a:off x="1524000" y="4251959"/>
            <a:ext cx="8636000" cy="30225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No answer was negative. Measure whether you are named at all.</a:t>
            </a:r>
          </a:p>
        </p:txBody>
      </p:sp>
      <p:sp>
        <p:nvSpPr>
          <p:cNvPr id="15" name="TextBox 14"/>
          <p:cNvSpPr txBox="1"/>
          <p:nvPr/>
        </p:nvSpPr>
        <p:spPr>
          <a:xfrm>
            <a:off x="762000" y="471932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05</a:t>
            </a:r>
          </a:p>
        </p:txBody>
      </p:sp>
      <p:sp>
        <p:nvSpPr>
          <p:cNvPr id="16" name="TextBox 15"/>
          <p:cNvSpPr txBox="1"/>
          <p:nvPr/>
        </p:nvSpPr>
        <p:spPr>
          <a:xfrm>
            <a:off x="1524000" y="4693920"/>
            <a:ext cx="8636000" cy="30225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Write the explainers. Only 1 of 6 how-to answers named a bank.</a:t>
            </a:r>
          </a:p>
        </p:txBody>
      </p:sp>
      <p:cxnSp>
        <p:nvCxnSpPr>
          <p:cNvPr id="17" name="motif-line-rail"/>
          <p:cNvCxnSpPr/>
          <p:nvPr/>
        </p:nvCxnSpPr>
        <p:spPr>
          <a:xfrm>
            <a:off x="1282700" y="2056130"/>
            <a:ext cx="0" cy="2903219"/>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8" name="motif-line-stop-1"/>
          <p:cNvCxnSpPr/>
          <p:nvPr/>
        </p:nvCxnSpPr>
        <p:spPr>
          <a:xfrm>
            <a:off x="1238250" y="217043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stop-2"/>
          <p:cNvCxnSpPr/>
          <p:nvPr/>
        </p:nvCxnSpPr>
        <p:spPr>
          <a:xfrm>
            <a:off x="1238250" y="291465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stop-3"/>
          <p:cNvCxnSpPr/>
          <p:nvPr/>
        </p:nvCxnSpPr>
        <p:spPr>
          <a:xfrm>
            <a:off x="1238250" y="3658869"/>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stop-4"/>
          <p:cNvCxnSpPr/>
          <p:nvPr/>
        </p:nvCxnSpPr>
        <p:spPr>
          <a:xfrm>
            <a:off x="1238250" y="4403089"/>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stop-5"/>
          <p:cNvCxnSpPr/>
          <p:nvPr/>
        </p:nvCxnSpPr>
        <p:spPr>
          <a:xfrm>
            <a:off x="1238250" y="4845049"/>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24" name="TextBox 23"/>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IV · WHAT IT MEANS</a:t>
            </a:r>
          </a:p>
        </p:txBody>
      </p:sp>
      <p:sp>
        <p:nvSpPr>
          <p:cNvPr id="25" name="TextBox 24"/>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28</a:t>
            </a:r>
          </a:p>
        </p:txBody>
      </p:sp>
      <p:cxnSp>
        <p:nvCxnSpPr>
          <p:cNvPr id="26"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4"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5"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6"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7"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8"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9"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0"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1"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2"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3"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4"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5"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6" name="motif-line-tick-21"/>
          <p:cNvCxnSpPr/>
          <p:nvPr/>
        </p:nvCxnSpPr>
        <p:spPr>
          <a:xfrm>
            <a:off x="10160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7" name="motif-line-tick-22"/>
          <p:cNvCxnSpPr/>
          <p:nvPr/>
        </p:nvCxnSpPr>
        <p:spPr>
          <a:xfrm>
            <a:off x="10274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8" name="motif-line-tick-23"/>
          <p:cNvCxnSpPr/>
          <p:nvPr/>
        </p:nvCxnSpPr>
        <p:spPr>
          <a:xfrm>
            <a:off x="10388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9" name="motif-line-tick-24"/>
          <p:cNvCxnSpPr/>
          <p:nvPr/>
        </p:nvCxnSpPr>
        <p:spPr>
          <a:xfrm>
            <a:off x="10502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0" name="motif-line-tick-25"/>
          <p:cNvCxnSpPr/>
          <p:nvPr/>
        </p:nvCxnSpPr>
        <p:spPr>
          <a:xfrm>
            <a:off x="10617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1" name="motif-line-tick-26"/>
          <p:cNvCxnSpPr/>
          <p:nvPr/>
        </p:nvCxnSpPr>
        <p:spPr>
          <a:xfrm>
            <a:off x="10731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2" name="motif-line-tick-27"/>
          <p:cNvCxnSpPr/>
          <p:nvPr/>
        </p:nvCxnSpPr>
        <p:spPr>
          <a:xfrm>
            <a:off x="10845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3" name="motif-line-tick-28"/>
          <p:cNvCxnSpPr/>
          <p:nvPr/>
        </p:nvCxnSpPr>
        <p:spPr>
          <a:xfrm>
            <a:off x="109601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54"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5"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6"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7"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70000"/>
            <a:ext cx="10668000" cy="5334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For GEO practitioners: what building this taught me</a:t>
            </a:r>
          </a:p>
        </p:txBody>
      </p:sp>
      <p:sp>
        <p:nvSpPr>
          <p:cNvPr id="7" name="TextBox 6"/>
          <p:cNvSpPr txBox="1"/>
          <p:nvPr/>
        </p:nvSpPr>
        <p:spPr>
          <a:xfrm>
            <a:off x="762000" y="204470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01</a:t>
            </a:r>
          </a:p>
        </p:txBody>
      </p:sp>
      <p:sp>
        <p:nvSpPr>
          <p:cNvPr id="8" name="TextBox 7"/>
          <p:cNvSpPr txBox="1"/>
          <p:nvPr/>
        </p:nvSpPr>
        <p:spPr>
          <a:xfrm>
            <a:off x="1524000" y="2019300"/>
            <a:ext cx="8636000" cy="284480"/>
          </a:xfrm>
          <a:prstGeom prst="rect">
            <a:avLst/>
          </a:prstGeom>
          <a:noFill/>
        </p:spPr>
        <p:txBody>
          <a:bodyPr wrap="square" lIns="0" rIns="0" tIns="0" bIns="0" anchor="t">
            <a:spAutoFit/>
          </a:bodyPr>
          <a:lstStyle/>
          <a:p>
            <a:pPr algn="l">
              <a:lnSpc>
                <a:spcPct val="115000"/>
              </a:lnSpc>
            </a:pPr>
            <a:r>
              <a:rPr sz="1600" b="0">
                <a:solidFill>
                  <a:srgbClr val="ECE7DD"/>
                </a:solidFill>
                <a:latin typeface="Work Sans"/>
              </a:rPr>
              <a:t>Count only the listed sources. Inline links and source chips inflate citation counts.</a:t>
            </a:r>
          </a:p>
        </p:txBody>
      </p:sp>
      <p:sp>
        <p:nvSpPr>
          <p:cNvPr id="9" name="TextBox 8"/>
          <p:cNvSpPr txBox="1"/>
          <p:nvPr/>
        </p:nvSpPr>
        <p:spPr>
          <a:xfrm>
            <a:off x="762000" y="245618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02</a:t>
            </a:r>
          </a:p>
        </p:txBody>
      </p:sp>
      <p:sp>
        <p:nvSpPr>
          <p:cNvPr id="10" name="TextBox 9"/>
          <p:cNvSpPr txBox="1"/>
          <p:nvPr/>
        </p:nvSpPr>
        <p:spPr>
          <a:xfrm>
            <a:off x="1524000" y="2430780"/>
            <a:ext cx="8636000" cy="284480"/>
          </a:xfrm>
          <a:prstGeom prst="rect">
            <a:avLst/>
          </a:prstGeom>
          <a:noFill/>
        </p:spPr>
        <p:txBody>
          <a:bodyPr wrap="square" lIns="0" rIns="0" tIns="0" bIns="0" anchor="t">
            <a:spAutoFit/>
          </a:bodyPr>
          <a:lstStyle/>
          <a:p>
            <a:pPr algn="l">
              <a:lnSpc>
                <a:spcPct val="115000"/>
              </a:lnSpc>
            </a:pPr>
            <a:r>
              <a:rPr sz="1600" b="0">
                <a:solidFill>
                  <a:srgbClr val="ECE7DD"/>
                </a:solidFill>
                <a:latin typeface="Work Sans"/>
              </a:rPr>
              <a:t>Unwrap redirects and normalise URLs before counting pages.</a:t>
            </a:r>
          </a:p>
        </p:txBody>
      </p:sp>
      <p:sp>
        <p:nvSpPr>
          <p:cNvPr id="11" name="TextBox 10"/>
          <p:cNvSpPr txBox="1"/>
          <p:nvPr/>
        </p:nvSpPr>
        <p:spPr>
          <a:xfrm>
            <a:off x="762000" y="286766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03</a:t>
            </a:r>
          </a:p>
        </p:txBody>
      </p:sp>
      <p:sp>
        <p:nvSpPr>
          <p:cNvPr id="12" name="TextBox 11"/>
          <p:cNvSpPr txBox="1"/>
          <p:nvPr/>
        </p:nvSpPr>
        <p:spPr>
          <a:xfrm>
            <a:off x="1524000" y="2842260"/>
            <a:ext cx="8636000" cy="568960"/>
          </a:xfrm>
          <a:prstGeom prst="rect">
            <a:avLst/>
          </a:prstGeom>
          <a:noFill/>
        </p:spPr>
        <p:txBody>
          <a:bodyPr wrap="square" lIns="0" rIns="0" tIns="0" bIns="0" anchor="t">
            <a:spAutoFit/>
          </a:bodyPr>
          <a:lstStyle/>
          <a:p>
            <a:pPr algn="l">
              <a:lnSpc>
                <a:spcPct val="115000"/>
              </a:lnSpc>
            </a:pPr>
            <a:r>
              <a:rPr sz="1600" b="0">
                <a:solidFill>
                  <a:srgbClr val="ECE7DD"/>
                </a:solidFill>
                <a:latin typeface="Work Sans"/>
              </a:rPr>
              <a:t>Render pages built with JavaScript. 19 cited pages needed a headless browser to be read.</a:t>
            </a:r>
          </a:p>
        </p:txBody>
      </p:sp>
      <p:sp>
        <p:nvSpPr>
          <p:cNvPr id="13" name="TextBox 12"/>
          <p:cNvSpPr txBox="1"/>
          <p:nvPr/>
        </p:nvSpPr>
        <p:spPr>
          <a:xfrm>
            <a:off x="762000" y="356362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04</a:t>
            </a:r>
          </a:p>
        </p:txBody>
      </p:sp>
      <p:sp>
        <p:nvSpPr>
          <p:cNvPr id="14" name="TextBox 13"/>
          <p:cNvSpPr txBox="1"/>
          <p:nvPr/>
        </p:nvSpPr>
        <p:spPr>
          <a:xfrm>
            <a:off x="1524000" y="3538220"/>
            <a:ext cx="8636000" cy="284480"/>
          </a:xfrm>
          <a:prstGeom prst="rect">
            <a:avLst/>
          </a:prstGeom>
          <a:noFill/>
        </p:spPr>
        <p:txBody>
          <a:bodyPr wrap="square" lIns="0" rIns="0" tIns="0" bIns="0" anchor="t">
            <a:spAutoFit/>
          </a:bodyPr>
          <a:lstStyle/>
          <a:p>
            <a:pPr algn="l">
              <a:lnSpc>
                <a:spcPct val="115000"/>
              </a:lnSpc>
            </a:pPr>
            <a:r>
              <a:rPr sz="1600" b="0">
                <a:solidFill>
                  <a:srgbClr val="ECE7DD"/>
                </a:solidFill>
                <a:latin typeface="Work Sans"/>
              </a:rPr>
              <a:t>Weight pages equally in source share, or one long annual report can dominate it.</a:t>
            </a:r>
          </a:p>
        </p:txBody>
      </p:sp>
      <p:sp>
        <p:nvSpPr>
          <p:cNvPr id="15" name="TextBox 14"/>
          <p:cNvSpPr txBox="1"/>
          <p:nvPr/>
        </p:nvSpPr>
        <p:spPr>
          <a:xfrm>
            <a:off x="762000" y="397510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05</a:t>
            </a:r>
          </a:p>
        </p:txBody>
      </p:sp>
      <p:sp>
        <p:nvSpPr>
          <p:cNvPr id="16" name="TextBox 15"/>
          <p:cNvSpPr txBox="1"/>
          <p:nvPr/>
        </p:nvSpPr>
        <p:spPr>
          <a:xfrm>
            <a:off x="1524000" y="3949700"/>
            <a:ext cx="8636000" cy="568960"/>
          </a:xfrm>
          <a:prstGeom prst="rect">
            <a:avLst/>
          </a:prstGeom>
          <a:noFill/>
        </p:spPr>
        <p:txBody>
          <a:bodyPr wrap="square" lIns="0" rIns="0" tIns="0" bIns="0" anchor="t">
            <a:spAutoFit/>
          </a:bodyPr>
          <a:lstStyle/>
          <a:p>
            <a:pPr algn="l">
              <a:lnSpc>
                <a:spcPct val="115000"/>
              </a:lnSpc>
            </a:pPr>
            <a:r>
              <a:rPr sz="1600" b="0">
                <a:solidFill>
                  <a:srgbClr val="ECE7DD"/>
                </a:solidFill>
                <a:latin typeface="Work Sans"/>
              </a:rPr>
              <a:t>Weight answers equally in answer share, so one long answer does not count many times.</a:t>
            </a:r>
          </a:p>
        </p:txBody>
      </p:sp>
      <p:sp>
        <p:nvSpPr>
          <p:cNvPr id="17" name="TextBox 16"/>
          <p:cNvSpPr txBox="1"/>
          <p:nvPr/>
        </p:nvSpPr>
        <p:spPr>
          <a:xfrm>
            <a:off x="762000" y="467106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06</a:t>
            </a:r>
          </a:p>
        </p:txBody>
      </p:sp>
      <p:sp>
        <p:nvSpPr>
          <p:cNvPr id="18" name="TextBox 17"/>
          <p:cNvSpPr txBox="1"/>
          <p:nvPr/>
        </p:nvSpPr>
        <p:spPr>
          <a:xfrm>
            <a:off x="1524000" y="4645660"/>
            <a:ext cx="8636000" cy="568960"/>
          </a:xfrm>
          <a:prstGeom prst="rect">
            <a:avLst/>
          </a:prstGeom>
          <a:noFill/>
        </p:spPr>
        <p:txBody>
          <a:bodyPr wrap="square" lIns="0" rIns="0" tIns="0" bIns="0" anchor="t">
            <a:spAutoFit/>
          </a:bodyPr>
          <a:lstStyle/>
          <a:p>
            <a:pPr algn="l">
              <a:lnSpc>
                <a:spcPct val="115000"/>
              </a:lnSpc>
            </a:pPr>
            <a:r>
              <a:rPr sz="1600" b="0">
                <a:solidFill>
                  <a:srgbClr val="ECE7DD"/>
                </a:solidFill>
                <a:latin typeface="Work Sans"/>
              </a:rPr>
              <a:t>Per-source PAWC needs inline citation markers. Neither engine gave them, so only brand PAWC is reported.</a:t>
            </a:r>
          </a:p>
        </p:txBody>
      </p:sp>
      <p:cxnSp>
        <p:nvCxnSpPr>
          <p:cNvPr id="19" name="motif-line-rail"/>
          <p:cNvCxnSpPr/>
          <p:nvPr/>
        </p:nvCxnSpPr>
        <p:spPr>
          <a:xfrm>
            <a:off x="1282700" y="2047239"/>
            <a:ext cx="0" cy="2854961"/>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0" name="motif-line-stop-1"/>
          <p:cNvCxnSpPr/>
          <p:nvPr/>
        </p:nvCxnSpPr>
        <p:spPr>
          <a:xfrm>
            <a:off x="1238250" y="216154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stop-2"/>
          <p:cNvCxnSpPr/>
          <p:nvPr/>
        </p:nvCxnSpPr>
        <p:spPr>
          <a:xfrm>
            <a:off x="1238250" y="257302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stop-3"/>
          <p:cNvCxnSpPr/>
          <p:nvPr/>
        </p:nvCxnSpPr>
        <p:spPr>
          <a:xfrm>
            <a:off x="1238250" y="298450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stop-4"/>
          <p:cNvCxnSpPr/>
          <p:nvPr/>
        </p:nvCxnSpPr>
        <p:spPr>
          <a:xfrm>
            <a:off x="1238250" y="368046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stop-5"/>
          <p:cNvCxnSpPr/>
          <p:nvPr/>
        </p:nvCxnSpPr>
        <p:spPr>
          <a:xfrm>
            <a:off x="1238250" y="409194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stop-6"/>
          <p:cNvCxnSpPr/>
          <p:nvPr/>
        </p:nvCxnSpPr>
        <p:spPr>
          <a:xfrm>
            <a:off x="1238250" y="478790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27" name="TextBox 26"/>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IV · WHAT IT MEANS</a:t>
            </a:r>
          </a:p>
        </p:txBody>
      </p:sp>
      <p:sp>
        <p:nvSpPr>
          <p:cNvPr id="28" name="TextBox 27"/>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29</a:t>
            </a:r>
          </a:p>
        </p:txBody>
      </p:sp>
      <p:cxnSp>
        <p:nvCxnSpPr>
          <p:cNvPr id="29"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4"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5"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6"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7"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8"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9"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0"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1"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2"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3"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4"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5"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6"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7"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8"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9" name="motif-line-tick-21"/>
          <p:cNvCxnSpPr/>
          <p:nvPr/>
        </p:nvCxnSpPr>
        <p:spPr>
          <a:xfrm>
            <a:off x="10160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0" name="motif-line-tick-22"/>
          <p:cNvCxnSpPr/>
          <p:nvPr/>
        </p:nvCxnSpPr>
        <p:spPr>
          <a:xfrm>
            <a:off x="10274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1" name="motif-line-tick-23"/>
          <p:cNvCxnSpPr/>
          <p:nvPr/>
        </p:nvCxnSpPr>
        <p:spPr>
          <a:xfrm>
            <a:off x="10388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2" name="motif-line-tick-24"/>
          <p:cNvCxnSpPr/>
          <p:nvPr/>
        </p:nvCxnSpPr>
        <p:spPr>
          <a:xfrm>
            <a:off x="10502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3" name="motif-line-tick-25"/>
          <p:cNvCxnSpPr/>
          <p:nvPr/>
        </p:nvCxnSpPr>
        <p:spPr>
          <a:xfrm>
            <a:off x="10617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4" name="motif-line-tick-26"/>
          <p:cNvCxnSpPr/>
          <p:nvPr/>
        </p:nvCxnSpPr>
        <p:spPr>
          <a:xfrm>
            <a:off x="10731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5" name="motif-line-tick-27"/>
          <p:cNvCxnSpPr/>
          <p:nvPr/>
        </p:nvCxnSpPr>
        <p:spPr>
          <a:xfrm>
            <a:off x="10845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6" name="motif-line-tick-28"/>
          <p:cNvCxnSpPr/>
          <p:nvPr/>
        </p:nvCxnSpPr>
        <p:spPr>
          <a:xfrm>
            <a:off x="10960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7" name="motif-line-tick-29"/>
          <p:cNvCxnSpPr/>
          <p:nvPr/>
        </p:nvCxnSpPr>
        <p:spPr>
          <a:xfrm>
            <a:off x="110744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58"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9"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60"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70000"/>
            <a:ext cx="10668000" cy="5334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One run is a snapshot</a:t>
            </a:r>
          </a:p>
        </p:txBody>
      </p:sp>
      <p:sp>
        <p:nvSpPr>
          <p:cNvPr id="7" name="TextBox 6"/>
          <p:cNvSpPr txBox="1"/>
          <p:nvPr/>
        </p:nvSpPr>
        <p:spPr>
          <a:xfrm>
            <a:off x="1524000" y="2019300"/>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SparkToro and Gumshoe ran 12 prompts nearly 3,000 times. The same brand list came back less than 1 in 100 times (Search Engine Land, January 2026).</a:t>
            </a:r>
          </a:p>
        </p:txBody>
      </p:sp>
      <p:sp>
        <p:nvSpPr>
          <p:cNvPr id="8" name="TextBox 7"/>
          <p:cNvSpPr txBox="1"/>
          <p:nvPr/>
        </p:nvSpPr>
        <p:spPr>
          <a:xfrm>
            <a:off x="1524000" y="2763520"/>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Read gaps of a few points here as ties: BCA and Bank Jago at 55%, SeaBank at 52.5%.</a:t>
            </a:r>
          </a:p>
        </p:txBody>
      </p:sp>
      <p:cxnSp>
        <p:nvCxnSpPr>
          <p:cNvPr id="9" name="motif-line-rail"/>
          <p:cNvCxnSpPr/>
          <p:nvPr/>
        </p:nvCxnSpPr>
        <p:spPr>
          <a:xfrm>
            <a:off x="1282700" y="2056130"/>
            <a:ext cx="0" cy="97282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0" name="motif-line-stop-1"/>
          <p:cNvCxnSpPr/>
          <p:nvPr/>
        </p:nvCxnSpPr>
        <p:spPr>
          <a:xfrm>
            <a:off x="1238250" y="217043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1" name="motif-line-stop-2"/>
          <p:cNvCxnSpPr/>
          <p:nvPr/>
        </p:nvCxnSpPr>
        <p:spPr>
          <a:xfrm>
            <a:off x="1238250" y="291465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3" name="TextBox 12"/>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IV · WHAT IT MEANS</a:t>
            </a:r>
          </a:p>
        </p:txBody>
      </p:sp>
      <p:sp>
        <p:nvSpPr>
          <p:cNvPr id="14" name="TextBox 13"/>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30</a:t>
            </a:r>
          </a:p>
        </p:txBody>
      </p:sp>
      <p:cxnSp>
        <p:nvCxnSpPr>
          <p:cNvPr id="15"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4"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5" name="motif-line-tick-21"/>
          <p:cNvCxnSpPr/>
          <p:nvPr/>
        </p:nvCxnSpPr>
        <p:spPr>
          <a:xfrm>
            <a:off x="10160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6" name="motif-line-tick-22"/>
          <p:cNvCxnSpPr/>
          <p:nvPr/>
        </p:nvCxnSpPr>
        <p:spPr>
          <a:xfrm>
            <a:off x="10274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7" name="motif-line-tick-23"/>
          <p:cNvCxnSpPr/>
          <p:nvPr/>
        </p:nvCxnSpPr>
        <p:spPr>
          <a:xfrm>
            <a:off x="10388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8" name="motif-line-tick-24"/>
          <p:cNvCxnSpPr/>
          <p:nvPr/>
        </p:nvCxnSpPr>
        <p:spPr>
          <a:xfrm>
            <a:off x="10502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9" name="motif-line-tick-25"/>
          <p:cNvCxnSpPr/>
          <p:nvPr/>
        </p:nvCxnSpPr>
        <p:spPr>
          <a:xfrm>
            <a:off x="10617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0" name="motif-line-tick-26"/>
          <p:cNvCxnSpPr/>
          <p:nvPr/>
        </p:nvCxnSpPr>
        <p:spPr>
          <a:xfrm>
            <a:off x="10731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1" name="motif-line-tick-27"/>
          <p:cNvCxnSpPr/>
          <p:nvPr/>
        </p:nvCxnSpPr>
        <p:spPr>
          <a:xfrm>
            <a:off x="10845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2" name="motif-line-tick-28"/>
          <p:cNvCxnSpPr/>
          <p:nvPr/>
        </p:nvCxnSpPr>
        <p:spPr>
          <a:xfrm>
            <a:off x="10960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3" name="motif-line-tick-29"/>
          <p:cNvCxnSpPr/>
          <p:nvPr/>
        </p:nvCxnSpPr>
        <p:spPr>
          <a:xfrm>
            <a:off x="11074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4" name="motif-line-tick-30"/>
          <p:cNvCxnSpPr/>
          <p:nvPr/>
        </p:nvCxnSpPr>
        <p:spPr>
          <a:xfrm>
            <a:off x="111887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45"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6"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70000"/>
            <a:ext cx="10668000" cy="5334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Next steps</a:t>
            </a:r>
          </a:p>
        </p:txBody>
      </p:sp>
      <p:sp>
        <p:nvSpPr>
          <p:cNvPr id="7" name="TextBox 6"/>
          <p:cNvSpPr txBox="1"/>
          <p:nvPr/>
        </p:nvSpPr>
        <p:spPr>
          <a:xfrm>
            <a:off x="762000" y="204470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01</a:t>
            </a:r>
          </a:p>
        </p:txBody>
      </p:sp>
      <p:sp>
        <p:nvSpPr>
          <p:cNvPr id="8" name="TextBox 7"/>
          <p:cNvSpPr txBox="1"/>
          <p:nvPr/>
        </p:nvSpPr>
        <p:spPr>
          <a:xfrm>
            <a:off x="1524000" y="2019300"/>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Run the same 20 prompts at least four more times, so every number has a range.</a:t>
            </a:r>
          </a:p>
        </p:txBody>
      </p:sp>
      <p:sp>
        <p:nvSpPr>
          <p:cNvPr id="9" name="TextBox 8"/>
          <p:cNvSpPr txBox="1"/>
          <p:nvPr/>
        </p:nvSpPr>
        <p:spPr>
          <a:xfrm>
            <a:off x="762000" y="278892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02</a:t>
            </a:r>
          </a:p>
        </p:txBody>
      </p:sp>
      <p:sp>
        <p:nvSpPr>
          <p:cNvPr id="10" name="TextBox 9"/>
          <p:cNvSpPr txBox="1"/>
          <p:nvPr/>
        </p:nvSpPr>
        <p:spPr>
          <a:xfrm>
            <a:off x="1524000" y="2763520"/>
            <a:ext cx="8636000" cy="30225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Add Perplexity, Microsoft Copilot and Google AI Mode.</a:t>
            </a:r>
          </a:p>
        </p:txBody>
      </p:sp>
      <p:sp>
        <p:nvSpPr>
          <p:cNvPr id="11" name="TextBox 10"/>
          <p:cNvSpPr txBox="1"/>
          <p:nvPr/>
        </p:nvSpPr>
        <p:spPr>
          <a:xfrm>
            <a:off x="762000" y="3230879"/>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03</a:t>
            </a:r>
          </a:p>
        </p:txBody>
      </p:sp>
      <p:sp>
        <p:nvSpPr>
          <p:cNvPr id="12" name="TextBox 11"/>
          <p:cNvSpPr txBox="1"/>
          <p:nvPr/>
        </p:nvSpPr>
        <p:spPr>
          <a:xfrm>
            <a:off x="1524000" y="3205479"/>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Read the top Gemini comparison articles and record how each one describes each bank.</a:t>
            </a:r>
          </a:p>
        </p:txBody>
      </p:sp>
      <p:sp>
        <p:nvSpPr>
          <p:cNvPr id="13" name="TextBox 12"/>
          <p:cNvSpPr txBox="1"/>
          <p:nvPr/>
        </p:nvSpPr>
        <p:spPr>
          <a:xfrm>
            <a:off x="762000" y="397510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04</a:t>
            </a:r>
          </a:p>
        </p:txBody>
      </p:sp>
      <p:sp>
        <p:nvSpPr>
          <p:cNvPr id="14" name="TextBox 13"/>
          <p:cNvSpPr txBox="1"/>
          <p:nvPr/>
        </p:nvSpPr>
        <p:spPr>
          <a:xfrm>
            <a:off x="1524000" y="3949700"/>
            <a:ext cx="8636000" cy="30225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Put the tables in a public dashboard that refreshes after each run.</a:t>
            </a:r>
          </a:p>
        </p:txBody>
      </p:sp>
      <p:cxnSp>
        <p:nvCxnSpPr>
          <p:cNvPr id="15" name="motif-line-rail"/>
          <p:cNvCxnSpPr/>
          <p:nvPr/>
        </p:nvCxnSpPr>
        <p:spPr>
          <a:xfrm>
            <a:off x="1282700" y="2056130"/>
            <a:ext cx="0" cy="21590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6" name="motif-line-stop-1"/>
          <p:cNvCxnSpPr/>
          <p:nvPr/>
        </p:nvCxnSpPr>
        <p:spPr>
          <a:xfrm>
            <a:off x="1238250" y="217043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stop-2"/>
          <p:cNvCxnSpPr/>
          <p:nvPr/>
        </p:nvCxnSpPr>
        <p:spPr>
          <a:xfrm>
            <a:off x="1238250" y="291465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stop-3"/>
          <p:cNvCxnSpPr/>
          <p:nvPr/>
        </p:nvCxnSpPr>
        <p:spPr>
          <a:xfrm>
            <a:off x="1238250" y="3356609"/>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stop-4"/>
          <p:cNvCxnSpPr/>
          <p:nvPr/>
        </p:nvCxnSpPr>
        <p:spPr>
          <a:xfrm>
            <a:off x="1238250" y="4100829"/>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21" name="TextBox 20"/>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IV · WHAT IT MEANS</a:t>
            </a:r>
          </a:p>
        </p:txBody>
      </p:sp>
      <p:sp>
        <p:nvSpPr>
          <p:cNvPr id="22" name="TextBox 21"/>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31</a:t>
            </a:r>
          </a:p>
        </p:txBody>
      </p:sp>
      <p:cxnSp>
        <p:nvCxnSpPr>
          <p:cNvPr id="23"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4"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5"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6"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7"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8"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9"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0"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1"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2"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3" name="motif-line-tick-21"/>
          <p:cNvCxnSpPr/>
          <p:nvPr/>
        </p:nvCxnSpPr>
        <p:spPr>
          <a:xfrm>
            <a:off x="10160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4" name="motif-line-tick-22"/>
          <p:cNvCxnSpPr/>
          <p:nvPr/>
        </p:nvCxnSpPr>
        <p:spPr>
          <a:xfrm>
            <a:off x="10274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5" name="motif-line-tick-23"/>
          <p:cNvCxnSpPr/>
          <p:nvPr/>
        </p:nvCxnSpPr>
        <p:spPr>
          <a:xfrm>
            <a:off x="10388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6" name="motif-line-tick-24"/>
          <p:cNvCxnSpPr/>
          <p:nvPr/>
        </p:nvCxnSpPr>
        <p:spPr>
          <a:xfrm>
            <a:off x="10502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7" name="motif-line-tick-25"/>
          <p:cNvCxnSpPr/>
          <p:nvPr/>
        </p:nvCxnSpPr>
        <p:spPr>
          <a:xfrm>
            <a:off x="10617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8" name="motif-line-tick-26"/>
          <p:cNvCxnSpPr/>
          <p:nvPr/>
        </p:nvCxnSpPr>
        <p:spPr>
          <a:xfrm>
            <a:off x="10731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9" name="motif-line-tick-27"/>
          <p:cNvCxnSpPr/>
          <p:nvPr/>
        </p:nvCxnSpPr>
        <p:spPr>
          <a:xfrm>
            <a:off x="10845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0" name="motif-line-tick-28"/>
          <p:cNvCxnSpPr/>
          <p:nvPr/>
        </p:nvCxnSpPr>
        <p:spPr>
          <a:xfrm>
            <a:off x="10960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1" name="motif-line-tick-29"/>
          <p:cNvCxnSpPr/>
          <p:nvPr/>
        </p:nvCxnSpPr>
        <p:spPr>
          <a:xfrm>
            <a:off x="11074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2" name="motif-line-tick-30"/>
          <p:cNvCxnSpPr/>
          <p:nvPr/>
        </p:nvCxnSpPr>
        <p:spPr>
          <a:xfrm>
            <a:off x="11188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3" name="motif-line-tick-31"/>
          <p:cNvCxnSpPr/>
          <p:nvPr/>
        </p:nvCxnSpPr>
        <p:spPr>
          <a:xfrm>
            <a:off x="113030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54"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TextBox 1"/>
          <p:cNvSpPr txBox="1"/>
          <p:nvPr/>
        </p:nvSpPr>
        <p:spPr>
          <a:xfrm>
            <a:off x="762000" y="1079500"/>
            <a:ext cx="10668000" cy="711200"/>
          </a:xfrm>
          <a:prstGeom prst="rect">
            <a:avLst/>
          </a:prstGeom>
          <a:noFill/>
        </p:spPr>
        <p:txBody>
          <a:bodyPr wrap="square" lIns="0" rIns="0" tIns="0" bIns="0" anchor="t">
            <a:spAutoFit/>
          </a:bodyPr>
          <a:lstStyle/>
          <a:p>
            <a:pPr algn="l">
              <a:lnSpc>
                <a:spcPct val="115000"/>
              </a:lnSpc>
            </a:pPr>
            <a:r>
              <a:rPr sz="4000" b="0">
                <a:solidFill>
                  <a:srgbClr val="ECE7DD"/>
                </a:solidFill>
                <a:latin typeface="Work Sans"/>
              </a:rPr>
              <a:t>Favoured Banks in ChatGPT and Gemini</a:t>
            </a:r>
          </a:p>
        </p:txBody>
      </p:sp>
      <p:sp>
        <p:nvSpPr>
          <p:cNvPr id="3" name="TextBox 2"/>
          <p:cNvSpPr txBox="1"/>
          <p:nvPr/>
        </p:nvSpPr>
        <p:spPr>
          <a:xfrm>
            <a:off x="762000" y="1854200"/>
            <a:ext cx="10160000" cy="284480"/>
          </a:xfrm>
          <a:prstGeom prst="rect">
            <a:avLst/>
          </a:prstGeom>
          <a:noFill/>
        </p:spPr>
        <p:txBody>
          <a:bodyPr wrap="square" lIns="0" rIns="0" tIns="0" bIns="0" anchor="t">
            <a:spAutoFit/>
          </a:bodyPr>
          <a:lstStyle/>
          <a:p>
            <a:pPr algn="l">
              <a:lnSpc>
                <a:spcPct val="115000"/>
              </a:lnSpc>
            </a:pPr>
            <a:r>
              <a:rPr sz="1600" b="0">
                <a:solidFill>
                  <a:srgbClr val="ECE7DD"/>
                </a:solidFill>
                <a:latin typeface="IBM Plex Mono"/>
              </a:rPr>
              <a:t>Data, code and method: github.com/rgmwnn/geo-bank-visibility</a:t>
            </a:r>
          </a:p>
        </p:txBody>
      </p:sp>
      <p:sp>
        <p:nvSpPr>
          <p:cNvPr id="4" name="TextBox 3"/>
          <p:cNvSpPr txBox="1"/>
          <p:nvPr/>
        </p:nvSpPr>
        <p:spPr>
          <a:xfrm>
            <a:off x="762000" y="2540000"/>
            <a:ext cx="2540000" cy="177800"/>
          </a:xfrm>
          <a:prstGeom prst="rect">
            <a:avLst/>
          </a:prstGeom>
          <a:noFill/>
        </p:spPr>
        <p:txBody>
          <a:bodyPr wrap="square" lIns="0" rIns="0" tIns="0" bIns="0" anchor="t">
            <a:spAutoFit/>
          </a:bodyPr>
          <a:lstStyle/>
          <a:p>
            <a:pPr algn="l">
              <a:lnSpc>
                <a:spcPct val="115000"/>
              </a:lnSpc>
            </a:pPr>
            <a:r>
              <a:rPr sz="1000" b="0" spc="300">
                <a:solidFill>
                  <a:srgbClr val="9A9EA6"/>
                </a:solidFill>
                <a:latin typeface="IBM Plex Mono"/>
              </a:rPr>
              <a:t>SOURCES</a:t>
            </a:r>
          </a:p>
        </p:txBody>
      </p:sp>
      <p:sp>
        <p:nvSpPr>
          <p:cNvPr id="5" name="TextBox 4"/>
          <p:cNvSpPr txBox="1"/>
          <p:nvPr/>
        </p:nvSpPr>
        <p:spPr>
          <a:xfrm>
            <a:off x="762000" y="28194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Aggarwal et al. (2024). GEO: Generative Engine Optimization. KDD 2024. arXiv 2311.09735</a:t>
            </a:r>
          </a:p>
        </p:txBody>
      </p:sp>
      <p:sp>
        <p:nvSpPr>
          <p:cNvPr id="6" name="TextBox 5"/>
          <p:cNvSpPr txBox="1"/>
          <p:nvPr/>
        </p:nvSpPr>
        <p:spPr>
          <a:xfrm>
            <a:off x="762000" y="30480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Writesonic. AI citation source overlap study</a:t>
            </a:r>
          </a:p>
        </p:txBody>
      </p:sp>
      <p:sp>
        <p:nvSpPr>
          <p:cNvPr id="7" name="TextBox 6"/>
          <p:cNvSpPr txBox="1"/>
          <p:nvPr/>
        </p:nvSpPr>
        <p:spPr>
          <a:xfrm>
            <a:off x="762000" y="32766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Ahrefs. AI search overlap with Google results</a:t>
            </a:r>
          </a:p>
        </p:txBody>
      </p:sp>
      <p:sp>
        <p:nvSpPr>
          <p:cNvPr id="8" name="TextBox 7"/>
          <p:cNvSpPr txBox="1"/>
          <p:nvPr/>
        </p:nvSpPr>
        <p:spPr>
          <a:xfrm>
            <a:off x="762000" y="35052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Search Engine Land. AI recommendation lists rarely repeat (SparkToro and Gumshoe)</a:t>
            </a:r>
          </a:p>
        </p:txBody>
      </p:sp>
      <p:sp>
        <p:nvSpPr>
          <p:cNvPr id="9" name="TextBox 8"/>
          <p:cNvSpPr txBox="1"/>
          <p:nvPr/>
        </p:nvSpPr>
        <p:spPr>
          <a:xfrm>
            <a:off x="762000" y="37338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Nieman Lab (2025). Tow Center study of AI search citations</a:t>
            </a:r>
          </a:p>
        </p:txBody>
      </p:sp>
      <p:sp>
        <p:nvSpPr>
          <p:cNvPr id="10" name="TextBox 9"/>
          <p:cNvSpPr txBox="1"/>
          <p:nvPr/>
        </p:nvSpPr>
        <p:spPr>
          <a:xfrm>
            <a:off x="762000" y="39624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Google Search Central. AI features and your website</a:t>
            </a:r>
          </a:p>
        </p:txBody>
      </p:sp>
      <p:sp>
        <p:nvSpPr>
          <p:cNvPr id="11" name="TextBox 10"/>
          <p:cNvSpPr txBox="1"/>
          <p:nvPr/>
        </p:nvSpPr>
        <p:spPr>
          <a:xfrm>
            <a:off x="762000" y="41910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Search Engine Journal. OpenAI usage study</a:t>
            </a:r>
          </a:p>
        </p:txBody>
      </p:sp>
      <p:sp>
        <p:nvSpPr>
          <p:cNvPr id="12" name="TextBox 11"/>
          <p:cNvSpPr txBox="1"/>
          <p:nvPr/>
        </p:nvSpPr>
        <p:spPr>
          <a:xfrm>
            <a:off x="762000" y="44196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Bisnis (2023). Akulaku stake in Bank Neo Commerce</a:t>
            </a:r>
          </a:p>
        </p:txBody>
      </p:sp>
      <p:sp>
        <p:nvSpPr>
          <p:cNvPr id="13" name="TextBox 12"/>
          <p:cNvSpPr txBox="1"/>
          <p:nvPr/>
        </p:nvSpPr>
        <p:spPr>
          <a:xfrm>
            <a:off x="762000" y="4953000"/>
            <a:ext cx="8255000" cy="215900"/>
          </a:xfrm>
          <a:prstGeom prst="rect">
            <a:avLst/>
          </a:prstGeom>
          <a:noFill/>
        </p:spPr>
        <p:txBody>
          <a:bodyPr wrap="square" lIns="0" rIns="0" tIns="0" bIns="0" anchor="t">
            <a:spAutoFit/>
          </a:bodyPr>
          <a:lstStyle/>
          <a:p>
            <a:pPr algn="l">
              <a:lnSpc>
                <a:spcPct val="115000"/>
              </a:lnSpc>
            </a:pPr>
            <a:r>
              <a:rPr sz="1200" b="0">
                <a:solidFill>
                  <a:srgbClr val="ECE7DD"/>
                </a:solidFill>
                <a:latin typeface="IBM Plex Mono"/>
              </a:rPr>
              <a:t>Rahmananda Ridho Gamawan  ·  data analyst, Indonesia</a:t>
            </a:r>
          </a:p>
        </p:txBody>
      </p:sp>
      <p:pic>
        <p:nvPicPr>
          <p:cNvPr id="14" name="motif-horizon" descr="motif-horizon.png"/>
          <p:cNvPicPr>
            <a:picLocks noChangeAspect="1"/>
          </p:cNvPicPr>
          <p:nvPr/>
        </p:nvPicPr>
        <p:blipFill>
          <a:blip r:embed="rId2"/>
          <a:stretch>
            <a:fillRect/>
          </a:stretch>
        </p:blipFill>
        <p:spPr>
          <a:xfrm>
            <a:off x="0" y="5511800"/>
            <a:ext cx="12192000" cy="13462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