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study of how two AI engines answer everyday banking questions in Indonesia, and which sources they cite. Everything here is built from public code and data in the repo named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freelancer asks which bank fits irregular income. Both engines answer with a short list of banks. There is no results page to compete on: a bank is either in the answer or it is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outside numbers set the scene. Information-seeking is a growing share of ChatGPT use, and the pages AI assistants cite are mostly not the pages that rank on Google.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deck answers these three questions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set is written to be unbranded so share of voice is fair. Only the head-to-head comparisons name banks.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 the answers, split them into sentences, match bank names, extract the listed sources, deduplicate the pages, then crawl them from GitHub's servers while respecting robots.txt.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uses the position-adjusted word count from the GEO paper, applied to banks instead of sources. The chart shows the weight each sentence gets in a ten-sentence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shows how much of the cited web could be read. The list is what the data cannot tell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dot per engine. The line between the dots is the gap between the engines for that bank.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 combines prominence in the answer, the authority of the pages cited alongside the bank, sentiment and whether both engines name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 and subsidiaries credit their parent bank, so Jenius counts for Bank BTPN and blu for BCA.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comparison prompts name banks, which puts those banks in the answer, so they are left out here. Outlined cells lead their row, ties together. Every lead is a tie or one answer, so read the rows as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rises when a bank is named early and talked about at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mark is one bank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how something works get general answers without bank names.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types were labelled per domain.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bank that wants to appear in both engines cannot rely on one set of pages.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fold in the middle is the comparison: the same sites, two very different weights.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Gemini keeps citing the same few articles, a bank's place in them could carry into many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concentration means a few sites carry more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positive gap means the engines talk about the bank more than the cited pages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redirect wrapper is where Gemini's broken links concentrate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suggests schema did not decide which pages got cited. It is a pattern, not a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likely levers based on one snapshot, not tested interventions.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came from a bug or a check during the build. The fixes and tests are in the repo history.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runs would turn each number into a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905000"/>
            <a:ext cx="10160000" cy="195579"/>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A GEO STUDY  ·  40 AI ANSWERS  ·  09.10.2026</a:t>
            </a:r>
          </a:p>
        </p:txBody>
      </p:sp>
      <p:sp>
        <p:nvSpPr>
          <p:cNvPr id="3" name="TextBox 2"/>
          <p:cNvSpPr txBox="1"/>
          <p:nvPr/>
        </p:nvSpPr>
        <p:spPr>
          <a:xfrm>
            <a:off x="762000" y="2159000"/>
            <a:ext cx="10668000" cy="1422400"/>
          </a:xfrm>
          <a:prstGeom prst="rect">
            <a:avLst/>
          </a:prstGeom>
          <a:noFill/>
        </p:spPr>
        <p:txBody>
          <a:bodyPr wrap="square" lIns="0" rIns="0" tIns="0" bIns="0" anchor="t">
            <a:spAutoFit/>
          </a:bodyPr>
          <a:lstStyle/>
          <a:p>
            <a:pPr algn="l">
              <a:lnSpc>
                <a:spcPct val="115000"/>
              </a:lnSpc>
            </a:pPr>
            <a:r>
              <a:rPr sz="8000" b="0">
                <a:solidFill>
                  <a:srgbClr val="ECE7DD"/>
                </a:solidFill>
                <a:latin typeface="Work Sans"/>
              </a:rPr>
              <a:t>Favoured Banks</a:t>
            </a:r>
          </a:p>
        </p:txBody>
      </p:sp>
      <p:sp>
        <p:nvSpPr>
          <p:cNvPr id="4" name="TextBox 3"/>
          <p:cNvSpPr txBox="1"/>
          <p:nvPr/>
        </p:nvSpPr>
        <p:spPr>
          <a:xfrm>
            <a:off x="762000" y="3556000"/>
            <a:ext cx="7302500" cy="711200"/>
          </a:xfrm>
          <a:prstGeom prst="rect">
            <a:avLst/>
          </a:prstGeom>
          <a:noFill/>
        </p:spPr>
        <p:txBody>
          <a:bodyPr wrap="square" lIns="0" rIns="0" tIns="0" bIns="0" anchor="t">
            <a:spAutoFit/>
          </a:bodyPr>
          <a:lstStyle/>
          <a:p>
            <a:pPr algn="l">
              <a:lnSpc>
                <a:spcPct val="115000"/>
              </a:lnSpc>
            </a:pPr>
            <a:r>
              <a:rPr sz="2000" b="0">
                <a:solidFill>
                  <a:srgbClr val="9A9EA6"/>
                </a:solidFill>
                <a:latin typeface="Work Sans"/>
              </a:rPr>
              <a:t>Which Indonesian banks ChatGPT and Gemini recommend, and which web pages they lean on</a:t>
            </a:r>
          </a:p>
        </p:txBody>
      </p:sp>
      <p:cxnSp>
        <p:nvCxnSpPr>
          <p:cNvPr id="5" name="Connector 4"/>
          <p:cNvCxnSpPr/>
          <p:nvPr/>
        </p:nvCxnSpPr>
        <p:spPr>
          <a:xfrm>
            <a:off x="762000" y="4826000"/>
            <a:ext cx="10668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62000" y="4902200"/>
            <a:ext cx="10668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62000" y="5461000"/>
            <a:ext cx="6350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One question, two answers</a:t>
            </a:r>
          </a:p>
        </p:txBody>
      </p:sp>
      <p:sp>
        <p:nvSpPr>
          <p:cNvPr id="5" name="TextBox 4"/>
          <p:cNvSpPr txBox="1"/>
          <p:nvPr/>
        </p:nvSpPr>
        <p:spPr>
          <a:xfrm>
            <a:off x="762000" y="1859280"/>
            <a:ext cx="9525000" cy="1173480"/>
          </a:xfrm>
          <a:prstGeom prst="rect">
            <a:avLst/>
          </a:prstGeom>
          <a:noFill/>
        </p:spPr>
        <p:txBody>
          <a:bodyPr wrap="square" lIns="0" rIns="0" tIns="0" bIns="0" anchor="t">
            <a:spAutoFit/>
          </a:bodyPr>
          <a:lstStyle/>
          <a:p>
            <a:pPr algn="l">
              <a:lnSpc>
                <a:spcPct val="115000"/>
              </a:lnSpc>
            </a:pPr>
            <a:r>
              <a:rPr sz="2200" b="0">
                <a:solidFill>
                  <a:srgbClr val="ECE7DD"/>
                </a:solidFill>
                <a:latin typeface="Work Sans"/>
              </a:rPr>
              <a:t>“Saya freelancer dengan penghasilan tidak tetap, butuh rekening tanpa saldo minimum dan bisa pisah kantong. Bank apa yang cocok?”</a:t>
            </a:r>
          </a:p>
        </p:txBody>
      </p:sp>
      <p:sp>
        <p:nvSpPr>
          <p:cNvPr id="6" name="TextBox 5"/>
          <p:cNvSpPr txBox="1"/>
          <p:nvPr/>
        </p:nvSpPr>
        <p:spPr>
          <a:xfrm>
            <a:off x="762000" y="3185160"/>
            <a:ext cx="9525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I'm a freelancer with irregular income. I need an account with no minimum balance that lets me split money into pockets. Which bank fits?</a:t>
            </a:r>
          </a:p>
        </p:txBody>
      </p:sp>
      <p:sp>
        <p:nvSpPr>
          <p:cNvPr id="7" name="Rectangle 6"/>
          <p:cNvSpPr/>
          <p:nvPr/>
        </p:nvSpPr>
        <p:spPr>
          <a:xfrm>
            <a:off x="762000" y="4114800"/>
            <a:ext cx="88900" cy="88900"/>
          </a:xfrm>
          <a:prstGeom prst="rect">
            <a:avLst/>
          </a:prstGeom>
          <a:solidFill>
            <a:srgbClr val="D0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4064000"/>
            <a:ext cx="3810000" cy="195579"/>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CHATGPT NAMED</a:t>
            </a:r>
          </a:p>
        </p:txBody>
      </p:sp>
      <p:sp>
        <p:nvSpPr>
          <p:cNvPr id="9" name="TextBox 8"/>
          <p:cNvSpPr txBox="1"/>
          <p:nvPr/>
        </p:nvSpPr>
        <p:spPr>
          <a:xfrm>
            <a:off x="762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Jago</a:t>
            </a:r>
          </a:p>
          <a:p>
            <a:pPr algn="l">
              <a:lnSpc>
                <a:spcPct val="115000"/>
              </a:lnSpc>
            </a:pPr>
            <a:r>
              <a:rPr sz="2400" b="0">
                <a:solidFill>
                  <a:srgbClr val="ECE7DD"/>
                </a:solidFill>
                <a:latin typeface="Work Sans"/>
              </a:rPr>
              <a:t>SeaBank</a:t>
            </a:r>
          </a:p>
        </p:txBody>
      </p:sp>
      <p:sp>
        <p:nvSpPr>
          <p:cNvPr id="10" name="Rectangle 9"/>
          <p:cNvSpPr/>
          <p:nvPr/>
        </p:nvSpPr>
        <p:spPr>
          <a:xfrm>
            <a:off x="5588000" y="4114800"/>
            <a:ext cx="88900" cy="88900"/>
          </a:xfrm>
          <a:prstGeom prst="rect">
            <a:avLst/>
          </a:prstGeom>
          <a:solidFill>
            <a:srgbClr val="479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78500" y="4064000"/>
            <a:ext cx="3810000" cy="195579"/>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GEMINI NAMED</a:t>
            </a:r>
          </a:p>
        </p:txBody>
      </p:sp>
      <p:sp>
        <p:nvSpPr>
          <p:cNvPr id="12" name="TextBox 11"/>
          <p:cNvSpPr txBox="1"/>
          <p:nvPr/>
        </p:nvSpPr>
        <p:spPr>
          <a:xfrm>
            <a:off x="5588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BTPN (Jenius)</a:t>
            </a:r>
          </a:p>
          <a:p>
            <a:pPr algn="l">
              <a:lnSpc>
                <a:spcPct val="115000"/>
              </a:lnSpc>
            </a:pPr>
            <a:r>
              <a:rPr sz="2400" b="0">
                <a:solidFill>
                  <a:srgbClr val="ECE7DD"/>
                </a:solidFill>
                <a:latin typeface="Work Sans"/>
              </a:rPr>
              <a:t>Bank Jago</a:t>
            </a:r>
          </a:p>
        </p:txBody>
      </p:sp>
      <p:sp>
        <p:nvSpPr>
          <p:cNvPr id="13" name="TextBox 12"/>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4" name="TextBox 13"/>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5" name="TextBox 14"/>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02</a:t>
            </a:r>
          </a:p>
        </p:txBody>
      </p:sp>
      <p:sp>
        <p:nvSpPr>
          <p:cNvPr id="16" name="TextBox 15"/>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Prompt 13 of 20  ·  run on 09.10.2026  ·  source: data/interim/mentions.csv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9525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People now ask for answers. A strong Google rank is a weak guide to who gets cited.</a:t>
            </a:r>
          </a:p>
        </p:txBody>
      </p:sp>
      <p:sp>
        <p:nvSpPr>
          <p:cNvPr id="3" name="TextBox 2"/>
          <p:cNvSpPr txBox="1"/>
          <p:nvPr/>
        </p:nvSpPr>
        <p:spPr>
          <a:xfrm>
            <a:off x="762000" y="247650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14% → 24%</a:t>
            </a:r>
          </a:p>
        </p:txBody>
      </p:sp>
      <p:sp>
        <p:nvSpPr>
          <p:cNvPr id="4" name="TextBox 3"/>
          <p:cNvSpPr txBox="1"/>
          <p:nvPr/>
        </p:nvSpPr>
        <p:spPr>
          <a:xfrm>
            <a:off x="762000" y="3810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share of ChatGPT conversations that seek information, a year apart</a:t>
            </a:r>
          </a:p>
        </p:txBody>
      </p:sp>
      <p:sp>
        <p:nvSpPr>
          <p:cNvPr id="5" name="TextBox 4"/>
          <p:cNvSpPr txBox="1"/>
          <p:nvPr/>
        </p:nvSpPr>
        <p:spPr>
          <a:xfrm>
            <a:off x="762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OpenAI usage study, via Search Engine Journal</a:t>
            </a:r>
          </a:p>
        </p:txBody>
      </p:sp>
      <p:sp>
        <p:nvSpPr>
          <p:cNvPr id="6" name="TextBox 5"/>
          <p:cNvSpPr txBox="1"/>
          <p:nvPr/>
        </p:nvSpPr>
        <p:spPr>
          <a:xfrm>
            <a:off x="6223000" y="247650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12%</a:t>
            </a:r>
          </a:p>
        </p:txBody>
      </p:sp>
      <p:sp>
        <p:nvSpPr>
          <p:cNvPr id="7" name="TextBox 6"/>
          <p:cNvSpPr txBox="1"/>
          <p:nvPr/>
        </p:nvSpPr>
        <p:spPr>
          <a:xfrm>
            <a:off x="6223000" y="3810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URLs cited by AI assistants rank in Google's top 10 for the same query</a:t>
            </a:r>
          </a:p>
        </p:txBody>
      </p:sp>
      <p:sp>
        <p:nvSpPr>
          <p:cNvPr id="8" name="TextBox 7"/>
          <p:cNvSpPr txBox="1"/>
          <p:nvPr/>
        </p:nvSpPr>
        <p:spPr>
          <a:xfrm>
            <a:off x="6223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Ahrefs, 15,000 prompts</a:t>
            </a:r>
          </a:p>
        </p:txBody>
      </p:sp>
      <p:cxnSp>
        <p:nvCxnSpPr>
          <p:cNvPr id="9" name="Connector 8"/>
          <p:cNvCxnSpPr/>
          <p:nvPr/>
        </p:nvCxnSpPr>
        <p:spPr>
          <a:xfrm>
            <a:off x="762000" y="5715000"/>
            <a:ext cx="1524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62000" y="5791200"/>
            <a:ext cx="1524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Three questions</a:t>
            </a:r>
          </a:p>
        </p:txBody>
      </p:sp>
      <p:sp>
        <p:nvSpPr>
          <p:cNvPr id="5" name="TextBox 4"/>
          <p:cNvSpPr txBox="1"/>
          <p:nvPr/>
        </p:nvSpPr>
        <p:spPr>
          <a:xfrm>
            <a:off x="762000" y="204470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20193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banks does each engine name, how early, and in what tone?</a:t>
            </a:r>
          </a:p>
        </p:txBody>
      </p:sp>
      <p:sp>
        <p:nvSpPr>
          <p:cNvPr id="7" name="TextBox 6"/>
          <p:cNvSpPr txBox="1"/>
          <p:nvPr/>
        </p:nvSpPr>
        <p:spPr>
          <a:xfrm>
            <a:off x="762000" y="248666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46126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sources does each engine cite, and do the two engines agree?</a:t>
            </a:r>
          </a:p>
        </p:txBody>
      </p:sp>
      <p:sp>
        <p:nvSpPr>
          <p:cNvPr id="9" name="TextBox 8"/>
          <p:cNvSpPr txBox="1"/>
          <p:nvPr/>
        </p:nvSpPr>
        <p:spPr>
          <a:xfrm>
            <a:off x="762000" y="292862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29032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Where does a bank's share of the answers differ from its share of the cited pages?</a:t>
            </a:r>
          </a:p>
        </p:txBody>
      </p:sp>
      <p:sp>
        <p:nvSpPr>
          <p:cNvPr id="11" name="TextBox 10"/>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2" name="TextBox 11"/>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3" name="TextBox 12"/>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a:t>
            </a:r>
          </a:p>
        </p:txBody>
      </p:sp>
      <p:sp>
        <p:nvSpPr>
          <p:cNvPr id="3" name="TextBox 2"/>
          <p:cNvSpPr txBox="1"/>
          <p:nvPr/>
        </p:nvSpPr>
        <p:spPr>
          <a:xfrm>
            <a:off x="0" y="2794000"/>
            <a:ext cx="12192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Method</a:t>
            </a:r>
          </a:p>
        </p:txBody>
      </p:sp>
      <p:sp>
        <p:nvSpPr>
          <p:cNvPr id="4" name="TextBox 3"/>
          <p:cNvSpPr txBox="1"/>
          <p:nvPr/>
        </p:nvSpPr>
        <p:spPr>
          <a:xfrm>
            <a:off x="0" y="3937000"/>
            <a:ext cx="12192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20 prompts, 2 engines, one day</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20 everyday banking questions, asked in Bahasa Indonesia</a:t>
            </a:r>
          </a:p>
        </p:txBody>
      </p:sp>
      <p:sp>
        <p:nvSpPr>
          <p:cNvPr id="5" name="TextBox 4"/>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5 customer needs by 5 question types. Only 3 prompts name a bank, all of them comparisons.</a:t>
            </a:r>
          </a:p>
        </p:txBody>
      </p:sp>
      <p:sp>
        <p:nvSpPr>
          <p:cNvPr id="6" name="TextBox 5"/>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prompt was asked once in ChatGPT and once in Gemini, with a request for 10 sources.</a:t>
            </a:r>
          </a:p>
        </p:txBody>
      </p:sp>
      <p:sp>
        <p:nvSpPr>
          <p:cNvPr id="7" name="TextBox 6"/>
          <p:cNvSpPr txBox="1"/>
          <p:nvPr/>
        </p:nvSpPr>
        <p:spPr>
          <a:xfrm>
            <a:off x="762000" y="4429760"/>
            <a:ext cx="3810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lit circle is prompt 13, the cold open.</a:t>
            </a:r>
          </a:p>
        </p:txBody>
      </p:sp>
      <p:pic>
        <p:nvPicPr>
          <p:cNvPr id="8" name="Picture 7" descr="prompt_grid.png"/>
          <p:cNvPicPr>
            <a:picLocks noChangeAspect="1"/>
          </p:cNvPicPr>
          <p:nvPr/>
        </p:nvPicPr>
        <p:blipFill>
          <a:blip r:embed="rId2"/>
          <a:stretch>
            <a:fillRect/>
          </a:stretch>
        </p:blipFill>
        <p:spPr>
          <a:xfrm>
            <a:off x="4889500" y="1794933"/>
            <a:ext cx="6731000" cy="3141133"/>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06</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  n = 20 prompts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From 40 answers to 195 readable source pages</a:t>
            </a:r>
          </a:p>
        </p:txBody>
      </p:sp>
      <p:sp>
        <p:nvSpPr>
          <p:cNvPr id="5" name="TextBox 4"/>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step is code in the public repo, covered by tests. Only links under each answer's source list count as citations.</a:t>
            </a:r>
          </a:p>
        </p:txBody>
      </p:sp>
      <p:pic>
        <p:nvPicPr>
          <p:cNvPr id="6" name="Picture 5" descr="pipeline.png"/>
          <p:cNvPicPr>
            <a:picLocks noChangeAspect="1"/>
          </p:cNvPicPr>
          <p:nvPr/>
        </p:nvPicPr>
        <p:blipFill>
          <a:blip r:embed="rId2"/>
          <a:stretch>
            <a:fillRect/>
          </a:stretch>
        </p:blipFill>
        <p:spPr>
          <a:xfrm>
            <a:off x="1537208" y="2344420"/>
            <a:ext cx="9117584" cy="325627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07</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code and data: github.com/rgmwnn/geo-bank-visibility  ·  n = 40 answers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is measured</a:t>
            </a:r>
          </a:p>
        </p:txBody>
      </p:sp>
      <p:sp>
        <p:nvSpPr>
          <p:cNvPr id="5" name="TextBox 4"/>
          <p:cNvSpPr txBox="1"/>
          <p:nvPr/>
        </p:nvSpPr>
        <p:spPr>
          <a:xfrm>
            <a:off x="762000" y="175768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Mention rate</a:t>
            </a:r>
          </a:p>
        </p:txBody>
      </p:sp>
      <p:sp>
        <p:nvSpPr>
          <p:cNvPr id="6" name="TextBox 5"/>
          <p:cNvSpPr txBox="1"/>
          <p:nvPr/>
        </p:nvSpPr>
        <p:spPr>
          <a:xfrm>
            <a:off x="762000" y="19862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share of answers that name the bank</a:t>
            </a:r>
          </a:p>
        </p:txBody>
      </p:sp>
      <p:sp>
        <p:nvSpPr>
          <p:cNvPr id="7" name="TextBox 6"/>
          <p:cNvSpPr txBox="1"/>
          <p:nvPr/>
        </p:nvSpPr>
        <p:spPr>
          <a:xfrm>
            <a:off x="762000" y="227584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AI share of voice</a:t>
            </a:r>
          </a:p>
        </p:txBody>
      </p:sp>
      <p:sp>
        <p:nvSpPr>
          <p:cNvPr id="8" name="TextBox 7"/>
          <p:cNvSpPr txBox="1"/>
          <p:nvPr/>
        </p:nvSpPr>
        <p:spPr>
          <a:xfrm>
            <a:off x="762000" y="250444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each answer weighted equally</a:t>
            </a:r>
          </a:p>
        </p:txBody>
      </p:sp>
      <p:sp>
        <p:nvSpPr>
          <p:cNvPr id="9" name="TextBox 8"/>
          <p:cNvSpPr txBox="1"/>
          <p:nvPr/>
        </p:nvSpPr>
        <p:spPr>
          <a:xfrm>
            <a:off x="762000" y="279400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Brand PAWC</a:t>
            </a:r>
          </a:p>
        </p:txBody>
      </p:sp>
      <p:sp>
        <p:nvSpPr>
          <p:cNvPr id="10" name="TextBox 9"/>
          <p:cNvSpPr txBox="1"/>
          <p:nvPr/>
        </p:nvSpPr>
        <p:spPr>
          <a:xfrm>
            <a:off x="762000" y="3022600"/>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how much of an answer is about the bank, earlier sentences weighted more</a:t>
            </a:r>
          </a:p>
        </p:txBody>
      </p:sp>
      <p:sp>
        <p:nvSpPr>
          <p:cNvPr id="11" name="TextBox 10"/>
          <p:cNvSpPr txBox="1"/>
          <p:nvPr/>
        </p:nvSpPr>
        <p:spPr>
          <a:xfrm>
            <a:off x="762000" y="352552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Source share of voice</a:t>
            </a:r>
          </a:p>
        </p:txBody>
      </p:sp>
      <p:sp>
        <p:nvSpPr>
          <p:cNvPr id="12" name="TextBox 11"/>
          <p:cNvSpPr txBox="1"/>
          <p:nvPr/>
        </p:nvSpPr>
        <p:spPr>
          <a:xfrm>
            <a:off x="762000" y="375412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in the readable cited pages</a:t>
            </a:r>
          </a:p>
        </p:txBody>
      </p:sp>
      <p:sp>
        <p:nvSpPr>
          <p:cNvPr id="13" name="TextBox 12"/>
          <p:cNvSpPr txBox="1"/>
          <p:nvPr/>
        </p:nvSpPr>
        <p:spPr>
          <a:xfrm>
            <a:off x="762000" y="404368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SOV gap</a:t>
            </a:r>
          </a:p>
        </p:txBody>
      </p:sp>
      <p:sp>
        <p:nvSpPr>
          <p:cNvPr id="14" name="TextBox 13"/>
          <p:cNvSpPr txBox="1"/>
          <p:nvPr/>
        </p:nvSpPr>
        <p:spPr>
          <a:xfrm>
            <a:off x="762000" y="42722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AI share of voice minus source share of voice</a:t>
            </a:r>
          </a:p>
        </p:txBody>
      </p:sp>
      <p:sp>
        <p:nvSpPr>
          <p:cNvPr id="15" name="TextBox 14"/>
          <p:cNvSpPr txBox="1"/>
          <p:nvPr/>
        </p:nvSpPr>
        <p:spPr>
          <a:xfrm>
            <a:off x="762000" y="456184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VIS</a:t>
            </a:r>
          </a:p>
        </p:txBody>
      </p:sp>
      <p:sp>
        <p:nvSpPr>
          <p:cNvPr id="16" name="TextBox 15"/>
          <p:cNvSpPr txBox="1"/>
          <p:nvPr/>
        </p:nvSpPr>
        <p:spPr>
          <a:xfrm>
            <a:off x="762000" y="4790440"/>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0 to 100: equal mix of PAWC, source authority, sentiment and coverage of both engines</a:t>
            </a:r>
          </a:p>
        </p:txBody>
      </p:sp>
      <p:pic>
        <p:nvPicPr>
          <p:cNvPr id="17" name="Picture 16" descr="pawc_curve.png"/>
          <p:cNvPicPr>
            <a:picLocks noChangeAspect="1"/>
          </p:cNvPicPr>
          <p:nvPr/>
        </p:nvPicPr>
        <p:blipFill>
          <a:blip r:embed="rId2"/>
          <a:stretch>
            <a:fillRect/>
          </a:stretch>
        </p:blipFill>
        <p:spPr>
          <a:xfrm>
            <a:off x="6350000" y="1905000"/>
            <a:ext cx="5080000" cy="2540000"/>
          </a:xfrm>
          <a:prstGeom prst="rect">
            <a:avLst/>
          </a:prstGeom>
        </p:spPr>
      </p:pic>
      <p:sp>
        <p:nvSpPr>
          <p:cNvPr id="18" name="TextBox 1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9" name="TextBox 1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20" name="TextBox 1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08</a:t>
            </a:r>
          </a:p>
        </p:txBody>
      </p:sp>
      <p:sp>
        <p:nvSpPr>
          <p:cNvPr id="21" name="TextBox 2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PAWC adapted from Aggarwal et al., GEO: Generative Engine Optimization, KDD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evidence, and what it cannot show</a:t>
            </a:r>
          </a:p>
        </p:txBody>
      </p:sp>
      <p:sp>
        <p:nvSpPr>
          <p:cNvPr id="5" name="TextBox 4"/>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One run per prompt per engine: a snapshot.</a:t>
            </a:r>
          </a:p>
        </p:txBody>
      </p:sp>
      <p:sp>
        <p:nvSpPr>
          <p:cNvPr id="6" name="TextBox 5"/>
          <p:cNvSpPr txBox="1"/>
          <p:nvPr/>
        </p:nvSpPr>
        <p:spPr>
          <a:xfrm>
            <a:off x="762000" y="285750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Asking for 10 sources makes both engines cite more than usual.</a:t>
            </a:r>
          </a:p>
        </p:txBody>
      </p:sp>
      <p:sp>
        <p:nvSpPr>
          <p:cNvPr id="7" name="TextBox 6"/>
          <p:cNvSpPr txBox="1"/>
          <p:nvPr/>
        </p:nvSpPr>
        <p:spPr>
          <a:xfrm>
            <a:off x="762000" y="34188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10 of 20 prompts lean digital: they name digital banks or ask about apps.</a:t>
            </a:r>
          </a:p>
        </p:txBody>
      </p:sp>
      <p:sp>
        <p:nvSpPr>
          <p:cNvPr id="8" name="TextBox 7"/>
          <p:cNvSpPr txBox="1"/>
          <p:nvPr/>
        </p:nvSpPr>
        <p:spPr>
          <a:xfrm>
            <a:off x="762000" y="398017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Claude labelled sentiment and site types; RG spot-checked a sample.</a:t>
            </a:r>
          </a:p>
        </p:txBody>
      </p:sp>
      <p:sp>
        <p:nvSpPr>
          <p:cNvPr id="9" name="TextBox 8"/>
          <p:cNvSpPr txBox="1"/>
          <p:nvPr/>
        </p:nvSpPr>
        <p:spPr>
          <a:xfrm>
            <a:off x="762000" y="45415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Pages that blocked the crawler drop out of page-level measures.</a:t>
            </a:r>
          </a:p>
        </p:txBody>
      </p:sp>
      <p:sp>
        <p:nvSpPr>
          <p:cNvPr id="10" name="TextBox 9"/>
          <p:cNvSpPr txBox="1"/>
          <p:nvPr/>
        </p:nvSpPr>
        <p:spPr>
          <a:xfrm>
            <a:off x="762000" y="510285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Banks named in fewer than 3 answers are marked low n.</a:t>
            </a:r>
          </a:p>
        </p:txBody>
      </p:sp>
      <p:pic>
        <p:nvPicPr>
          <p:cNvPr id="11" name="Picture 10" descr="funnel.png"/>
          <p:cNvPicPr>
            <a:picLocks noChangeAspect="1"/>
          </p:cNvPicPr>
          <p:nvPr/>
        </p:nvPicPr>
        <p:blipFill>
          <a:blip r:embed="rId2"/>
          <a:stretch>
            <a:fillRect/>
          </a:stretch>
        </p:blipFill>
        <p:spPr>
          <a:xfrm>
            <a:off x="4889500" y="1750060"/>
            <a:ext cx="6731000" cy="3230880"/>
          </a:xfrm>
          <a:prstGeom prst="rect">
            <a:avLst/>
          </a:prstGeom>
        </p:spPr>
      </p:pic>
      <p:sp>
        <p:nvSpPr>
          <p:cNvPr id="12" name="TextBox 11"/>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3" name="TextBox 12"/>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4" name="TextBox 13"/>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09</a:t>
            </a:r>
          </a:p>
        </p:txBody>
      </p:sp>
      <p:sp>
        <p:nvSpPr>
          <p:cNvPr id="15" name="TextBox 14"/>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data/interim/pages.csv, page_brand_counts.csv  ·  n = 243 pages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a:t>
            </a:r>
          </a:p>
        </p:txBody>
      </p:sp>
      <p:sp>
        <p:nvSpPr>
          <p:cNvPr id="3" name="TextBox 2"/>
          <p:cNvSpPr txBox="1"/>
          <p:nvPr/>
        </p:nvSpPr>
        <p:spPr>
          <a:xfrm>
            <a:off x="0" y="2794000"/>
            <a:ext cx="12192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answers</a:t>
            </a:r>
          </a:p>
        </p:txBody>
      </p:sp>
      <p:sp>
        <p:nvSpPr>
          <p:cNvPr id="4" name="TextBox 3"/>
          <p:cNvSpPr txBox="1"/>
          <p:nvPr/>
        </p:nvSpPr>
        <p:spPr>
          <a:xfrm>
            <a:off x="0" y="3937000"/>
            <a:ext cx="12192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Who gets named, how early, and in what tone</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Bank Jago and SeaBank are each named in more than half of all answers</a:t>
            </a:r>
          </a:p>
        </p:txBody>
      </p:sp>
      <p:sp>
        <p:nvSpPr>
          <p:cNvPr id="5" name="TextBox 4"/>
          <p:cNvSpPr txBox="1"/>
          <p:nvPr/>
        </p:nvSpPr>
        <p:spPr>
          <a:xfrm>
            <a:off x="762000" y="32207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appear in 22 of 40 answers, SeaBank in 21, BRI in 12.</a:t>
            </a:r>
          </a:p>
        </p:txBody>
      </p:sp>
      <p:pic>
        <p:nvPicPr>
          <p:cNvPr id="6" name="Picture 5" descr="mention_dots.png"/>
          <p:cNvPicPr>
            <a:picLocks noChangeAspect="1"/>
          </p:cNvPicPr>
          <p:nvPr/>
        </p:nvPicPr>
        <p:blipFill>
          <a:blip r:embed="rId2"/>
          <a:stretch>
            <a:fillRect/>
          </a:stretch>
        </p:blipFill>
        <p:spPr>
          <a:xfrm>
            <a:off x="4889500" y="1540144"/>
            <a:ext cx="6731000" cy="3650711"/>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11</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top 10 banks  ·  n = 20 answers per engine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scores highest, with Bank Jago and BRI close behind</a:t>
            </a:r>
          </a:p>
        </p:txBody>
      </p:sp>
      <p:sp>
        <p:nvSpPr>
          <p:cNvPr id="5" name="TextBox 4"/>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VIS 93.2 for BCA, then Bank Jago 89.6, BRI 89.5 and SeaBank 85.7.</a:t>
            </a:r>
          </a:p>
        </p:txBody>
      </p:sp>
      <p:sp>
        <p:nvSpPr>
          <p:cNvPr id="6" name="TextBox 5"/>
          <p:cNvSpPr txBox="1"/>
          <p:nvPr/>
        </p:nvSpPr>
        <p:spPr>
          <a:xfrm>
            <a:off x="762000" y="334517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Dashed bars are banks named in fewer than 3 answers. Read those as unranked.</a:t>
            </a:r>
          </a:p>
        </p:txBody>
      </p:sp>
      <p:pic>
        <p:nvPicPr>
          <p:cNvPr id="7" name="Picture 6" descr="vis_rank.png"/>
          <p:cNvPicPr>
            <a:picLocks noChangeAspect="1"/>
          </p:cNvPicPr>
          <p:nvPr/>
        </p:nvPicPr>
        <p:blipFill>
          <a:blip r:embed="rId2"/>
          <a:stretch>
            <a:fillRect/>
          </a:stretch>
        </p:blipFill>
        <p:spPr>
          <a:xfrm>
            <a:off x="4889500" y="1369016"/>
            <a:ext cx="6731000" cy="3992966"/>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data/processed/vis.csv  ·  n = 40 answers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 names a wider field: 18 banks against ChatGPT's 11</a:t>
            </a:r>
          </a:p>
        </p:txBody>
      </p:sp>
      <p:sp>
        <p:nvSpPr>
          <p:cNvPr id="5" name="TextBox 4"/>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Bright marks are banks only one engine named. Gemini alone named Bank BTPN (Jenius) in 5 answers and Superbank in 4.</a:t>
            </a:r>
          </a:p>
        </p:txBody>
      </p:sp>
      <p:pic>
        <p:nvPicPr>
          <p:cNvPr id="6" name="Picture 5" descr="wider_field.png"/>
          <p:cNvPicPr>
            <a:picLocks noChangeAspect="1"/>
          </p:cNvPicPr>
          <p:nvPr/>
        </p:nvPicPr>
        <p:blipFill>
          <a:blip r:embed="rId2"/>
          <a:stretch>
            <a:fillRect/>
          </a:stretch>
        </p:blipFill>
        <p:spPr>
          <a:xfrm>
            <a:off x="762000" y="2344420"/>
            <a:ext cx="10668000" cy="27305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13</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n = 20 answers per engine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bank leads every customer need, and no lead is more than one answer</a:t>
            </a:r>
          </a:p>
        </p:txBody>
      </p:sp>
      <p:sp>
        <p:nvSpPr>
          <p:cNvPr id="5" name="TextBox 4"/>
          <p:cNvSpPr txBox="1"/>
          <p:nvPr/>
        </p:nvSpPr>
        <p:spPr>
          <a:xfrm>
            <a:off x="762000" y="2194560"/>
            <a:ext cx="85725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Counted on the 17 prompts that name no bank. Fees and rates: Bank Jago, Krom Bank and SeaBank, 6 of 8. Digital experience: Bank Jago and SeaBank, 6 of 6. Safety: Bank Jago, 5 of 8. Service: BCA, 4 of 6. Trust: BCA, 3 of 6.</a:t>
            </a:r>
          </a:p>
        </p:txBody>
      </p:sp>
      <p:pic>
        <p:nvPicPr>
          <p:cNvPr id="6" name="Picture 5" descr="pillar_heatmap.png"/>
          <p:cNvPicPr>
            <a:picLocks noChangeAspect="1"/>
          </p:cNvPicPr>
          <p:nvPr/>
        </p:nvPicPr>
        <p:blipFill>
          <a:blip r:embed="rId2"/>
          <a:stretch>
            <a:fillRect/>
          </a:stretch>
        </p:blipFill>
        <p:spPr>
          <a:xfrm>
            <a:off x="2278380" y="3055620"/>
            <a:ext cx="7635239" cy="254507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14</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mentions.csv  ·  share of a need's answers that name the bank  ·  n = 34 answers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Named often and named early go together</a:t>
            </a:r>
          </a:p>
        </p:txBody>
      </p:sp>
      <p:sp>
        <p:nvSpPr>
          <p:cNvPr id="5" name="TextBox 4"/>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lead on both measures.</a:t>
            </a:r>
          </a:p>
        </p:txBody>
      </p:sp>
      <p:sp>
        <p:nvSpPr>
          <p:cNvPr id="6" name="TextBox 5"/>
          <p:cNvSpPr txBox="1"/>
          <p:nvPr/>
        </p:nvSpPr>
        <p:spPr>
          <a:xfrm>
            <a:off x="762000" y="3345179"/>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 scores higher on PAWC than SeaBank while appearing in fewer answers: when BRI is named, it takes up more of the answer.</a:t>
            </a:r>
          </a:p>
        </p:txBody>
      </p:sp>
      <p:pic>
        <p:nvPicPr>
          <p:cNvPr id="7" name="Picture 6" descr="often_vs_early.png"/>
          <p:cNvPicPr>
            <a:picLocks noChangeAspect="1"/>
          </p:cNvPicPr>
          <p:nvPr/>
        </p:nvPicPr>
        <p:blipFill>
          <a:blip r:embed="rId2"/>
          <a:stretch>
            <a:fillRect/>
          </a:stretch>
        </p:blipFill>
        <p:spPr>
          <a:xfrm>
            <a:off x="4889500" y="1540144"/>
            <a:ext cx="6731000" cy="3650711"/>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15</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banks named in at least 3 answers  ·  n = 40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answer was negative about a bank</a:t>
            </a:r>
          </a:p>
        </p:txBody>
      </p:sp>
      <p:sp>
        <p:nvSpPr>
          <p:cNvPr id="5" name="TextBox 4"/>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Of 137 answer and bank pairs, 117 are positive. The 6 mixed labels attach a condition, such as a minimum balance for free transfers. Being named at all is what to measure.</a:t>
            </a:r>
          </a:p>
        </p:txBody>
      </p:sp>
      <p:pic>
        <p:nvPicPr>
          <p:cNvPr id="6" name="Picture 5" descr="sentiment_marks.png"/>
          <p:cNvPicPr>
            <a:picLocks noChangeAspect="1"/>
          </p:cNvPicPr>
          <p:nvPr/>
        </p:nvPicPr>
        <p:blipFill>
          <a:blip r:embed="rId2"/>
          <a:stretch>
            <a:fillRect/>
          </a:stretch>
        </p:blipFill>
        <p:spPr>
          <a:xfrm>
            <a:off x="762000" y="2344420"/>
            <a:ext cx="10668000" cy="24130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16</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data/labels/sentiment.csv  ·  labelled by Claude, spot-checked by RG  ·  n = 137 pairs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How-to answers rarely name a bank</a:t>
            </a:r>
          </a:p>
        </p:txBody>
      </p:sp>
      <p:sp>
        <p:nvSpPr>
          <p:cNvPr id="5" name="TextBox 4"/>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Every best and decision-brief answer named at least one bank.</a:t>
            </a:r>
          </a:p>
        </p:txBody>
      </p:sp>
      <p:sp>
        <p:nvSpPr>
          <p:cNvPr id="6" name="TextBox 5"/>
          <p:cNvSpPr txBox="1"/>
          <p:nvPr/>
        </p:nvSpPr>
        <p:spPr>
          <a:xfrm>
            <a:off x="762000" y="28829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 of 6 how-to answers did. Explainers on deposit insurance, scams and complaints look like a gap for banks.</a:t>
            </a:r>
          </a:p>
        </p:txBody>
      </p:sp>
      <p:pic>
        <p:nvPicPr>
          <p:cNvPr id="7" name="Picture 6" descr="intent_named.png"/>
          <p:cNvPicPr>
            <a:picLocks noChangeAspect="1"/>
          </p:cNvPicPr>
          <p:nvPr/>
        </p:nvPicPr>
        <p:blipFill>
          <a:blip r:embed="rId2"/>
          <a:stretch>
            <a:fillRect/>
          </a:stretch>
        </p:blipFill>
        <p:spPr>
          <a:xfrm>
            <a:off x="4889500" y="1896918"/>
            <a:ext cx="6731000" cy="2937163"/>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17</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data/processed/no_brand_rate.csv  ·  n = 40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III</a:t>
            </a:r>
          </a:p>
        </p:txBody>
      </p:sp>
      <p:sp>
        <p:nvSpPr>
          <p:cNvPr id="3" name="TextBox 2"/>
          <p:cNvSpPr txBox="1"/>
          <p:nvPr/>
        </p:nvSpPr>
        <p:spPr>
          <a:xfrm>
            <a:off x="0" y="2794000"/>
            <a:ext cx="12192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sources</a:t>
            </a:r>
          </a:p>
        </p:txBody>
      </p:sp>
      <p:sp>
        <p:nvSpPr>
          <p:cNvPr id="4" name="TextBox 3"/>
          <p:cNvSpPr txBox="1"/>
          <p:nvPr/>
        </p:nvSpPr>
        <p:spPr>
          <a:xfrm>
            <a:off x="0" y="3937000"/>
            <a:ext cx="12192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pages the engines lean on</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cites banks and regulators. Gemini cites fintech, blog and news sites.</a:t>
            </a:r>
          </a:p>
        </p:txBody>
      </p:sp>
      <p:sp>
        <p:nvSpPr>
          <p:cNvPr id="5" name="TextBox 4"/>
          <p:cNvSpPr txBox="1"/>
          <p:nvPr/>
        </p:nvSpPr>
        <p:spPr>
          <a:xfrm>
            <a:off x="762000" y="219456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89% of ChatGPT's citations go to bank and regulator sites. 61% of Gemini's go to fintech platforms, blogs and news.</a:t>
            </a:r>
          </a:p>
        </p:txBody>
      </p:sp>
      <p:pic>
        <p:nvPicPr>
          <p:cNvPr id="6" name="Picture 5" descr="source_mix.png"/>
          <p:cNvPicPr>
            <a:picLocks noChangeAspect="1"/>
          </p:cNvPicPr>
          <p:nvPr/>
        </p:nvPicPr>
        <p:blipFill>
          <a:blip r:embed="rId2"/>
          <a:stretch>
            <a:fillRect/>
          </a:stretch>
        </p:blipFill>
        <p:spPr>
          <a:xfrm>
            <a:off x="993913" y="2806700"/>
            <a:ext cx="10204173" cy="27940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19</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data/processed/domain_type_mix.csv  ·  shares rounded on their own, sums can differ by 1 point  ·  n = 199 and 200 citations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engines share sites more than pages: 21 of 97 sites, 11 of 243 pages</a:t>
            </a:r>
          </a:p>
        </p:txBody>
      </p:sp>
      <p:sp>
        <p:nvSpPr>
          <p:cNvPr id="5" name="TextBox 4"/>
          <p:cNvSpPr txBox="1"/>
          <p:nvPr/>
        </p:nvSpPr>
        <p:spPr>
          <a:xfrm>
            <a:off x="762000" y="322072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21 of ChatGPT's 46 sites are also cited by Gemini, but rarely the same page. The Jaccard overlap is 0.22 for sites and 0.05 for pages.</a:t>
            </a:r>
          </a:p>
        </p:txBody>
      </p:sp>
      <p:sp>
        <p:nvSpPr>
          <p:cNvPr id="6" name="TextBox 5"/>
          <p:cNvSpPr txBox="1"/>
          <p:nvPr/>
        </p:nvSpPr>
        <p:spPr>
          <a:xfrm>
            <a:off x="762000" y="430530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Writesonic found 0.119 between ChatGPT and Gemini across 88,969 prompts, without saying whether it compared pages or sites.</a:t>
            </a:r>
          </a:p>
        </p:txBody>
      </p:sp>
      <p:pic>
        <p:nvPicPr>
          <p:cNvPr id="7" name="Picture 6" descr="overlap.png"/>
          <p:cNvPicPr>
            <a:picLocks noChangeAspect="1"/>
          </p:cNvPicPr>
          <p:nvPr/>
        </p:nvPicPr>
        <p:blipFill>
          <a:blip r:embed="rId2"/>
          <a:stretch>
            <a:fillRect/>
          </a:stretch>
        </p:blipFill>
        <p:spPr>
          <a:xfrm>
            <a:off x="4889500" y="1652154"/>
            <a:ext cx="6731000" cy="3426690"/>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20</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  Writesonic, AI citation source overlap study  ·  n = 97 sites, 243 pages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Most cited sites: ChatGPT on the left, Gemini on the right</a:t>
            </a:r>
          </a:p>
        </p:txBody>
      </p:sp>
      <p:sp>
        <p:nvSpPr>
          <p:cNvPr id="5" name="TextBox 4"/>
          <p:cNvSpPr txBox="1"/>
          <p:nvPr/>
        </p:nvSpPr>
        <p:spPr>
          <a:xfrm>
            <a:off x="762000" y="1732280"/>
            <a:ext cx="85725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and regulator sites lead for ChatGPT. Fazz, Akulaku and Zaipad are cited only by Gemini.</a:t>
            </a:r>
          </a:p>
        </p:txBody>
      </p:sp>
      <p:pic>
        <p:nvPicPr>
          <p:cNvPr id="6" name="Picture 5" descr="mirror_sites.png"/>
          <p:cNvPicPr>
            <a:picLocks noChangeAspect="1"/>
          </p:cNvPicPr>
          <p:nvPr/>
        </p:nvPicPr>
        <p:blipFill>
          <a:blip r:embed="rId2"/>
          <a:stretch>
            <a:fillRect/>
          </a:stretch>
        </p:blipFill>
        <p:spPr>
          <a:xfrm>
            <a:off x="1634836" y="2095500"/>
            <a:ext cx="8922327" cy="35052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21</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data/processed/domains.csv  ·  top sites by citations  ·  n = 399 citations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few comparison articles appear across Gemini's answers</a:t>
            </a:r>
          </a:p>
        </p:txBody>
      </p:sp>
      <p:sp>
        <p:nvSpPr>
          <p:cNvPr id="5" name="TextBox 4"/>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One Akulaku article is cited in 14 of Gemini's 20 answers, one Zaipad article in 12, and Fazz articles 20 times across 15 answers. ChatGPT cites none of them.</a:t>
            </a:r>
          </a:p>
        </p:txBody>
      </p:sp>
      <p:sp>
        <p:nvSpPr>
          <p:cNvPr id="6" name="TextBox 5"/>
          <p:cNvSpPr txBox="1"/>
          <p:nvPr/>
        </p:nvSpPr>
        <p:spPr>
          <a:xfrm>
            <a:off x="762000" y="228092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Akulaku held 27.24% of Bank Neo Commerce in May 2023 (Bisnis). The article has not been checked for bias.</a:t>
            </a:r>
          </a:p>
        </p:txBody>
      </p:sp>
      <p:pic>
        <p:nvPicPr>
          <p:cNvPr id="7" name="Picture 6" descr="top_pages.png"/>
          <p:cNvPicPr>
            <a:picLocks noChangeAspect="1"/>
          </p:cNvPicPr>
          <p:nvPr/>
        </p:nvPicPr>
        <p:blipFill>
          <a:blip r:embed="rId2"/>
          <a:stretch>
            <a:fillRect/>
          </a:stretch>
        </p:blipFill>
        <p:spPr>
          <a:xfrm>
            <a:off x="2305304" y="2893060"/>
            <a:ext cx="7581392" cy="2707640"/>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data/processed/pages_top.csv  ·  most cited pages  ·  n = 399 citations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leans on fewer sites</a:t>
            </a:r>
          </a:p>
        </p:txBody>
      </p:sp>
      <p:sp>
        <p:nvSpPr>
          <p:cNvPr id="5" name="TextBox 4"/>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Its top five sites hold 50% of its citations. Gemini's top five hold 36%.</a:t>
            </a:r>
          </a:p>
        </p:txBody>
      </p:sp>
      <p:pic>
        <p:nvPicPr>
          <p:cNvPr id="6" name="Picture 5" descr="concentration.png"/>
          <p:cNvPicPr>
            <a:picLocks noChangeAspect="1"/>
          </p:cNvPicPr>
          <p:nvPr/>
        </p:nvPicPr>
        <p:blipFill>
          <a:blip r:embed="rId2"/>
          <a:stretch>
            <a:fillRect/>
          </a:stretch>
        </p:blipFill>
        <p:spPr>
          <a:xfrm>
            <a:off x="4889500" y="2264063"/>
            <a:ext cx="6731000" cy="2202872"/>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23</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data/processed/concentration.csv  ·  n = 199 and 200 citations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 Mandiri gets less of the answers than its sources give it</a:t>
            </a:r>
          </a:p>
        </p:txBody>
      </p:sp>
      <p:sp>
        <p:nvSpPr>
          <p:cNvPr id="5" name="TextBox 4"/>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Mandiri holds 11.5% of bank mentions in the cited pages and 5.9% in the answers.</a:t>
            </a:r>
          </a:p>
        </p:txBody>
      </p:sp>
      <p:sp>
        <p:nvSpPr>
          <p:cNvPr id="6" name="TextBox 5"/>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Jago and BCA lean the other way. Bank Jago holds 20.2% of mentions in the answers and 13.6% in the pages.</a:t>
            </a:r>
          </a:p>
        </p:txBody>
      </p:sp>
      <p:sp>
        <p:nvSpPr>
          <p:cNvPr id="7" name="TextBox 6"/>
          <p:cNvSpPr txBox="1"/>
          <p:nvPr/>
        </p:nvSpPr>
        <p:spPr>
          <a:xfrm>
            <a:off x="762000" y="442976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Pages were counted without a bare “Jago” or “blu”, so these two banks' source share may be low and their gaps too wide.</a:t>
            </a:r>
          </a:p>
        </p:txBody>
      </p:sp>
      <p:pic>
        <p:nvPicPr>
          <p:cNvPr id="8" name="Picture 7" descr="sov_gap.png"/>
          <p:cNvPicPr>
            <a:picLocks noChangeAspect="1"/>
          </p:cNvPicPr>
          <p:nvPr/>
        </p:nvPicPr>
        <p:blipFill>
          <a:blip r:embed="rId2"/>
          <a:stretch>
            <a:fillRect/>
          </a:stretch>
        </p:blipFill>
        <p:spPr>
          <a:xfrm>
            <a:off x="4889500" y="1654228"/>
            <a:ext cx="6731000" cy="3422542"/>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24</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data/processed/source_sov.csv  ·  answers and pages weighted equally  ·  n = 40 answers, 148 pages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Gemini's dead links all sit behind a Google redirect</a:t>
            </a:r>
          </a:p>
        </p:txBody>
      </p:sp>
      <p:sp>
        <p:nvSpPr>
          <p:cNvPr id="5" name="TextBox 4"/>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13 of its 21 links wrapped in google.com/search were dead. None of its 179 direct links were.</a:t>
            </a:r>
          </a:p>
        </p:txBody>
      </p:sp>
      <p:sp>
        <p:nvSpPr>
          <p:cNvPr id="6" name="TextBox 5"/>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Tow Center found Gemini gave more fabricated links than correct ones in its 2025 tests (Nieman Lab).</a:t>
            </a:r>
          </a:p>
        </p:txBody>
      </p:sp>
      <p:pic>
        <p:nvPicPr>
          <p:cNvPr id="7" name="Picture 6" descr="dead_links.png"/>
          <p:cNvPicPr>
            <a:picLocks noChangeAspect="1"/>
          </p:cNvPicPr>
          <p:nvPr/>
        </p:nvPicPr>
        <p:blipFill>
          <a:blip r:embed="rId2"/>
          <a:stretch>
            <a:fillRect/>
          </a:stretch>
        </p:blipFill>
        <p:spPr>
          <a:xfrm>
            <a:off x="4889500" y="2281694"/>
            <a:ext cx="6731000" cy="2167610"/>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25</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pages.csv  ·  n = 200 Gemini citations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Pages without schema still get cited</a:t>
            </a:r>
          </a:p>
        </p:txBody>
      </p:sp>
      <p:sp>
        <p:nvSpPr>
          <p:cNvPr id="5" name="TextBox 4"/>
          <p:cNvSpPr txBox="1"/>
          <p:nvPr/>
        </p:nvSpPr>
        <p:spPr>
          <a:xfrm>
            <a:off x="762000" y="22961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sites carry schema on 32% of cited pages, against 95% for news and 86% for blogs, yet they are the most cited type.</a:t>
            </a:r>
          </a:p>
        </p:txBody>
      </p:sp>
      <p:sp>
        <p:nvSpPr>
          <p:cNvPr id="6" name="TextBox 5"/>
          <p:cNvSpPr txBox="1"/>
          <p:nvPr/>
        </p:nvSpPr>
        <p:spPr>
          <a:xfrm>
            <a:off x="762000" y="31318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133 of 333 readable citations point to a page with a structured publish date.</a:t>
            </a:r>
          </a:p>
        </p:txBody>
      </p:sp>
      <p:sp>
        <p:nvSpPr>
          <p:cNvPr id="7" name="TextBox 6"/>
          <p:cNvSpPr txBox="1"/>
          <p:nvPr/>
        </p:nvSpPr>
        <p:spPr>
          <a:xfrm>
            <a:off x="762000" y="37185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Google: “there's also no special schema.org structured data that you need to add.”</a:t>
            </a:r>
          </a:p>
        </p:txBody>
      </p:sp>
      <p:pic>
        <p:nvPicPr>
          <p:cNvPr id="8" name="Picture 7" descr="schema.png"/>
          <p:cNvPicPr>
            <a:picLocks noChangeAspect="1"/>
          </p:cNvPicPr>
          <p:nvPr/>
        </p:nvPicPr>
        <p:blipFill>
          <a:blip r:embed="rId2"/>
          <a:stretch>
            <a:fillRect/>
          </a:stretch>
        </p:blipFill>
        <p:spPr>
          <a:xfrm>
            <a:off x="4889500" y="1711271"/>
            <a:ext cx="6731000" cy="3308457"/>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26</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data/processed/schema.csv, recency.csv  ·  Google Search Central  ·  n = 191 pages, 333 citations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IV</a:t>
            </a:r>
          </a:p>
        </p:txBody>
      </p:sp>
      <p:sp>
        <p:nvSpPr>
          <p:cNvPr id="3" name="TextBox 2"/>
          <p:cNvSpPr txBox="1"/>
          <p:nvPr/>
        </p:nvSpPr>
        <p:spPr>
          <a:xfrm>
            <a:off x="0" y="2794000"/>
            <a:ext cx="12192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What it means</a:t>
            </a:r>
          </a:p>
        </p:txBody>
      </p:sp>
      <p:sp>
        <p:nvSpPr>
          <p:cNvPr id="4" name="TextBox 3"/>
          <p:cNvSpPr txBox="1"/>
          <p:nvPr/>
        </p:nvSpPr>
        <p:spPr>
          <a:xfrm>
            <a:off x="0" y="3937000"/>
            <a:ext cx="12192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For banks, and for people who measure AI search</a:t>
            </a:r>
          </a:p>
        </p:txBody>
      </p:sp>
      <p:cxnSp>
        <p:nvCxnSpPr>
          <p:cNvPr id="5" name="Connector 4"/>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banks</a:t>
            </a:r>
          </a:p>
        </p:txBody>
      </p:sp>
      <p:sp>
        <p:nvSpPr>
          <p:cNvPr id="5" name="TextBox 4"/>
          <p:cNvSpPr txBox="1"/>
          <p:nvPr/>
        </p:nvSpPr>
        <p:spPr>
          <a:xfrm>
            <a:off x="762000" y="204470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Plan for each engine. ChatGPT cites bank and regulator pages; Gemini cites comparison sites, blogs and news.</a:t>
            </a:r>
          </a:p>
        </p:txBody>
      </p:sp>
      <p:sp>
        <p:nvSpPr>
          <p:cNvPr id="7" name="TextBox 6"/>
          <p:cNvSpPr txBox="1"/>
          <p:nvPr/>
        </p:nvSpPr>
        <p:spPr>
          <a:xfrm>
            <a:off x="762000" y="278892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7635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Fee and rate pages look like the most direct route. ChatGPT cites SeaBank's and blu's fee pages by name.</a:t>
            </a:r>
          </a:p>
        </p:txBody>
      </p:sp>
      <p:sp>
        <p:nvSpPr>
          <p:cNvPr id="9" name="TextBox 8"/>
          <p:cNvSpPr txBox="1"/>
          <p:nvPr/>
        </p:nvSpPr>
        <p:spPr>
          <a:xfrm>
            <a:off x="762000" y="353314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350774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Know what the comparison sites say about you. Gemini cites Akulaku's, Zaipad's and Fazz's sites in 13 to 15 of its 20 answers.</a:t>
            </a:r>
          </a:p>
        </p:txBody>
      </p:sp>
      <p:sp>
        <p:nvSpPr>
          <p:cNvPr id="11" name="TextBox 10"/>
          <p:cNvSpPr txBox="1"/>
          <p:nvPr/>
        </p:nvSpPr>
        <p:spPr>
          <a:xfrm>
            <a:off x="762000" y="4277359"/>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4251959"/>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No answer was negative. Measure whether you are named at all.</a:t>
            </a:r>
          </a:p>
        </p:txBody>
      </p:sp>
      <p:sp>
        <p:nvSpPr>
          <p:cNvPr id="13" name="TextBox 12"/>
          <p:cNvSpPr txBox="1"/>
          <p:nvPr/>
        </p:nvSpPr>
        <p:spPr>
          <a:xfrm>
            <a:off x="762000" y="471932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4" name="TextBox 13"/>
          <p:cNvSpPr txBox="1"/>
          <p:nvPr/>
        </p:nvSpPr>
        <p:spPr>
          <a:xfrm>
            <a:off x="1460500" y="469392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Write the explainers. Only 1 of 6 how-to answers named a bank.</a:t>
            </a:r>
          </a:p>
        </p:txBody>
      </p:sp>
      <p:sp>
        <p:nvSpPr>
          <p:cNvPr id="15" name="TextBox 14"/>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6" name="TextBox 15"/>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7" name="TextBox 16"/>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GEO practitioners: what building this taught me</a:t>
            </a:r>
          </a:p>
        </p:txBody>
      </p:sp>
      <p:sp>
        <p:nvSpPr>
          <p:cNvPr id="5" name="TextBox 4"/>
          <p:cNvSpPr txBox="1"/>
          <p:nvPr/>
        </p:nvSpPr>
        <p:spPr>
          <a:xfrm>
            <a:off x="762000" y="204470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201930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Count only the listed sources. Inline links and source chips inflate citation counts.</a:t>
            </a:r>
          </a:p>
        </p:txBody>
      </p:sp>
      <p:sp>
        <p:nvSpPr>
          <p:cNvPr id="7" name="TextBox 6"/>
          <p:cNvSpPr txBox="1"/>
          <p:nvPr/>
        </p:nvSpPr>
        <p:spPr>
          <a:xfrm>
            <a:off x="762000" y="245618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43078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Unwrap redirects and normalise URLs before counting pages.</a:t>
            </a:r>
          </a:p>
        </p:txBody>
      </p:sp>
      <p:sp>
        <p:nvSpPr>
          <p:cNvPr id="9" name="TextBox 8"/>
          <p:cNvSpPr txBox="1"/>
          <p:nvPr/>
        </p:nvSpPr>
        <p:spPr>
          <a:xfrm>
            <a:off x="762000" y="286766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284226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Render pages built with JavaScript. 19 cited pages needed a headless browser to be read.</a:t>
            </a:r>
          </a:p>
        </p:txBody>
      </p:sp>
      <p:sp>
        <p:nvSpPr>
          <p:cNvPr id="11" name="TextBox 10"/>
          <p:cNvSpPr txBox="1"/>
          <p:nvPr/>
        </p:nvSpPr>
        <p:spPr>
          <a:xfrm>
            <a:off x="762000" y="356362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353822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pages equally in source share, or one long annual report can dominate it.</a:t>
            </a:r>
          </a:p>
        </p:txBody>
      </p:sp>
      <p:sp>
        <p:nvSpPr>
          <p:cNvPr id="13" name="TextBox 12"/>
          <p:cNvSpPr txBox="1"/>
          <p:nvPr/>
        </p:nvSpPr>
        <p:spPr>
          <a:xfrm>
            <a:off x="762000" y="397510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4" name="TextBox 13"/>
          <p:cNvSpPr txBox="1"/>
          <p:nvPr/>
        </p:nvSpPr>
        <p:spPr>
          <a:xfrm>
            <a:off x="1460500" y="394970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answers equally in answer share, so one long answer does not count many times.</a:t>
            </a:r>
          </a:p>
        </p:txBody>
      </p:sp>
      <p:sp>
        <p:nvSpPr>
          <p:cNvPr id="15" name="TextBox 14"/>
          <p:cNvSpPr txBox="1"/>
          <p:nvPr/>
        </p:nvSpPr>
        <p:spPr>
          <a:xfrm>
            <a:off x="762000" y="467106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06</a:t>
            </a:r>
          </a:p>
        </p:txBody>
      </p:sp>
      <p:sp>
        <p:nvSpPr>
          <p:cNvPr id="16" name="TextBox 15"/>
          <p:cNvSpPr txBox="1"/>
          <p:nvPr/>
        </p:nvSpPr>
        <p:spPr>
          <a:xfrm>
            <a:off x="1460500" y="464566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Per-source PAWC needs inline citation markers. Neither engine gave them, so only brand PAWC is reported.</a:t>
            </a:r>
          </a:p>
        </p:txBody>
      </p:sp>
      <p:sp>
        <p:nvSpPr>
          <p:cNvPr id="17" name="TextBox 1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8" name="TextBox 1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9" name="TextBox 1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One run is a snapshot</a:t>
            </a:r>
          </a:p>
        </p:txBody>
      </p:sp>
      <p:sp>
        <p:nvSpPr>
          <p:cNvPr id="5" name="TextBox 4"/>
          <p:cNvSpPr txBox="1"/>
          <p:nvPr/>
        </p:nvSpPr>
        <p:spPr>
          <a:xfrm>
            <a:off x="762000" y="2019300"/>
            <a:ext cx="93345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SparkToro and Gumshoe ran 12 prompts nearly 3,000 times. The same brand list came back less than 1 in 100 times (Search Engine Land, January 2026).</a:t>
            </a:r>
          </a:p>
        </p:txBody>
      </p:sp>
      <p:sp>
        <p:nvSpPr>
          <p:cNvPr id="6" name="TextBox 5"/>
          <p:cNvSpPr txBox="1"/>
          <p:nvPr/>
        </p:nvSpPr>
        <p:spPr>
          <a:xfrm>
            <a:off x="762000" y="2763520"/>
            <a:ext cx="93345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gaps of a few points here as ties: BCA and Bank Jago at 55%, SeaBank at 52.5%.</a:t>
            </a:r>
          </a:p>
        </p:txBody>
      </p:sp>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Next steps</a:t>
            </a:r>
          </a:p>
        </p:txBody>
      </p:sp>
      <p:sp>
        <p:nvSpPr>
          <p:cNvPr id="5" name="TextBox 4"/>
          <p:cNvSpPr txBox="1"/>
          <p:nvPr/>
        </p:nvSpPr>
        <p:spPr>
          <a:xfrm>
            <a:off x="762000" y="204470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Run the same 20 prompts at least four more times, so every number has a range.</a:t>
            </a:r>
          </a:p>
        </p:txBody>
      </p:sp>
      <p:sp>
        <p:nvSpPr>
          <p:cNvPr id="7" name="TextBox 6"/>
          <p:cNvSpPr txBox="1"/>
          <p:nvPr/>
        </p:nvSpPr>
        <p:spPr>
          <a:xfrm>
            <a:off x="762000" y="278892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76352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Add Perplexity, Microsoft Copilot and Google AI Mode.</a:t>
            </a:r>
          </a:p>
        </p:txBody>
      </p:sp>
      <p:sp>
        <p:nvSpPr>
          <p:cNvPr id="9" name="TextBox 8"/>
          <p:cNvSpPr txBox="1"/>
          <p:nvPr/>
        </p:nvSpPr>
        <p:spPr>
          <a:xfrm>
            <a:off x="762000" y="3230879"/>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3205479"/>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the top Gemini comparison articles and record how each one describes each bank.</a:t>
            </a:r>
          </a:p>
        </p:txBody>
      </p:sp>
      <p:sp>
        <p:nvSpPr>
          <p:cNvPr id="11" name="TextBox 10"/>
          <p:cNvSpPr txBox="1"/>
          <p:nvPr/>
        </p:nvSpPr>
        <p:spPr>
          <a:xfrm>
            <a:off x="762000" y="3975100"/>
            <a:ext cx="571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39497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Put the tables in a public dashboard that refreshes after each run.</a:t>
            </a:r>
          </a:p>
        </p:txBody>
      </p:sp>
      <p:sp>
        <p:nvSpPr>
          <p:cNvPr id="13" name="TextBox 12"/>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4" name="TextBox 13"/>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5" name="TextBox 14"/>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10160000" cy="1422400"/>
          </a:xfrm>
          <a:prstGeom prst="rect">
            <a:avLst/>
          </a:prstGeom>
          <a:noFill/>
        </p:spPr>
        <p:txBody>
          <a:bodyPr wrap="square" lIns="0" rIns="0" tIns="0" bIns="0" anchor="t">
            <a:spAutoFit/>
          </a:bodyPr>
          <a:lstStyle/>
          <a:p>
            <a:pPr algn="l">
              <a:lnSpc>
                <a:spcPct val="115000"/>
              </a:lnSpc>
            </a:pPr>
            <a:r>
              <a:rPr sz="4000" b="0">
                <a:solidFill>
                  <a:srgbClr val="ECE7DD"/>
                </a:solidFill>
                <a:latin typeface="Work Sans"/>
              </a:rPr>
              <a:t>Favoured Banks in ChatGPT and Gemini</a:t>
            </a:r>
          </a:p>
        </p:txBody>
      </p:sp>
      <p:sp>
        <p:nvSpPr>
          <p:cNvPr id="3" name="TextBox 2"/>
          <p:cNvSpPr txBox="1"/>
          <p:nvPr/>
        </p:nvSpPr>
        <p:spPr>
          <a:xfrm>
            <a:off x="762000" y="1841500"/>
            <a:ext cx="10160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IBM Plex Mono"/>
              </a:rPr>
              <a:t>Data, code and method: github.com/rgmwnn/geo-bank-visibility</a:t>
            </a:r>
          </a:p>
        </p:txBody>
      </p:sp>
      <p:sp>
        <p:nvSpPr>
          <p:cNvPr id="4" name="TextBox 3"/>
          <p:cNvSpPr txBox="1"/>
          <p:nvPr/>
        </p:nvSpPr>
        <p:spPr>
          <a:xfrm>
            <a:off x="762000" y="2540000"/>
            <a:ext cx="2540000" cy="177800"/>
          </a:xfrm>
          <a:prstGeom prst="rect">
            <a:avLst/>
          </a:prstGeom>
          <a:noFill/>
        </p:spPr>
        <p:txBody>
          <a:bodyPr wrap="square" lIns="0" rIns="0" tIns="0" bIns="0" anchor="t">
            <a:spAutoFit/>
          </a:bodyPr>
          <a:lstStyle/>
          <a:p>
            <a:pPr algn="l">
              <a:lnSpc>
                <a:spcPct val="115000"/>
              </a:lnSpc>
            </a:pPr>
            <a:r>
              <a:rPr sz="1000" b="0" spc="300">
                <a:solidFill>
                  <a:srgbClr val="9A9EA6"/>
                </a:solidFill>
                <a:latin typeface="IBM Plex Mono"/>
              </a:rPr>
              <a:t>SOURCES</a:t>
            </a:r>
          </a:p>
        </p:txBody>
      </p:sp>
      <p:sp>
        <p:nvSpPr>
          <p:cNvPr id="5" name="TextBox 4"/>
          <p:cNvSpPr txBox="1"/>
          <p:nvPr/>
        </p:nvSpPr>
        <p:spPr>
          <a:xfrm>
            <a:off x="762000" y="2819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Aggarwal et al. (2024). GEO: Generative Engine Optimization. KDD 2024. arXiv 2311.09735</a:t>
            </a:r>
          </a:p>
        </p:txBody>
      </p:sp>
      <p:sp>
        <p:nvSpPr>
          <p:cNvPr id="6" name="TextBox 5"/>
          <p:cNvSpPr txBox="1"/>
          <p:nvPr/>
        </p:nvSpPr>
        <p:spPr>
          <a:xfrm>
            <a:off x="762000" y="3048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Writesonic. AI citation source overlap study</a:t>
            </a:r>
          </a:p>
        </p:txBody>
      </p:sp>
      <p:sp>
        <p:nvSpPr>
          <p:cNvPr id="7" name="TextBox 6"/>
          <p:cNvSpPr txBox="1"/>
          <p:nvPr/>
        </p:nvSpPr>
        <p:spPr>
          <a:xfrm>
            <a:off x="762000" y="3276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Ahrefs. AI search overlap with Google results</a:t>
            </a:r>
          </a:p>
        </p:txBody>
      </p:sp>
      <p:sp>
        <p:nvSpPr>
          <p:cNvPr id="8" name="TextBox 7"/>
          <p:cNvSpPr txBox="1"/>
          <p:nvPr/>
        </p:nvSpPr>
        <p:spPr>
          <a:xfrm>
            <a:off x="762000" y="35052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Land. AI recommendation lists rarely repeat (SparkToro and Gumshoe)</a:t>
            </a:r>
          </a:p>
        </p:txBody>
      </p:sp>
      <p:sp>
        <p:nvSpPr>
          <p:cNvPr id="9" name="TextBox 8"/>
          <p:cNvSpPr txBox="1"/>
          <p:nvPr/>
        </p:nvSpPr>
        <p:spPr>
          <a:xfrm>
            <a:off x="762000" y="37338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Nieman Lab (2025). Tow Center study of AI search citations</a:t>
            </a:r>
          </a:p>
        </p:txBody>
      </p:sp>
      <p:sp>
        <p:nvSpPr>
          <p:cNvPr id="10" name="TextBox 9"/>
          <p:cNvSpPr txBox="1"/>
          <p:nvPr/>
        </p:nvSpPr>
        <p:spPr>
          <a:xfrm>
            <a:off x="762000" y="3962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Google Search Central. AI features and your website</a:t>
            </a:r>
          </a:p>
        </p:txBody>
      </p:sp>
      <p:sp>
        <p:nvSpPr>
          <p:cNvPr id="11" name="TextBox 10"/>
          <p:cNvSpPr txBox="1"/>
          <p:nvPr/>
        </p:nvSpPr>
        <p:spPr>
          <a:xfrm>
            <a:off x="762000" y="4191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Journal. OpenAI usage study</a:t>
            </a:r>
          </a:p>
        </p:txBody>
      </p:sp>
      <p:sp>
        <p:nvSpPr>
          <p:cNvPr id="12" name="TextBox 11"/>
          <p:cNvSpPr txBox="1"/>
          <p:nvPr/>
        </p:nvSpPr>
        <p:spPr>
          <a:xfrm>
            <a:off x="762000" y="4419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Bisnis (2023). Akulaku stake in Bank Neo Commerce</a:t>
            </a:r>
          </a:p>
        </p:txBody>
      </p:sp>
      <p:cxnSp>
        <p:nvCxnSpPr>
          <p:cNvPr id="13" name="Connector 12"/>
          <p:cNvCxnSpPr/>
          <p:nvPr/>
        </p:nvCxnSpPr>
        <p:spPr>
          <a:xfrm>
            <a:off x="762000" y="5207000"/>
            <a:ext cx="10668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2000" y="5283200"/>
            <a:ext cx="10668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2000" y="5588000"/>
            <a:ext cx="8255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  ·  data analyst, Indonesia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