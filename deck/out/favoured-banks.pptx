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banks. There is no results page to compete on: a bank is either in the answer or it is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outside numbers set the scene. Information-seeking is a growing share of ChatGPT use, and the pages AI assistants cite are mostly not the pages that rank on Google.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much of the cited web could be read. The list is what the data cannot tell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Outlined cells are the leader in each row. BCA's digital lead comes largely through its apps.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fold in the middle is the comparison: the same sites, two very different weights.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It is a pattern, not a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likely levers based on one snapshot, not tested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came from a bug or a check during the build. The fixes and tests are in the repo history.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905000"/>
            <a:ext cx="10160000" cy="190500"/>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A GEO STUDY  ·  40 AI ANSWERS  ·  09.10.2026</a:t>
            </a:r>
          </a:p>
        </p:txBody>
      </p:sp>
      <p:sp>
        <p:nvSpPr>
          <p:cNvPr id="3" name="TextBox 2"/>
          <p:cNvSpPr txBox="1"/>
          <p:nvPr/>
        </p:nvSpPr>
        <p:spPr>
          <a:xfrm>
            <a:off x="762000" y="2159000"/>
            <a:ext cx="10668000" cy="1333500"/>
          </a:xfrm>
          <a:prstGeom prst="rect">
            <a:avLst/>
          </a:prstGeom>
          <a:noFill/>
        </p:spPr>
        <p:txBody>
          <a:bodyPr wrap="square" lIns="0" rIns="0" tIns="0" bIns="0" anchor="t">
            <a:spAutoFit/>
          </a:bodyPr>
          <a:lstStyle/>
          <a:p>
            <a:pPr algn="l">
              <a:lnSpc>
                <a:spcPct val="115000"/>
              </a:lnSpc>
            </a:pPr>
            <a:r>
              <a:rPr sz="8000" b="0">
                <a:solidFill>
                  <a:srgbClr val="ECE7DD"/>
                </a:solidFill>
                <a:latin typeface="Work Sans"/>
              </a:rPr>
              <a:t>Favoured Banks</a:t>
            </a:r>
          </a:p>
        </p:txBody>
      </p:sp>
      <p:sp>
        <p:nvSpPr>
          <p:cNvPr id="4" name="TextBox 3"/>
          <p:cNvSpPr txBox="1"/>
          <p:nvPr/>
        </p:nvSpPr>
        <p:spPr>
          <a:xfrm>
            <a:off x="762000" y="3556000"/>
            <a:ext cx="7302500" cy="660400"/>
          </a:xfrm>
          <a:prstGeom prst="rect">
            <a:avLst/>
          </a:prstGeom>
          <a:noFill/>
        </p:spPr>
        <p:txBody>
          <a:bodyPr wrap="square" lIns="0" rIns="0" tIns="0" bIns="0" anchor="t">
            <a:spAutoFit/>
          </a:bodyPr>
          <a:lstStyle/>
          <a:p>
            <a:pPr algn="l">
              <a:lnSpc>
                <a:spcPct val="115000"/>
              </a:lnSpc>
            </a:pPr>
            <a:r>
              <a:rPr sz="2000" b="0">
                <a:solidFill>
                  <a:srgbClr val="9A9EA6"/>
                </a:solidFill>
                <a:latin typeface="Work Sans"/>
              </a:rPr>
              <a:t>Which Indonesian banks ChatGPT and Gemini recommend, and which web pages they lean on</a:t>
            </a:r>
          </a:p>
        </p:txBody>
      </p:sp>
      <p:cxnSp>
        <p:nvCxnSpPr>
          <p:cNvPr id="5" name="Connector 4"/>
          <p:cNvCxnSpPr/>
          <p:nvPr/>
        </p:nvCxnSpPr>
        <p:spPr>
          <a:xfrm>
            <a:off x="762000" y="4826000"/>
            <a:ext cx="10668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62000" y="4902200"/>
            <a:ext cx="10668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62000" y="5461000"/>
            <a:ext cx="6350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One question, two answers</a:t>
            </a:r>
          </a:p>
        </p:txBody>
      </p:sp>
      <p:sp>
        <p:nvSpPr>
          <p:cNvPr id="5" name="TextBox 4"/>
          <p:cNvSpPr txBox="1"/>
          <p:nvPr/>
        </p:nvSpPr>
        <p:spPr>
          <a:xfrm>
            <a:off x="762000" y="1826260"/>
            <a:ext cx="9525000" cy="1089660"/>
          </a:xfrm>
          <a:prstGeom prst="rect">
            <a:avLst/>
          </a:prstGeom>
          <a:noFill/>
        </p:spPr>
        <p:txBody>
          <a:bodyPr wrap="square" lIns="0" rIns="0" tIns="0" bIns="0" anchor="t">
            <a:spAutoFit/>
          </a:bodyPr>
          <a:lstStyle/>
          <a:p>
            <a:pPr algn="l">
              <a:lnSpc>
                <a:spcPct val="115000"/>
              </a:lnSpc>
            </a:pPr>
            <a:r>
              <a:rPr sz="2200" b="0">
                <a:solidFill>
                  <a:srgbClr val="ECE7DD"/>
                </a:solidFill>
                <a:latin typeface="Work Sans"/>
              </a:rPr>
              <a:t>“Saya freelancer dengan penghasilan tidak tetap, butuh rekening tanpa saldo minimum dan bisa pisah kantong. Bank apa yang cocok?”</a:t>
            </a:r>
          </a:p>
        </p:txBody>
      </p:sp>
      <p:sp>
        <p:nvSpPr>
          <p:cNvPr id="6" name="TextBox 5"/>
          <p:cNvSpPr txBox="1"/>
          <p:nvPr/>
        </p:nvSpPr>
        <p:spPr>
          <a:xfrm>
            <a:off x="762000" y="2979420"/>
            <a:ext cx="9525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I'm a freelancer with irregular income. I need an account with no minimum balance that lets me split money into pockets. Which bank fits?</a:t>
            </a:r>
          </a:p>
        </p:txBody>
      </p:sp>
      <p:sp>
        <p:nvSpPr>
          <p:cNvPr id="7" name="Rectangle 6"/>
          <p:cNvSpPr/>
          <p:nvPr/>
        </p:nvSpPr>
        <p:spPr>
          <a:xfrm>
            <a:off x="762000" y="3873500"/>
            <a:ext cx="88900" cy="88900"/>
          </a:xfrm>
          <a:prstGeom prst="rect">
            <a:avLst/>
          </a:prstGeom>
          <a:solidFill>
            <a:srgbClr val="D0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3822700"/>
            <a:ext cx="3810000" cy="190500"/>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CHATGPT NAMED</a:t>
            </a:r>
          </a:p>
        </p:txBody>
      </p:sp>
      <p:sp>
        <p:nvSpPr>
          <p:cNvPr id="9" name="TextBox 8"/>
          <p:cNvSpPr txBox="1"/>
          <p:nvPr/>
        </p:nvSpPr>
        <p:spPr>
          <a:xfrm>
            <a:off x="762000" y="4140200"/>
            <a:ext cx="4318000" cy="1188720"/>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Jago</a:t>
            </a:r>
          </a:p>
          <a:p>
            <a:pPr algn="l">
              <a:lnSpc>
                <a:spcPct val="115000"/>
              </a:lnSpc>
            </a:pPr>
            <a:r>
              <a:rPr sz="2400" b="0">
                <a:solidFill>
                  <a:srgbClr val="ECE7DD"/>
                </a:solidFill>
                <a:latin typeface="Work Sans"/>
              </a:rPr>
              <a:t>SeaBank</a:t>
            </a:r>
          </a:p>
        </p:txBody>
      </p:sp>
      <p:sp>
        <p:nvSpPr>
          <p:cNvPr id="10" name="Rectangle 9"/>
          <p:cNvSpPr/>
          <p:nvPr/>
        </p:nvSpPr>
        <p:spPr>
          <a:xfrm>
            <a:off x="5588000" y="3873500"/>
            <a:ext cx="88900" cy="88900"/>
          </a:xfrm>
          <a:prstGeom prst="rect">
            <a:avLst/>
          </a:prstGeom>
          <a:solidFill>
            <a:srgbClr val="479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8500" y="3822700"/>
            <a:ext cx="3810000" cy="190500"/>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GEMINI NAMED</a:t>
            </a:r>
          </a:p>
        </p:txBody>
      </p:sp>
      <p:sp>
        <p:nvSpPr>
          <p:cNvPr id="12" name="TextBox 11"/>
          <p:cNvSpPr txBox="1"/>
          <p:nvPr/>
        </p:nvSpPr>
        <p:spPr>
          <a:xfrm>
            <a:off x="5588000" y="4140200"/>
            <a:ext cx="4318000" cy="1188720"/>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BTPN (Jenius)</a:t>
            </a:r>
          </a:p>
          <a:p>
            <a:pPr algn="l">
              <a:lnSpc>
                <a:spcPct val="115000"/>
              </a:lnSpc>
            </a:pPr>
            <a:r>
              <a:rPr sz="2400" b="0">
                <a:solidFill>
                  <a:srgbClr val="ECE7DD"/>
                </a:solidFill>
                <a:latin typeface="Work Sans"/>
              </a:rPr>
              <a:t>Bank Jago</a:t>
            </a:r>
          </a:p>
        </p:txBody>
      </p:sp>
      <p:sp>
        <p:nvSpPr>
          <p:cNvPr id="13" name="TextBox 1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4" name="TextBox 1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5" name="TextBox 1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02</a:t>
            </a:r>
          </a:p>
        </p:txBody>
      </p:sp>
      <p:sp>
        <p:nvSpPr>
          <p:cNvPr id="16" name="TextBox 15"/>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Prompt 13 of 20  ·  run on 09.10.2026  ·  source: data/interim/mentions.csv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9525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People now ask for answers. A strong Google rank is a weak guide to who gets cited.</a:t>
            </a:r>
          </a:p>
        </p:txBody>
      </p:sp>
      <p:sp>
        <p:nvSpPr>
          <p:cNvPr id="3" name="TextBox 2"/>
          <p:cNvSpPr txBox="1"/>
          <p:nvPr/>
        </p:nvSpPr>
        <p:spPr>
          <a:xfrm>
            <a:off x="762000" y="2476500"/>
            <a:ext cx="5207000" cy="127000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14% → 24%</a:t>
            </a:r>
          </a:p>
        </p:txBody>
      </p:sp>
      <p:sp>
        <p:nvSpPr>
          <p:cNvPr id="4" name="TextBox 3"/>
          <p:cNvSpPr txBox="1"/>
          <p:nvPr/>
        </p:nvSpPr>
        <p:spPr>
          <a:xfrm>
            <a:off x="762000" y="3810000"/>
            <a:ext cx="4572000" cy="52832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share of ChatGPT conversations that seek information, a year apart</a:t>
            </a:r>
          </a:p>
        </p:txBody>
      </p:sp>
      <p:sp>
        <p:nvSpPr>
          <p:cNvPr id="5" name="TextBox 4"/>
          <p:cNvSpPr txBox="1"/>
          <p:nvPr/>
        </p:nvSpPr>
        <p:spPr>
          <a:xfrm>
            <a:off x="762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OpenAI usage study, via Search Engine Journal</a:t>
            </a:r>
          </a:p>
        </p:txBody>
      </p:sp>
      <p:sp>
        <p:nvSpPr>
          <p:cNvPr id="6" name="TextBox 5"/>
          <p:cNvSpPr txBox="1"/>
          <p:nvPr/>
        </p:nvSpPr>
        <p:spPr>
          <a:xfrm>
            <a:off x="6223000" y="2476500"/>
            <a:ext cx="5207000" cy="127000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12%</a:t>
            </a:r>
          </a:p>
        </p:txBody>
      </p:sp>
      <p:sp>
        <p:nvSpPr>
          <p:cNvPr id="7" name="TextBox 6"/>
          <p:cNvSpPr txBox="1"/>
          <p:nvPr/>
        </p:nvSpPr>
        <p:spPr>
          <a:xfrm>
            <a:off x="6223000" y="3810000"/>
            <a:ext cx="4572000" cy="52832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URLs cited by AI assistants rank in Google's top 10 for the same query</a:t>
            </a:r>
          </a:p>
        </p:txBody>
      </p:sp>
      <p:sp>
        <p:nvSpPr>
          <p:cNvPr id="8" name="TextBox 7"/>
          <p:cNvSpPr txBox="1"/>
          <p:nvPr/>
        </p:nvSpPr>
        <p:spPr>
          <a:xfrm>
            <a:off x="6223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Ahrefs, 15,000 prompts</a:t>
            </a:r>
          </a:p>
        </p:txBody>
      </p:sp>
      <p:cxnSp>
        <p:nvCxnSpPr>
          <p:cNvPr id="9" name="Connector 8"/>
          <p:cNvCxnSpPr/>
          <p:nvPr/>
        </p:nvCxnSpPr>
        <p:spPr>
          <a:xfrm>
            <a:off x="762000" y="5715000"/>
            <a:ext cx="1524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62000" y="5791200"/>
            <a:ext cx="1524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Three questions</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banks does each engine name, how early, and in what tone?</a:t>
            </a:r>
          </a:p>
        </p:txBody>
      </p:sp>
      <p:sp>
        <p:nvSpPr>
          <p:cNvPr id="7" name="TextBox 6"/>
          <p:cNvSpPr txBox="1"/>
          <p:nvPr/>
        </p:nvSpPr>
        <p:spPr>
          <a:xfrm>
            <a:off x="762000" y="242697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40157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sources does each engine cite, and do the two engines agree?</a:t>
            </a:r>
          </a:p>
        </p:txBody>
      </p:sp>
      <p:sp>
        <p:nvSpPr>
          <p:cNvPr id="9" name="TextBox 8"/>
          <p:cNvSpPr txBox="1"/>
          <p:nvPr/>
        </p:nvSpPr>
        <p:spPr>
          <a:xfrm>
            <a:off x="762000" y="28473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282194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Where does a bank's share of the answers differ from its share of the cited pages?</a:t>
            </a:r>
          </a:p>
        </p:txBody>
      </p:sp>
      <p:sp>
        <p:nvSpPr>
          <p:cNvPr id="11" name="TextBox 10"/>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2" name="TextBox 11"/>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3" name="TextBox 12"/>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a:t>
            </a:r>
          </a:p>
        </p:txBody>
      </p:sp>
      <p:sp>
        <p:nvSpPr>
          <p:cNvPr id="3" name="TextBox 2"/>
          <p:cNvSpPr txBox="1"/>
          <p:nvPr/>
        </p:nvSpPr>
        <p:spPr>
          <a:xfrm>
            <a:off x="0" y="2794000"/>
            <a:ext cx="12192000" cy="9906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Method</a:t>
            </a:r>
          </a:p>
        </p:txBody>
      </p:sp>
      <p:sp>
        <p:nvSpPr>
          <p:cNvPr id="4" name="TextBox 3"/>
          <p:cNvSpPr txBox="1"/>
          <p:nvPr/>
        </p:nvSpPr>
        <p:spPr>
          <a:xfrm>
            <a:off x="0" y="3937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20 prompts, 2 engines, one day</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2877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20 everyday banking questions, asked in Bahasa Indonesia</a:t>
            </a:r>
          </a:p>
        </p:txBody>
      </p:sp>
      <p:sp>
        <p:nvSpPr>
          <p:cNvPr id="5" name="TextBox 4"/>
          <p:cNvSpPr txBox="1"/>
          <p:nvPr/>
        </p:nvSpPr>
        <p:spPr>
          <a:xfrm>
            <a:off x="762000" y="265938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5 customer needs by 5 question types. Only 3 prompts name a bank, all of them comparisons.</a:t>
            </a:r>
          </a:p>
        </p:txBody>
      </p:sp>
      <p:sp>
        <p:nvSpPr>
          <p:cNvPr id="6" name="TextBox 5"/>
          <p:cNvSpPr txBox="1"/>
          <p:nvPr/>
        </p:nvSpPr>
        <p:spPr>
          <a:xfrm>
            <a:off x="762000" y="344170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prompt was asked once in ChatGPT and once in Gemini, with a request for 10 sources.</a:t>
            </a:r>
          </a:p>
        </p:txBody>
      </p:sp>
      <p:sp>
        <p:nvSpPr>
          <p:cNvPr id="7" name="TextBox 6"/>
          <p:cNvSpPr txBox="1"/>
          <p:nvPr/>
        </p:nvSpPr>
        <p:spPr>
          <a:xfrm>
            <a:off x="762000" y="4224020"/>
            <a:ext cx="3810000" cy="23114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lit circle is prompt 13, the cold open.</a:t>
            </a:r>
          </a:p>
        </p:txBody>
      </p:sp>
      <p:pic>
        <p:nvPicPr>
          <p:cNvPr id="8" name="Picture 7" descr="prompt_grid.png"/>
          <p:cNvPicPr>
            <a:picLocks noChangeAspect="1"/>
          </p:cNvPicPr>
          <p:nvPr/>
        </p:nvPicPr>
        <p:blipFill>
          <a:blip r:embed="rId2"/>
          <a:stretch>
            <a:fillRect/>
          </a:stretch>
        </p:blipFill>
        <p:spPr>
          <a:xfrm>
            <a:off x="4889500" y="1794933"/>
            <a:ext cx="6731000" cy="3141133"/>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From 40 answers to 195 readable source pages</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step is code in the public repo, covered by tests. Only links under each answer's source list count as citations.</a:t>
            </a:r>
          </a:p>
        </p:txBody>
      </p:sp>
      <p:pic>
        <p:nvPicPr>
          <p:cNvPr id="6" name="Picture 5" descr="pipeline.png"/>
          <p:cNvPicPr>
            <a:picLocks noChangeAspect="1"/>
          </p:cNvPicPr>
          <p:nvPr/>
        </p:nvPicPr>
        <p:blipFill>
          <a:blip r:embed="rId2"/>
          <a:stretch>
            <a:fillRect/>
          </a:stretch>
        </p:blipFill>
        <p:spPr>
          <a:xfrm>
            <a:off x="1441196" y="2275840"/>
            <a:ext cx="9309607" cy="332485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07</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code and data: github.com/rgmwnn/geo-bank-visibility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is measured</a:t>
            </a:r>
          </a:p>
        </p:txBody>
      </p:sp>
      <p:sp>
        <p:nvSpPr>
          <p:cNvPr id="5" name="TextBox 4"/>
          <p:cNvSpPr txBox="1"/>
          <p:nvPr/>
        </p:nvSpPr>
        <p:spPr>
          <a:xfrm>
            <a:off x="762000" y="1724660"/>
            <a:ext cx="5207000" cy="231140"/>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Mention rate</a:t>
            </a:r>
          </a:p>
        </p:txBody>
      </p:sp>
      <p:sp>
        <p:nvSpPr>
          <p:cNvPr id="6" name="TextBox 5"/>
          <p:cNvSpPr txBox="1"/>
          <p:nvPr/>
        </p:nvSpPr>
        <p:spPr>
          <a:xfrm>
            <a:off x="762000" y="1953260"/>
            <a:ext cx="5207000" cy="19812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share of answers that name the bank</a:t>
            </a:r>
          </a:p>
        </p:txBody>
      </p:sp>
      <p:sp>
        <p:nvSpPr>
          <p:cNvPr id="7" name="TextBox 6"/>
          <p:cNvSpPr txBox="1"/>
          <p:nvPr/>
        </p:nvSpPr>
        <p:spPr>
          <a:xfrm>
            <a:off x="762000" y="2227580"/>
            <a:ext cx="5207000" cy="231140"/>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AI share of voice</a:t>
            </a:r>
          </a:p>
        </p:txBody>
      </p:sp>
      <p:sp>
        <p:nvSpPr>
          <p:cNvPr id="8" name="TextBox 7"/>
          <p:cNvSpPr txBox="1"/>
          <p:nvPr/>
        </p:nvSpPr>
        <p:spPr>
          <a:xfrm>
            <a:off x="762000" y="2456180"/>
            <a:ext cx="5207000" cy="19812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each answer weighted equally</a:t>
            </a:r>
          </a:p>
        </p:txBody>
      </p:sp>
      <p:sp>
        <p:nvSpPr>
          <p:cNvPr id="9" name="TextBox 8"/>
          <p:cNvSpPr txBox="1"/>
          <p:nvPr/>
        </p:nvSpPr>
        <p:spPr>
          <a:xfrm>
            <a:off x="762000" y="2730500"/>
            <a:ext cx="5207000" cy="231140"/>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Brand PAWC</a:t>
            </a:r>
          </a:p>
        </p:txBody>
      </p:sp>
      <p:sp>
        <p:nvSpPr>
          <p:cNvPr id="10" name="TextBox 9"/>
          <p:cNvSpPr txBox="1"/>
          <p:nvPr/>
        </p:nvSpPr>
        <p:spPr>
          <a:xfrm>
            <a:off x="762000" y="2959100"/>
            <a:ext cx="5207000" cy="39624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how much of an answer is about the bank, earlier sentences weighted more</a:t>
            </a:r>
          </a:p>
        </p:txBody>
      </p:sp>
      <p:sp>
        <p:nvSpPr>
          <p:cNvPr id="11" name="TextBox 10"/>
          <p:cNvSpPr txBox="1"/>
          <p:nvPr/>
        </p:nvSpPr>
        <p:spPr>
          <a:xfrm>
            <a:off x="762000" y="3431540"/>
            <a:ext cx="5207000" cy="231140"/>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Source share of voice</a:t>
            </a:r>
          </a:p>
        </p:txBody>
      </p:sp>
      <p:sp>
        <p:nvSpPr>
          <p:cNvPr id="12" name="TextBox 11"/>
          <p:cNvSpPr txBox="1"/>
          <p:nvPr/>
        </p:nvSpPr>
        <p:spPr>
          <a:xfrm>
            <a:off x="762000" y="3660140"/>
            <a:ext cx="5207000" cy="19812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in the readable cited pages</a:t>
            </a:r>
          </a:p>
        </p:txBody>
      </p:sp>
      <p:sp>
        <p:nvSpPr>
          <p:cNvPr id="13" name="TextBox 12"/>
          <p:cNvSpPr txBox="1"/>
          <p:nvPr/>
        </p:nvSpPr>
        <p:spPr>
          <a:xfrm>
            <a:off x="762000" y="3934460"/>
            <a:ext cx="5207000" cy="231140"/>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SOV gap</a:t>
            </a:r>
          </a:p>
        </p:txBody>
      </p:sp>
      <p:sp>
        <p:nvSpPr>
          <p:cNvPr id="14" name="TextBox 13"/>
          <p:cNvSpPr txBox="1"/>
          <p:nvPr/>
        </p:nvSpPr>
        <p:spPr>
          <a:xfrm>
            <a:off x="762000" y="4163060"/>
            <a:ext cx="5207000" cy="19812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AI share of voice minus source share of voice</a:t>
            </a:r>
          </a:p>
        </p:txBody>
      </p:sp>
      <p:sp>
        <p:nvSpPr>
          <p:cNvPr id="15" name="TextBox 14"/>
          <p:cNvSpPr txBox="1"/>
          <p:nvPr/>
        </p:nvSpPr>
        <p:spPr>
          <a:xfrm>
            <a:off x="762000" y="4437380"/>
            <a:ext cx="5207000" cy="231140"/>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VIS</a:t>
            </a:r>
          </a:p>
        </p:txBody>
      </p:sp>
      <p:sp>
        <p:nvSpPr>
          <p:cNvPr id="16" name="TextBox 15"/>
          <p:cNvSpPr txBox="1"/>
          <p:nvPr/>
        </p:nvSpPr>
        <p:spPr>
          <a:xfrm>
            <a:off x="762000" y="4665980"/>
            <a:ext cx="5207000" cy="39624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0 to 100: equal mix of PAWC, source authority, sentiment and coverage of both engines</a:t>
            </a:r>
          </a:p>
        </p:txBody>
      </p:sp>
      <p:pic>
        <p:nvPicPr>
          <p:cNvPr id="17" name="Picture 16" descr="pawc_curve.png"/>
          <p:cNvPicPr>
            <a:picLocks noChangeAspect="1"/>
          </p:cNvPicPr>
          <p:nvPr/>
        </p:nvPicPr>
        <p:blipFill>
          <a:blip r:embed="rId2"/>
          <a:stretch>
            <a:fillRect/>
          </a:stretch>
        </p:blipFill>
        <p:spPr>
          <a:xfrm>
            <a:off x="6350000" y="1905000"/>
            <a:ext cx="5080000" cy="2540000"/>
          </a:xfrm>
          <a:prstGeom prst="rect">
            <a:avLst/>
          </a:prstGeom>
        </p:spPr>
      </p:pic>
      <p:sp>
        <p:nvSpPr>
          <p:cNvPr id="18" name="TextBox 1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9" name="TextBox 1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20" name="TextBox 1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08</a:t>
            </a:r>
          </a:p>
        </p:txBody>
      </p:sp>
      <p:sp>
        <p:nvSpPr>
          <p:cNvPr id="21" name="TextBox 2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PAWC adapted from Aggarwal et al., GEO: Generative Engine Optimization, KDD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evidence, and what it cannot show</a:t>
            </a:r>
          </a:p>
        </p:txBody>
      </p:sp>
      <p:sp>
        <p:nvSpPr>
          <p:cNvPr id="5" name="TextBox 4"/>
          <p:cNvSpPr txBox="1"/>
          <p:nvPr/>
        </p:nvSpPr>
        <p:spPr>
          <a:xfrm>
            <a:off x="762000" y="223012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One run per prompt per engine: a snapshot.</a:t>
            </a:r>
          </a:p>
        </p:txBody>
      </p:sp>
      <p:sp>
        <p:nvSpPr>
          <p:cNvPr id="6" name="TextBox 5"/>
          <p:cNvSpPr txBox="1"/>
          <p:nvPr/>
        </p:nvSpPr>
        <p:spPr>
          <a:xfrm>
            <a:off x="762000" y="278130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Asking for 10 sources makes both engines cite more than usual.</a:t>
            </a:r>
          </a:p>
        </p:txBody>
      </p:sp>
      <p:sp>
        <p:nvSpPr>
          <p:cNvPr id="7" name="TextBox 6"/>
          <p:cNvSpPr txBox="1"/>
          <p:nvPr/>
        </p:nvSpPr>
        <p:spPr>
          <a:xfrm>
            <a:off x="762000" y="333248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10 of 20 prompts lean digital: they name digital banks or ask about apps.</a:t>
            </a:r>
          </a:p>
        </p:txBody>
      </p:sp>
      <p:sp>
        <p:nvSpPr>
          <p:cNvPr id="8" name="TextBox 7"/>
          <p:cNvSpPr txBox="1"/>
          <p:nvPr/>
        </p:nvSpPr>
        <p:spPr>
          <a:xfrm>
            <a:off x="762000" y="388366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Claude labelled sentiment and site types; RG spot-checked a sample.</a:t>
            </a:r>
          </a:p>
        </p:txBody>
      </p:sp>
      <p:sp>
        <p:nvSpPr>
          <p:cNvPr id="9" name="TextBox 8"/>
          <p:cNvSpPr txBox="1"/>
          <p:nvPr/>
        </p:nvSpPr>
        <p:spPr>
          <a:xfrm>
            <a:off x="762000" y="443484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Pages that blocked the crawler drop out of page-level measures.</a:t>
            </a:r>
          </a:p>
        </p:txBody>
      </p:sp>
      <p:sp>
        <p:nvSpPr>
          <p:cNvPr id="10" name="TextBox 9"/>
          <p:cNvSpPr txBox="1"/>
          <p:nvPr/>
        </p:nvSpPr>
        <p:spPr>
          <a:xfrm>
            <a:off x="762000" y="498602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Banks named in fewer than 3 answers are marked low n.</a:t>
            </a:r>
          </a:p>
        </p:txBody>
      </p:sp>
      <p:pic>
        <p:nvPicPr>
          <p:cNvPr id="11" name="Picture 10" descr="funnel.png"/>
          <p:cNvPicPr>
            <a:picLocks noChangeAspect="1"/>
          </p:cNvPicPr>
          <p:nvPr/>
        </p:nvPicPr>
        <p:blipFill>
          <a:blip r:embed="rId2"/>
          <a:stretch>
            <a:fillRect/>
          </a:stretch>
        </p:blipFill>
        <p:spPr>
          <a:xfrm>
            <a:off x="4889500" y="1750060"/>
            <a:ext cx="6731000" cy="3230880"/>
          </a:xfrm>
          <a:prstGeom prst="rect">
            <a:avLst/>
          </a:prstGeom>
        </p:spPr>
      </p:pic>
      <p:sp>
        <p:nvSpPr>
          <p:cNvPr id="12" name="TextBox 11"/>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3" name="TextBox 12"/>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4" name="TextBox 13"/>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09</a:t>
            </a:r>
          </a:p>
        </p:txBody>
      </p:sp>
      <p:sp>
        <p:nvSpPr>
          <p:cNvPr id="15" name="TextBox 14"/>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page_brand_counts.csv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a:t>
            </a:r>
          </a:p>
        </p:txBody>
      </p:sp>
      <p:sp>
        <p:nvSpPr>
          <p:cNvPr id="3" name="TextBox 2"/>
          <p:cNvSpPr txBox="1"/>
          <p:nvPr/>
        </p:nvSpPr>
        <p:spPr>
          <a:xfrm>
            <a:off x="0" y="2794000"/>
            <a:ext cx="12192000" cy="9906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answers</a:t>
            </a:r>
          </a:p>
        </p:txBody>
      </p:sp>
      <p:sp>
        <p:nvSpPr>
          <p:cNvPr id="4" name="TextBox 3"/>
          <p:cNvSpPr txBox="1"/>
          <p:nvPr/>
        </p:nvSpPr>
        <p:spPr>
          <a:xfrm>
            <a:off x="0" y="3937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Who gets named, how early, and in what tone</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71704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Bank Jago and SeaBank are each named in more than half of all answers</a:t>
            </a:r>
          </a:p>
        </p:txBody>
      </p:sp>
      <p:sp>
        <p:nvSpPr>
          <p:cNvPr id="5" name="TextBox 4"/>
          <p:cNvSpPr txBox="1"/>
          <p:nvPr/>
        </p:nvSpPr>
        <p:spPr>
          <a:xfrm>
            <a:off x="762000" y="308864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appear in 22 of 40 answers, SeaBank in 21, BRI in 12.</a:t>
            </a:r>
          </a:p>
        </p:txBody>
      </p:sp>
      <p:pic>
        <p:nvPicPr>
          <p:cNvPr id="6" name="Picture 5" descr="mention_dots.png"/>
          <p:cNvPicPr>
            <a:picLocks noChangeAspect="1"/>
          </p:cNvPicPr>
          <p:nvPr/>
        </p:nvPicPr>
        <p:blipFill>
          <a:blip r:embed="rId2"/>
          <a:stretch>
            <a:fillRect/>
          </a:stretch>
        </p:blipFill>
        <p:spPr>
          <a:xfrm>
            <a:off x="4889500" y="1540144"/>
            <a:ext cx="6731000" cy="3650711"/>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11</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top 10 banks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has the highest visibility score</a:t>
            </a:r>
          </a:p>
        </p:txBody>
      </p:sp>
      <p:sp>
        <p:nvSpPr>
          <p:cNvPr id="5" name="TextBox 4"/>
          <p:cNvSpPr txBox="1"/>
          <p:nvPr/>
        </p:nvSpPr>
        <p:spPr>
          <a:xfrm>
            <a:off x="762000" y="223012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VIS 93.2 for BCA, then Bank Jago 89.6, BRI 89.5 and SeaBank 85.7.</a:t>
            </a:r>
          </a:p>
        </p:txBody>
      </p:sp>
      <p:sp>
        <p:nvSpPr>
          <p:cNvPr id="6" name="TextBox 5"/>
          <p:cNvSpPr txBox="1"/>
          <p:nvPr/>
        </p:nvSpPr>
        <p:spPr>
          <a:xfrm>
            <a:off x="762000" y="278130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Dashed bars are banks named in fewer than 3 answers. Read those as unranked.</a:t>
            </a:r>
          </a:p>
        </p:txBody>
      </p:sp>
      <p:pic>
        <p:nvPicPr>
          <p:cNvPr id="7" name="Picture 6" descr="vis_rank.png"/>
          <p:cNvPicPr>
            <a:picLocks noChangeAspect="1"/>
          </p:cNvPicPr>
          <p:nvPr/>
        </p:nvPicPr>
        <p:blipFill>
          <a:blip r:embed="rId2"/>
          <a:stretch>
            <a:fillRect/>
          </a:stretch>
        </p:blipFill>
        <p:spPr>
          <a:xfrm>
            <a:off x="4889500" y="1369016"/>
            <a:ext cx="6731000" cy="3992966"/>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data/processed/vis.csv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 names a wider field: 18 banks against ChatGPT's 11</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Bright marks are banks only one engine named. Gemini alone named Bank BTPN (Jenius) in 5 answers and Superbank in 4.</a:t>
            </a:r>
          </a:p>
        </p:txBody>
      </p:sp>
      <p:pic>
        <p:nvPicPr>
          <p:cNvPr id="6" name="Picture 5" descr="wider_field.png"/>
          <p:cNvPicPr>
            <a:picLocks noChangeAspect="1"/>
          </p:cNvPicPr>
          <p:nvPr/>
        </p:nvPicPr>
        <p:blipFill>
          <a:blip r:embed="rId2"/>
          <a:stretch>
            <a:fillRect/>
          </a:stretch>
        </p:blipFill>
        <p:spPr>
          <a:xfrm>
            <a:off x="762000" y="2275840"/>
            <a:ext cx="10668000" cy="27305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13</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Each customer need has its own leading bank</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Fees and rates: Bank Jago and SeaBank (80%). Digital experience: BCA (88%). Safety: Bank Jago (63%). Service: BRI (63%). Trust: BCA (50%).</a:t>
            </a:r>
          </a:p>
        </p:txBody>
      </p:sp>
      <p:pic>
        <p:nvPicPr>
          <p:cNvPr id="6" name="Picture 5" descr="pillar_heatmap.png"/>
          <p:cNvPicPr>
            <a:picLocks noChangeAspect="1"/>
          </p:cNvPicPr>
          <p:nvPr/>
        </p:nvPicPr>
        <p:blipFill>
          <a:blip r:embed="rId2"/>
          <a:stretch>
            <a:fillRect/>
          </a:stretch>
        </p:blipFill>
        <p:spPr>
          <a:xfrm>
            <a:off x="1108710" y="2275840"/>
            <a:ext cx="9974579" cy="332485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14</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data/processed/brand_pillar.csv  ·  share of answers in each pillar that name the bank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2877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Named often and named early go together</a:t>
            </a:r>
          </a:p>
        </p:txBody>
      </p:sp>
      <p:sp>
        <p:nvSpPr>
          <p:cNvPr id="5" name="TextBox 4"/>
          <p:cNvSpPr txBox="1"/>
          <p:nvPr/>
        </p:nvSpPr>
        <p:spPr>
          <a:xfrm>
            <a:off x="762000" y="265938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lead on both measures.</a:t>
            </a:r>
          </a:p>
        </p:txBody>
      </p:sp>
      <p:sp>
        <p:nvSpPr>
          <p:cNvPr id="6" name="TextBox 5"/>
          <p:cNvSpPr txBox="1"/>
          <p:nvPr/>
        </p:nvSpPr>
        <p:spPr>
          <a:xfrm>
            <a:off x="762000" y="3210560"/>
            <a:ext cx="3810000" cy="9245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 scores higher on PAWC than SeaBank while appearing in fewer answers: when BRI is named, it takes up more of the answer.</a:t>
            </a:r>
          </a:p>
        </p:txBody>
      </p:sp>
      <p:pic>
        <p:nvPicPr>
          <p:cNvPr id="7" name="Picture 6" descr="often_vs_early.png"/>
          <p:cNvPicPr>
            <a:picLocks noChangeAspect="1"/>
          </p:cNvPicPr>
          <p:nvPr/>
        </p:nvPicPr>
        <p:blipFill>
          <a:blip r:embed="rId2"/>
          <a:stretch>
            <a:fillRect/>
          </a:stretch>
        </p:blipFill>
        <p:spPr>
          <a:xfrm>
            <a:off x="4889500" y="1540144"/>
            <a:ext cx="6731000" cy="3650711"/>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15</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banks named in at least 3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answer was negative about a bank</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Of 137 answer and bank pairs, 117 are positive. The 6 mixed labels attach a condition, such as a minimum balance for free transfers. Being named at all is what to measure.</a:t>
            </a:r>
          </a:p>
        </p:txBody>
      </p:sp>
      <p:pic>
        <p:nvPicPr>
          <p:cNvPr id="6" name="Picture 5" descr="sentiment_marks.png"/>
          <p:cNvPicPr>
            <a:picLocks noChangeAspect="1"/>
          </p:cNvPicPr>
          <p:nvPr/>
        </p:nvPicPr>
        <p:blipFill>
          <a:blip r:embed="rId2"/>
          <a:stretch>
            <a:fillRect/>
          </a:stretch>
        </p:blipFill>
        <p:spPr>
          <a:xfrm>
            <a:off x="762000" y="2275840"/>
            <a:ext cx="10668000" cy="24130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16</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data/labels/sentiment.csv  ·  labelled by Claude, spot-checked by RG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How-to answers rarely name a bank</a:t>
            </a:r>
          </a:p>
        </p:txBody>
      </p:sp>
      <p:sp>
        <p:nvSpPr>
          <p:cNvPr id="5" name="TextBox 4"/>
          <p:cNvSpPr txBox="1"/>
          <p:nvPr/>
        </p:nvSpPr>
        <p:spPr>
          <a:xfrm>
            <a:off x="762000" y="223012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Every best and decision-brief answer named at least one bank.</a:t>
            </a:r>
          </a:p>
        </p:txBody>
      </p:sp>
      <p:sp>
        <p:nvSpPr>
          <p:cNvPr id="6" name="TextBox 5"/>
          <p:cNvSpPr txBox="1"/>
          <p:nvPr/>
        </p:nvSpPr>
        <p:spPr>
          <a:xfrm>
            <a:off x="762000" y="278130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 of 6 how-to answers did. Explainers on deposit insurance, scams and complaints are a gap for banks.</a:t>
            </a:r>
          </a:p>
        </p:txBody>
      </p:sp>
      <p:pic>
        <p:nvPicPr>
          <p:cNvPr id="7" name="Picture 6" descr="intent_named.png"/>
          <p:cNvPicPr>
            <a:picLocks noChangeAspect="1"/>
          </p:cNvPicPr>
          <p:nvPr/>
        </p:nvPicPr>
        <p:blipFill>
          <a:blip r:embed="rId2"/>
          <a:stretch>
            <a:fillRect/>
          </a:stretch>
        </p:blipFill>
        <p:spPr>
          <a:xfrm>
            <a:off x="4889500" y="1896918"/>
            <a:ext cx="6731000" cy="2937163"/>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17</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data/processed/no_brand_rate.csv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III</a:t>
            </a:r>
          </a:p>
        </p:txBody>
      </p:sp>
      <p:sp>
        <p:nvSpPr>
          <p:cNvPr id="3" name="TextBox 2"/>
          <p:cNvSpPr txBox="1"/>
          <p:nvPr/>
        </p:nvSpPr>
        <p:spPr>
          <a:xfrm>
            <a:off x="0" y="2794000"/>
            <a:ext cx="12192000" cy="9906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sources</a:t>
            </a:r>
          </a:p>
        </p:txBody>
      </p:sp>
      <p:sp>
        <p:nvSpPr>
          <p:cNvPr id="4" name="TextBox 3"/>
          <p:cNvSpPr txBox="1"/>
          <p:nvPr/>
        </p:nvSpPr>
        <p:spPr>
          <a:xfrm>
            <a:off x="0" y="3937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pages the engines lean on</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cites banks and regulators. Gemini cites fintech, blog and news sites.</a:t>
            </a:r>
          </a:p>
        </p:txBody>
      </p:sp>
      <p:sp>
        <p:nvSpPr>
          <p:cNvPr id="5" name="TextBox 4"/>
          <p:cNvSpPr txBox="1"/>
          <p:nvPr/>
        </p:nvSpPr>
        <p:spPr>
          <a:xfrm>
            <a:off x="762000" y="212852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89% of ChatGPT's citations go to bank and regulator sites. 61% of Gemini's go to fintech platforms, blogs and news.</a:t>
            </a:r>
          </a:p>
        </p:txBody>
      </p:sp>
      <p:pic>
        <p:nvPicPr>
          <p:cNvPr id="6" name="Picture 5" descr="source_mix.png"/>
          <p:cNvPicPr>
            <a:picLocks noChangeAspect="1"/>
          </p:cNvPicPr>
          <p:nvPr/>
        </p:nvPicPr>
        <p:blipFill>
          <a:blip r:embed="rId2"/>
          <a:stretch>
            <a:fillRect/>
          </a:stretch>
        </p:blipFill>
        <p:spPr>
          <a:xfrm>
            <a:off x="808382" y="2705100"/>
            <a:ext cx="10575234" cy="289559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19</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data/processed/domain_type_mix.csv  ·  each share rounded on its own, so sums can differ by 1 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two engines barely share a source</a:t>
            </a:r>
          </a:p>
        </p:txBody>
      </p:sp>
      <p:sp>
        <p:nvSpPr>
          <p:cNvPr id="5" name="TextBox 4"/>
          <p:cNvSpPr txBox="1"/>
          <p:nvPr/>
        </p:nvSpPr>
        <p:spPr>
          <a:xfrm>
            <a:off x="762000" y="223012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21 of 97 sites and 11 of 243 pages are cited by both. That is a Jaccard overlap of 0.22 for sites and 0.05 for pages.</a:t>
            </a:r>
          </a:p>
        </p:txBody>
      </p:sp>
      <p:sp>
        <p:nvSpPr>
          <p:cNvPr id="6" name="TextBox 5"/>
          <p:cNvSpPr txBox="1"/>
          <p:nvPr/>
        </p:nvSpPr>
        <p:spPr>
          <a:xfrm>
            <a:off x="762000" y="3012440"/>
            <a:ext cx="3810000" cy="9245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Writesonic found 0.119 between ChatGPT and Gemini across 88,969 prompts, without saying whether it compared pages or sites.</a:t>
            </a:r>
          </a:p>
        </p:txBody>
      </p:sp>
      <p:pic>
        <p:nvPicPr>
          <p:cNvPr id="7" name="Picture 6" descr="overlap.png"/>
          <p:cNvPicPr>
            <a:picLocks noChangeAspect="1"/>
          </p:cNvPicPr>
          <p:nvPr/>
        </p:nvPicPr>
        <p:blipFill>
          <a:blip r:embed="rId2"/>
          <a:stretch>
            <a:fillRect/>
          </a:stretch>
        </p:blipFill>
        <p:spPr>
          <a:xfrm>
            <a:off x="4889500" y="1652154"/>
            <a:ext cx="6731000" cy="3426690"/>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20</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  Writesonic, AI citation source overlap study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Most cited sites: ChatGPT on the left, Gemini on the right</a:t>
            </a:r>
          </a:p>
        </p:txBody>
      </p:sp>
      <p:sp>
        <p:nvSpPr>
          <p:cNvPr id="5" name="TextBox 4"/>
          <p:cNvSpPr txBox="1"/>
          <p:nvPr/>
        </p:nvSpPr>
        <p:spPr>
          <a:xfrm>
            <a:off x="762000" y="1699260"/>
            <a:ext cx="8572500" cy="23114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and regulator sites lead for ChatGPT. Fazz, Akulaku and Zaipad are cited only by Gemini.</a:t>
            </a:r>
          </a:p>
        </p:txBody>
      </p:sp>
      <p:pic>
        <p:nvPicPr>
          <p:cNvPr id="6" name="Picture 5" descr="mirror_sites.png"/>
          <p:cNvPicPr>
            <a:picLocks noChangeAspect="1"/>
          </p:cNvPicPr>
          <p:nvPr/>
        </p:nvPicPr>
        <p:blipFill>
          <a:blip r:embed="rId2"/>
          <a:stretch>
            <a:fillRect/>
          </a:stretch>
        </p:blipFill>
        <p:spPr>
          <a:xfrm>
            <a:off x="1570181" y="2044700"/>
            <a:ext cx="9051636" cy="35560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21</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data/processed/domains.csv  ·  top sites by citations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few comparison articles appear across Gemini's answers</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One Akulaku article is cited in 14 of Gemini's 20 answers, one Zaipad article in 12, and Fazz articles 20 times across 15 answers. ChatGPT cites none of them.</a:t>
            </a:r>
          </a:p>
        </p:txBody>
      </p:sp>
      <p:sp>
        <p:nvSpPr>
          <p:cNvPr id="6" name="TextBox 5"/>
          <p:cNvSpPr txBox="1"/>
          <p:nvPr/>
        </p:nvSpPr>
        <p:spPr>
          <a:xfrm>
            <a:off x="762000" y="221234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Akulaku held 27.24% of Bank Neo Commerce in May 2023 (Bisnis). The article has not been checked for bias.</a:t>
            </a:r>
          </a:p>
        </p:txBody>
      </p:sp>
      <p:pic>
        <p:nvPicPr>
          <p:cNvPr id="7" name="Picture 6" descr="top_pages.png"/>
          <p:cNvPicPr>
            <a:picLocks noChangeAspect="1"/>
          </p:cNvPicPr>
          <p:nvPr/>
        </p:nvPicPr>
        <p:blipFill>
          <a:blip r:embed="rId2"/>
          <a:stretch>
            <a:fillRect/>
          </a:stretch>
        </p:blipFill>
        <p:spPr>
          <a:xfrm>
            <a:off x="2159508" y="2788920"/>
            <a:ext cx="7872983" cy="2811779"/>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data/processed/pages_top.csv  ·  most cited pages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leans on fewer sites</a:t>
            </a:r>
          </a:p>
        </p:txBody>
      </p:sp>
      <p:sp>
        <p:nvSpPr>
          <p:cNvPr id="5" name="TextBox 4"/>
          <p:cNvSpPr txBox="1"/>
          <p:nvPr/>
        </p:nvSpPr>
        <p:spPr>
          <a:xfrm>
            <a:off x="762000" y="223012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Its top five sites hold 50% of its citations. Gemini's top five hold 36%.</a:t>
            </a:r>
          </a:p>
        </p:txBody>
      </p:sp>
      <p:pic>
        <p:nvPicPr>
          <p:cNvPr id="6" name="Picture 5" descr="concentration.png"/>
          <p:cNvPicPr>
            <a:picLocks noChangeAspect="1"/>
          </p:cNvPicPr>
          <p:nvPr/>
        </p:nvPicPr>
        <p:blipFill>
          <a:blip r:embed="rId2"/>
          <a:stretch>
            <a:fillRect/>
          </a:stretch>
        </p:blipFill>
        <p:spPr>
          <a:xfrm>
            <a:off x="4889500" y="2264063"/>
            <a:ext cx="6731000" cy="2202872"/>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23</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data/processed/concentration.csv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71704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 Jago and BCA take more of the answers than of their sources</a:t>
            </a:r>
          </a:p>
        </p:txBody>
      </p:sp>
      <p:sp>
        <p:nvSpPr>
          <p:cNvPr id="5" name="TextBox 4"/>
          <p:cNvSpPr txBox="1"/>
          <p:nvPr/>
        </p:nvSpPr>
        <p:spPr>
          <a:xfrm>
            <a:off x="762000" y="308864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Jago holds 20.2% of bank mentions in the answers and 13.6% in the pages they cite.</a:t>
            </a:r>
          </a:p>
        </p:txBody>
      </p:sp>
      <p:sp>
        <p:nvSpPr>
          <p:cNvPr id="6" name="TextBox 5"/>
          <p:cNvSpPr txBox="1"/>
          <p:nvPr/>
        </p:nvSpPr>
        <p:spPr>
          <a:xfrm>
            <a:off x="762000" y="387096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Mandiri runs the other way: 11.5% in the pages, 5.9% in the answers.</a:t>
            </a:r>
          </a:p>
        </p:txBody>
      </p:sp>
      <p:pic>
        <p:nvPicPr>
          <p:cNvPr id="7" name="Picture 6" descr="sov_gap.png"/>
          <p:cNvPicPr>
            <a:picLocks noChangeAspect="1"/>
          </p:cNvPicPr>
          <p:nvPr/>
        </p:nvPicPr>
        <p:blipFill>
          <a:blip r:embed="rId2"/>
          <a:stretch>
            <a:fillRect/>
          </a:stretch>
        </p:blipFill>
        <p:spPr>
          <a:xfrm>
            <a:off x="4889500" y="1654228"/>
            <a:ext cx="6731000" cy="3422542"/>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24</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data/processed/source_sov.csv  ·  answers weighted equally, pages weighted equally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2877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Gemini's dead links all sit behind a Google redirect</a:t>
            </a:r>
          </a:p>
        </p:txBody>
      </p:sp>
      <p:sp>
        <p:nvSpPr>
          <p:cNvPr id="5" name="TextBox 4"/>
          <p:cNvSpPr txBox="1"/>
          <p:nvPr/>
        </p:nvSpPr>
        <p:spPr>
          <a:xfrm>
            <a:off x="762000" y="265938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13 of its 21 links wrapped in google.com/search were dead. None of its 179 direct links were.</a:t>
            </a:r>
          </a:p>
        </p:txBody>
      </p:sp>
      <p:sp>
        <p:nvSpPr>
          <p:cNvPr id="6" name="TextBox 5"/>
          <p:cNvSpPr txBox="1"/>
          <p:nvPr/>
        </p:nvSpPr>
        <p:spPr>
          <a:xfrm>
            <a:off x="762000" y="344170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Tow Center found Gemini gave more fabricated links than correct ones in its 2025 tests (Nieman Lab).</a:t>
            </a:r>
          </a:p>
        </p:txBody>
      </p:sp>
      <p:pic>
        <p:nvPicPr>
          <p:cNvPr id="7" name="Picture 6" descr="dead_links.png"/>
          <p:cNvPicPr>
            <a:picLocks noChangeAspect="1"/>
          </p:cNvPicPr>
          <p:nvPr/>
        </p:nvPicPr>
        <p:blipFill>
          <a:blip r:embed="rId2"/>
          <a:stretch>
            <a:fillRect/>
          </a:stretch>
        </p:blipFill>
        <p:spPr>
          <a:xfrm>
            <a:off x="4889500" y="2281694"/>
            <a:ext cx="6731000" cy="2167610"/>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25</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pages.csv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Pages without schema still get cited</a:t>
            </a:r>
          </a:p>
        </p:txBody>
      </p:sp>
      <p:sp>
        <p:nvSpPr>
          <p:cNvPr id="5" name="TextBox 4"/>
          <p:cNvSpPr txBox="1"/>
          <p:nvPr/>
        </p:nvSpPr>
        <p:spPr>
          <a:xfrm>
            <a:off x="762000" y="223012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sites carry schema on 32% of cited pages, against 95% for news and 86% for blogs, yet they are the most cited type.</a:t>
            </a:r>
          </a:p>
        </p:txBody>
      </p:sp>
      <p:sp>
        <p:nvSpPr>
          <p:cNvPr id="6" name="TextBox 5"/>
          <p:cNvSpPr txBox="1"/>
          <p:nvPr/>
        </p:nvSpPr>
        <p:spPr>
          <a:xfrm>
            <a:off x="762000" y="3012440"/>
            <a:ext cx="3810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133 of 333 readable citations point to a page with a structured publish date.</a:t>
            </a:r>
          </a:p>
        </p:txBody>
      </p:sp>
      <p:sp>
        <p:nvSpPr>
          <p:cNvPr id="7" name="TextBox 6"/>
          <p:cNvSpPr txBox="1"/>
          <p:nvPr/>
        </p:nvSpPr>
        <p:spPr>
          <a:xfrm>
            <a:off x="762000" y="3563620"/>
            <a:ext cx="3810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Google: “there's also no special schema.org structured data that you need to add.”</a:t>
            </a:r>
          </a:p>
        </p:txBody>
      </p:sp>
      <p:pic>
        <p:nvPicPr>
          <p:cNvPr id="8" name="Picture 7" descr="schema.png"/>
          <p:cNvPicPr>
            <a:picLocks noChangeAspect="1"/>
          </p:cNvPicPr>
          <p:nvPr/>
        </p:nvPicPr>
        <p:blipFill>
          <a:blip r:embed="rId2"/>
          <a:stretch>
            <a:fillRect/>
          </a:stretch>
        </p:blipFill>
        <p:spPr>
          <a:xfrm>
            <a:off x="4889500" y="1711271"/>
            <a:ext cx="6731000" cy="3308457"/>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data/processed/schema.csv, recency.csv  ·  Google Search Central, AI features and your website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IV</a:t>
            </a:r>
          </a:p>
        </p:txBody>
      </p:sp>
      <p:sp>
        <p:nvSpPr>
          <p:cNvPr id="3" name="TextBox 2"/>
          <p:cNvSpPr txBox="1"/>
          <p:nvPr/>
        </p:nvSpPr>
        <p:spPr>
          <a:xfrm>
            <a:off x="0" y="2794000"/>
            <a:ext cx="12192000" cy="9906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What it means</a:t>
            </a:r>
          </a:p>
        </p:txBody>
      </p:sp>
      <p:sp>
        <p:nvSpPr>
          <p:cNvPr id="4" name="TextBox 3"/>
          <p:cNvSpPr txBox="1"/>
          <p:nvPr/>
        </p:nvSpPr>
        <p:spPr>
          <a:xfrm>
            <a:off x="0" y="3937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For banks, and for people who measure AI search</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banks</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Plan for each engine. ChatGPT cites bank and regulator pages; Gemini cites comparison sites, blogs and news.</a:t>
            </a:r>
          </a:p>
        </p:txBody>
      </p:sp>
      <p:sp>
        <p:nvSpPr>
          <p:cNvPr id="7" name="TextBox 6"/>
          <p:cNvSpPr txBox="1"/>
          <p:nvPr/>
        </p:nvSpPr>
        <p:spPr>
          <a:xfrm>
            <a:off x="762000" y="27076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68224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Fee and rate pages look like the most direct route. ChatGPT cites SeaBank's and blu's fee pages by name.</a:t>
            </a:r>
          </a:p>
        </p:txBody>
      </p:sp>
      <p:sp>
        <p:nvSpPr>
          <p:cNvPr id="9" name="TextBox 8"/>
          <p:cNvSpPr txBox="1"/>
          <p:nvPr/>
        </p:nvSpPr>
        <p:spPr>
          <a:xfrm>
            <a:off x="762000" y="3408679"/>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383279"/>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Know what the comparison articles say about you. Akulaku, Zaipad and Fazz appear in 13 to 15 of Gemini's 20 answers.</a:t>
            </a:r>
          </a:p>
        </p:txBody>
      </p:sp>
      <p:sp>
        <p:nvSpPr>
          <p:cNvPr id="11" name="TextBox 10"/>
          <p:cNvSpPr txBox="1"/>
          <p:nvPr/>
        </p:nvSpPr>
        <p:spPr>
          <a:xfrm>
            <a:off x="762000" y="4109719"/>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4084319"/>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No answer was negative. Measure whether you are named at all.</a:t>
            </a:r>
          </a:p>
        </p:txBody>
      </p:sp>
      <p:sp>
        <p:nvSpPr>
          <p:cNvPr id="13" name="TextBox 12"/>
          <p:cNvSpPr txBox="1"/>
          <p:nvPr/>
        </p:nvSpPr>
        <p:spPr>
          <a:xfrm>
            <a:off x="762000" y="453009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4" name="TextBox 13"/>
          <p:cNvSpPr txBox="1"/>
          <p:nvPr/>
        </p:nvSpPr>
        <p:spPr>
          <a:xfrm>
            <a:off x="1460500" y="450469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Write the explainers. Only 1 of 6 how-to answers named a bank.</a:t>
            </a:r>
          </a:p>
        </p:txBody>
      </p:sp>
      <p:sp>
        <p:nvSpPr>
          <p:cNvPr id="15" name="TextBox 14"/>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6" name="TextBox 15"/>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7" name="TextBox 16"/>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GEO practitioners: what building this taught me</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2641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Count only the listed sources. Inline links and source chips inflate citation counts.</a:t>
            </a:r>
          </a:p>
        </p:txBody>
      </p:sp>
      <p:sp>
        <p:nvSpPr>
          <p:cNvPr id="7" name="TextBox 6"/>
          <p:cNvSpPr txBox="1"/>
          <p:nvPr/>
        </p:nvSpPr>
        <p:spPr>
          <a:xfrm>
            <a:off x="762000" y="239776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372360"/>
            <a:ext cx="8636000" cy="2641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Unwrap redirects and normalise URLs before counting pages.</a:t>
            </a:r>
          </a:p>
        </p:txBody>
      </p:sp>
      <p:sp>
        <p:nvSpPr>
          <p:cNvPr id="9" name="TextBox 8"/>
          <p:cNvSpPr txBox="1"/>
          <p:nvPr/>
        </p:nvSpPr>
        <p:spPr>
          <a:xfrm>
            <a:off x="762000" y="278892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2763520"/>
            <a:ext cx="8636000" cy="52832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Render pages built with JavaScript. 19 cited pages needed a headless browser to be read.</a:t>
            </a:r>
          </a:p>
        </p:txBody>
      </p:sp>
      <p:sp>
        <p:nvSpPr>
          <p:cNvPr id="11" name="TextBox 10"/>
          <p:cNvSpPr txBox="1"/>
          <p:nvPr/>
        </p:nvSpPr>
        <p:spPr>
          <a:xfrm>
            <a:off x="762000" y="34442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3418840"/>
            <a:ext cx="8636000" cy="2641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pages equally in source share, or one long annual report can dominate it.</a:t>
            </a:r>
          </a:p>
        </p:txBody>
      </p:sp>
      <p:sp>
        <p:nvSpPr>
          <p:cNvPr id="13" name="TextBox 12"/>
          <p:cNvSpPr txBox="1"/>
          <p:nvPr/>
        </p:nvSpPr>
        <p:spPr>
          <a:xfrm>
            <a:off x="762000" y="38354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4" name="TextBox 13"/>
          <p:cNvSpPr txBox="1"/>
          <p:nvPr/>
        </p:nvSpPr>
        <p:spPr>
          <a:xfrm>
            <a:off x="1460500" y="3810000"/>
            <a:ext cx="8636000" cy="52832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answers equally in answer share, so one long answer does not count many times.</a:t>
            </a:r>
          </a:p>
        </p:txBody>
      </p:sp>
      <p:sp>
        <p:nvSpPr>
          <p:cNvPr id="15" name="TextBox 14"/>
          <p:cNvSpPr txBox="1"/>
          <p:nvPr/>
        </p:nvSpPr>
        <p:spPr>
          <a:xfrm>
            <a:off x="762000" y="449072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06</a:t>
            </a:r>
          </a:p>
        </p:txBody>
      </p:sp>
      <p:sp>
        <p:nvSpPr>
          <p:cNvPr id="16" name="TextBox 15"/>
          <p:cNvSpPr txBox="1"/>
          <p:nvPr/>
        </p:nvSpPr>
        <p:spPr>
          <a:xfrm>
            <a:off x="1460500" y="4465320"/>
            <a:ext cx="8636000" cy="52832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Per-source PAWC needs inline citation markers. Neither engine gave them, so only brand PAWC is reported.</a:t>
            </a:r>
          </a:p>
        </p:txBody>
      </p:sp>
      <p:sp>
        <p:nvSpPr>
          <p:cNvPr id="17" name="TextBox 1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8" name="TextBox 1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9" name="TextBox 1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One run is a snapshot</a:t>
            </a:r>
          </a:p>
        </p:txBody>
      </p:sp>
      <p:sp>
        <p:nvSpPr>
          <p:cNvPr id="5" name="TextBox 4"/>
          <p:cNvSpPr txBox="1"/>
          <p:nvPr/>
        </p:nvSpPr>
        <p:spPr>
          <a:xfrm>
            <a:off x="762000" y="1981200"/>
            <a:ext cx="93345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SparkToro and Gumshoe ran 12 prompts nearly 3,000 times. The same brand list came back less than 1 in 100 times (Search Engine Land, January 2026).</a:t>
            </a:r>
          </a:p>
        </p:txBody>
      </p:sp>
      <p:sp>
        <p:nvSpPr>
          <p:cNvPr id="6" name="TextBox 5"/>
          <p:cNvSpPr txBox="1"/>
          <p:nvPr/>
        </p:nvSpPr>
        <p:spPr>
          <a:xfrm>
            <a:off x="762000" y="2682240"/>
            <a:ext cx="93345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gaps of a few points here as ties: BCA and Bank Jago at 55%, SeaBank at 52.5%.</a:t>
            </a:r>
          </a:p>
        </p:txBody>
      </p:sp>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Next steps</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the same 20 prompts at least four more times, so every number has a range.</a:t>
            </a:r>
          </a:p>
        </p:txBody>
      </p:sp>
      <p:sp>
        <p:nvSpPr>
          <p:cNvPr id="7" name="TextBox 6"/>
          <p:cNvSpPr txBox="1"/>
          <p:nvPr/>
        </p:nvSpPr>
        <p:spPr>
          <a:xfrm>
            <a:off x="762000" y="27076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68224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Add Perplexity, Microsoft Copilot and Google AI Mode.</a:t>
            </a:r>
          </a:p>
        </p:txBody>
      </p:sp>
      <p:sp>
        <p:nvSpPr>
          <p:cNvPr id="9" name="TextBox 8"/>
          <p:cNvSpPr txBox="1"/>
          <p:nvPr/>
        </p:nvSpPr>
        <p:spPr>
          <a:xfrm>
            <a:off x="762000" y="312801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10261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top Gemini comparison articles and record how each one describes each bank.</a:t>
            </a:r>
          </a:p>
        </p:txBody>
      </p:sp>
      <p:sp>
        <p:nvSpPr>
          <p:cNvPr id="11" name="TextBox 10"/>
          <p:cNvSpPr txBox="1"/>
          <p:nvPr/>
        </p:nvSpPr>
        <p:spPr>
          <a:xfrm>
            <a:off x="762000" y="382905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380365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Put the tables in a public dashboard that refreshes after each run.</a:t>
            </a:r>
          </a:p>
        </p:txBody>
      </p:sp>
      <p:sp>
        <p:nvSpPr>
          <p:cNvPr id="13" name="TextBox 1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4" name="TextBox 1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5" name="TextBox 1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10160000" cy="1320800"/>
          </a:xfrm>
          <a:prstGeom prst="rect">
            <a:avLst/>
          </a:prstGeom>
          <a:noFill/>
        </p:spPr>
        <p:txBody>
          <a:bodyPr wrap="square" lIns="0" rIns="0" tIns="0" bIns="0" anchor="t">
            <a:spAutoFit/>
          </a:bodyPr>
          <a:lstStyle/>
          <a:p>
            <a:pPr algn="l">
              <a:lnSpc>
                <a:spcPct val="115000"/>
              </a:lnSpc>
            </a:pPr>
            <a:r>
              <a:rPr sz="4000" b="0">
                <a:solidFill>
                  <a:srgbClr val="ECE7DD"/>
                </a:solidFill>
                <a:latin typeface="Work Sans"/>
              </a:rPr>
              <a:t>Favoured Banks in ChatGPT and Gemini</a:t>
            </a:r>
          </a:p>
        </p:txBody>
      </p:sp>
      <p:sp>
        <p:nvSpPr>
          <p:cNvPr id="3" name="TextBox 2"/>
          <p:cNvSpPr txBox="1"/>
          <p:nvPr/>
        </p:nvSpPr>
        <p:spPr>
          <a:xfrm>
            <a:off x="762000" y="1841500"/>
            <a:ext cx="10160000" cy="264160"/>
          </a:xfrm>
          <a:prstGeom prst="rect">
            <a:avLst/>
          </a:prstGeom>
          <a:noFill/>
        </p:spPr>
        <p:txBody>
          <a:bodyPr wrap="square" lIns="0" rIns="0" tIns="0" bIns="0" anchor="t">
            <a:spAutoFit/>
          </a:bodyPr>
          <a:lstStyle/>
          <a:p>
            <a:pPr algn="l">
              <a:lnSpc>
                <a:spcPct val="115000"/>
              </a:lnSpc>
            </a:pPr>
            <a:r>
              <a:rPr sz="1600" b="0">
                <a:solidFill>
                  <a:srgbClr val="ECE7DD"/>
                </a:solidFill>
                <a:latin typeface="IBM Plex Mono"/>
              </a:rPr>
              <a:t>Data, code and method: github.com/rgmwnn/geo-bank-visibility</a:t>
            </a:r>
          </a:p>
        </p:txBody>
      </p:sp>
      <p:sp>
        <p:nvSpPr>
          <p:cNvPr id="4" name="TextBox 3"/>
          <p:cNvSpPr txBox="1"/>
          <p:nvPr/>
        </p:nvSpPr>
        <p:spPr>
          <a:xfrm>
            <a:off x="762000" y="2540000"/>
            <a:ext cx="2540000" cy="177800"/>
          </a:xfrm>
          <a:prstGeom prst="rect">
            <a:avLst/>
          </a:prstGeom>
          <a:noFill/>
        </p:spPr>
        <p:txBody>
          <a:bodyPr wrap="square" lIns="0" rIns="0" tIns="0" bIns="0" anchor="t">
            <a:spAutoFit/>
          </a:bodyPr>
          <a:lstStyle/>
          <a:p>
            <a:pPr algn="l">
              <a:lnSpc>
                <a:spcPct val="115000"/>
              </a:lnSpc>
            </a:pPr>
            <a:r>
              <a:rPr sz="1000" b="0" spc="300">
                <a:solidFill>
                  <a:srgbClr val="9A9EA6"/>
                </a:solidFill>
                <a:latin typeface="IBM Plex Mono"/>
              </a:rPr>
              <a:t>SOURCES</a:t>
            </a:r>
          </a:p>
        </p:txBody>
      </p:sp>
      <p:sp>
        <p:nvSpPr>
          <p:cNvPr id="5" name="TextBox 4"/>
          <p:cNvSpPr txBox="1"/>
          <p:nvPr/>
        </p:nvSpPr>
        <p:spPr>
          <a:xfrm>
            <a:off x="762000" y="28194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Aggarwal et al. (2024). GEO: Generative Engine Optimization. KDD 2024. arXiv 2311.09735</a:t>
            </a:r>
          </a:p>
        </p:txBody>
      </p:sp>
      <p:sp>
        <p:nvSpPr>
          <p:cNvPr id="6" name="TextBox 5"/>
          <p:cNvSpPr txBox="1"/>
          <p:nvPr/>
        </p:nvSpPr>
        <p:spPr>
          <a:xfrm>
            <a:off x="762000" y="30480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Writesonic. AI citation source overlap study</a:t>
            </a:r>
          </a:p>
        </p:txBody>
      </p:sp>
      <p:sp>
        <p:nvSpPr>
          <p:cNvPr id="7" name="TextBox 6"/>
          <p:cNvSpPr txBox="1"/>
          <p:nvPr/>
        </p:nvSpPr>
        <p:spPr>
          <a:xfrm>
            <a:off x="762000" y="32766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Ahrefs. AI search overlap with Google results</a:t>
            </a:r>
          </a:p>
        </p:txBody>
      </p:sp>
      <p:sp>
        <p:nvSpPr>
          <p:cNvPr id="8" name="TextBox 7"/>
          <p:cNvSpPr txBox="1"/>
          <p:nvPr/>
        </p:nvSpPr>
        <p:spPr>
          <a:xfrm>
            <a:off x="762000" y="35052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Land. AI recommendation lists rarely repeat (SparkToro and Gumshoe)</a:t>
            </a:r>
          </a:p>
        </p:txBody>
      </p:sp>
      <p:sp>
        <p:nvSpPr>
          <p:cNvPr id="9" name="TextBox 8"/>
          <p:cNvSpPr txBox="1"/>
          <p:nvPr/>
        </p:nvSpPr>
        <p:spPr>
          <a:xfrm>
            <a:off x="762000" y="37338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Nieman Lab (2025). Tow Center study of AI search citations</a:t>
            </a:r>
          </a:p>
        </p:txBody>
      </p:sp>
      <p:sp>
        <p:nvSpPr>
          <p:cNvPr id="10" name="TextBox 9"/>
          <p:cNvSpPr txBox="1"/>
          <p:nvPr/>
        </p:nvSpPr>
        <p:spPr>
          <a:xfrm>
            <a:off x="762000" y="39624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Google Search Central. AI features and your website</a:t>
            </a:r>
          </a:p>
        </p:txBody>
      </p:sp>
      <p:sp>
        <p:nvSpPr>
          <p:cNvPr id="11" name="TextBox 10"/>
          <p:cNvSpPr txBox="1"/>
          <p:nvPr/>
        </p:nvSpPr>
        <p:spPr>
          <a:xfrm>
            <a:off x="762000" y="41910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Journal. OpenAI usage study</a:t>
            </a:r>
          </a:p>
        </p:txBody>
      </p:sp>
      <p:sp>
        <p:nvSpPr>
          <p:cNvPr id="12" name="TextBox 11"/>
          <p:cNvSpPr txBox="1"/>
          <p:nvPr/>
        </p:nvSpPr>
        <p:spPr>
          <a:xfrm>
            <a:off x="762000" y="4419600"/>
            <a:ext cx="9525000" cy="18161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Bisnis (2023). Akulaku stake in Bank Neo Commerce</a:t>
            </a:r>
          </a:p>
        </p:txBody>
      </p:sp>
      <p:cxnSp>
        <p:nvCxnSpPr>
          <p:cNvPr id="13" name="Connector 12"/>
          <p:cNvCxnSpPr/>
          <p:nvPr/>
        </p:nvCxnSpPr>
        <p:spPr>
          <a:xfrm>
            <a:off x="762000" y="5207000"/>
            <a:ext cx="10668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2000" y="5283200"/>
            <a:ext cx="10668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2000" y="5588000"/>
            <a:ext cx="8255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  ·  data analyst, Indonesia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