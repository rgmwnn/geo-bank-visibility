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-slot"/>
          <p:cNvSpPr/>
          <p:nvPr/>
        </p:nvSpPr>
        <p:spPr>
          <a:xfrm>
            <a:off x="7048500" y="0"/>
            <a:ext cx="5143500" cy="685800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5715000" cy="288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9C6DA"/>
                </a:solidFill>
                <a:latin typeface="Instrument Sans"/>
              </a:rPr>
              <a:t>40 answers, collected on 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6413500" cy="1514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0" i="0">
                <a:solidFill>
                  <a:srgbClr val="F6F3EC"/>
                </a:solidFill>
                <a:latin typeface="Instrument Serif"/>
              </a:rPr>
              <a:t>Favoured Banks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7400" y="3483355"/>
            <a:ext cx="889000" cy="25400"/>
          </a:xfrm>
          <a:prstGeom prst="rect">
            <a:avLst/>
          </a:prstGeom>
          <a:solidFill>
            <a:srgbClr val="C9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737355"/>
            <a:ext cx="5715000" cy="1514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B9C6DA"/>
                </a:solidFill>
                <a:latin typeface="Instrument Serif"/>
              </a:rPr>
              <a:t>Which Indonesian banks ChatGPT and Gemini recommend, and which web pages they 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905500"/>
            <a:ext cx="5715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6F3EC"/>
                </a:solidFill>
                <a:latin typeface="Instrument Sans"/>
              </a:rPr>
              <a:t>Rahmananda Ridho Gamawan,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09600"/>
            <a:ext cx="381000" cy="25400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4064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A5568"/>
                </a:solidFill>
                <a:latin typeface="Instrument Sans"/>
              </a:rPr>
              <a:t>Part II: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4064000" cy="3029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3294B"/>
                </a:solidFill>
                <a:latin typeface="Instrument Serif"/>
              </a:rPr>
              <a:t>BCA, Bank Jago and SeaBank are each named in more than half of all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99712"/>
            <a:ext cx="3810000" cy="1190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4A5568"/>
                </a:solidFill>
                <a:latin typeface="Instrument Sans"/>
              </a:rPr>
              <a:t>BCA and Bank Jago appear in 22 of 40 answers, SeaBank in 21 and BRI in 12.</a:t>
            </a:r>
          </a:p>
        </p:txBody>
      </p:sp>
      <p:pic>
        <p:nvPicPr>
          <p:cNvPr id="6" name="Picture 5" descr="char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16000"/>
            <a:ext cx="6731000" cy="4729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350000"/>
            <a:ext cx="8890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568"/>
                </a:solidFill>
                <a:latin typeface="Instrument Sans"/>
              </a:rPr>
              <a:t>Source: data/processed/brand_engine.csv. Top 10 banks, n = 20 answers per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0" y="6350000"/>
            <a:ext cx="635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A5568"/>
                </a:solidFill>
                <a:latin typeface="Instrument Sans"/>
              </a:rPr>
              <a:t>11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-slot"/>
          <p:cNvSpPr/>
          <p:nvPr/>
        </p:nvSpPr>
        <p:spPr>
          <a:xfrm>
            <a:off x="0" y="0"/>
            <a:ext cx="12192000" cy="3556000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56000"/>
            <a:ext cx="12192000" cy="88900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3873500"/>
            <a:ext cx="10668000" cy="137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0" b="1" i="0">
                <a:solidFill>
                  <a:srgbClr val="0E2A52"/>
                </a:solidFill>
                <a:latin typeface="Bricolage Grotesque"/>
              </a:rPr>
              <a:t>Favoured 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282183"/>
            <a:ext cx="8890000" cy="937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4B5563"/>
                </a:solidFill>
                <a:latin typeface="Instrument Sans"/>
              </a:rPr>
              <a:t>Which Indonesian banks ChatGPT and Gemini recommend, and which web pages they 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10452"/>
            <a:ext cx="10668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E2A52"/>
                </a:solidFill>
                <a:latin typeface="Instrument Sans"/>
              </a:rPr>
              <a:t>Rahmananda Ridho Gamawan, data analyst. 40 answers, collected on 9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051812"/>
          </a:xfrm>
          <a:prstGeom prst="rect">
            <a:avLst/>
          </a:prstGeom>
          <a:solidFill>
            <a:srgbClr val="0E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54000"/>
            <a:ext cx="10668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4E5"/>
                </a:solidFill>
                <a:latin typeface="Instrument Sans"/>
              </a:rPr>
              <a:t>Part II: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20700"/>
            <a:ext cx="10668000" cy="122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Bricolage Grotesque"/>
              </a:rPr>
              <a:t>BCA, Bank Jago and SeaBank are each named in over half of all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59812"/>
            <a:ext cx="3556000" cy="1586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4B5563"/>
                </a:solidFill>
                <a:latin typeface="Instrument Sans"/>
              </a:rPr>
              <a:t>BCA and Bank Jago appear in 22 of 40 answers, SeaBank in 21 and BRI in 12.</a:t>
            </a:r>
          </a:p>
        </p:txBody>
      </p:sp>
      <p:pic>
        <p:nvPicPr>
          <p:cNvPr id="6" name="Picture 5" descr="char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369312"/>
            <a:ext cx="5438911" cy="38219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350000"/>
            <a:ext cx="8890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B5563"/>
                </a:solidFill>
                <a:latin typeface="Instrument Sans"/>
              </a:rPr>
              <a:t>Source: data/processed/brand_engine.csv. Top 10 banks, n = 20 answers per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0" y="6350000"/>
            <a:ext cx="635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B5563"/>
                </a:solidFill>
                <a:latin typeface="Instrument Sans"/>
              </a:rPr>
              <a:t>11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-slo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fade" descr="fad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0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143000"/>
            <a:ext cx="5715000" cy="288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AFC0D8"/>
                </a:solidFill>
                <a:latin typeface="Outfit"/>
              </a:rPr>
              <a:t>40 answers, collected on 9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60500"/>
            <a:ext cx="6350000" cy="2596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4F6FA"/>
                </a:solidFill>
                <a:latin typeface="Outfit"/>
              </a:rPr>
              <a:t>Favoured Banks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7400" y="4146296"/>
            <a:ext cx="762000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12996"/>
            <a:ext cx="520700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AFC0D8"/>
                </a:solidFill>
                <a:latin typeface="Outfit"/>
              </a:rPr>
              <a:t>Which Indonesian banks ChatGPT and Gemini recommend, and which web pages they cite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92444"/>
            <a:ext cx="5715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6FA"/>
                </a:solidFill>
                <a:latin typeface="Outfit"/>
              </a:rPr>
              <a:t>Rahmananda Ridho Gamawan, data analyst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4064000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FC0D8"/>
                </a:solidFill>
                <a:latin typeface="Outfit"/>
              </a:rPr>
              <a:t>Part II: The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406400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4F6FA"/>
                </a:solidFill>
                <a:latin typeface="Outfit"/>
              </a:rPr>
              <a:t>BCA, Bank Jago and SeaBank are each named in more than half of all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516120"/>
            <a:ext cx="3810000" cy="1190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AFC0D8"/>
                </a:solidFill>
                <a:latin typeface="Outfit"/>
              </a:rPr>
              <a:t>BCA and Bank Jago appear in 22 of 40 answers, SeaBank in 21 and BRI in 12.</a:t>
            </a:r>
          </a:p>
        </p:txBody>
      </p:sp>
      <p:pic>
        <p:nvPicPr>
          <p:cNvPr id="5" name="Picture 4" descr="char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16000"/>
            <a:ext cx="6731000" cy="47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350000"/>
            <a:ext cx="8890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FC0D8"/>
                </a:solidFill>
                <a:latin typeface="Outfit"/>
              </a:rPr>
              <a:t>Source: data/processed/brand_engine.csv. Top 10 banks, n = 20 answers per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350000"/>
            <a:ext cx="635000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AFC0D8"/>
                </a:solidFill>
                <a:latin typeface="Outfit"/>
              </a:rPr>
              <a:t>11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